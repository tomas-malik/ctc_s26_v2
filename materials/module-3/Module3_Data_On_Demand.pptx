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48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  <Relationship Id="rId29" Type="http://schemas.openxmlformats.org/officeDocument/2006/relationships/slide" Target="slides/slide25.xml"/>
  <Relationship Id="rId30" Type="http://schemas.openxmlformats.org/officeDocument/2006/relationships/slide" Target="slides/slide26.xml"/>
  <Relationship Id="rId31" Type="http://schemas.openxmlformats.org/officeDocument/2006/relationships/slide" Target="slides/slide27.xml"/>
  <Relationship Id="rId32" Type="http://schemas.openxmlformats.org/officeDocument/2006/relationships/slide" Target="slides/slide28.xml"/>
  <Relationship Id="rId33" Type="http://schemas.openxmlformats.org/officeDocument/2006/relationships/slide" Target="slides/slide29.xml"/>
  <Relationship Id="rId34" Type="http://schemas.openxmlformats.org/officeDocument/2006/relationships/slide" Target="slides/slide30.xml"/>
  <Relationship Id="rId35" Type="http://schemas.openxmlformats.org/officeDocument/2006/relationships/slide" Target="slides/slide31.xml"/>
  <Relationship Id="rId36" Type="http://schemas.openxmlformats.org/officeDocument/2006/relationships/slide" Target="slides/slide32.xml"/>
  <Relationship Id="rId37" Type="http://schemas.openxmlformats.org/officeDocument/2006/relationships/slide" Target="slides/slide33.xml"/>
  <Relationship Id="rId38" Type="http://schemas.openxmlformats.org/officeDocument/2006/relationships/slide" Target="slides/slide34.xml"/>
  <Relationship Id="rId39" Type="http://schemas.openxmlformats.org/officeDocument/2006/relationships/slide" Target="slides/slide35.xml"/>
  <Relationship Id="rId40" Type="http://schemas.openxmlformats.org/officeDocument/2006/relationships/slide" Target="slides/slide36.xml"/>
  <Relationship Id="rId41" Type="http://schemas.openxmlformats.org/officeDocument/2006/relationships/slide" Target="slides/slide37.xml"/>
  <Relationship Id="rId42" Type="http://schemas.openxmlformats.org/officeDocument/2006/relationships/slide" Target="slides/slide38.xml"/>
  <Relationship Id="rId43" Type="http://schemas.openxmlformats.org/officeDocument/2006/relationships/slide" Target="slides/slide39.xml"/>
  <Relationship Id="rId44" Type="http://schemas.openxmlformats.org/officeDocument/2006/relationships/slide" Target="slides/slide40.xml"/>
  <Relationship Id="rId45" Type="http://schemas.openxmlformats.org/officeDocument/2006/relationships/slide" Target="slides/slide41.xml"/>
  <Relationship Id="rId46" Type="http://schemas.openxmlformats.org/officeDocument/2006/relationships/slide" Target="slides/slide42.xml"/>
  <Relationship Id="rId47" Type="http://schemas.openxmlformats.org/officeDocument/2006/relationships/slide" Target="slides/slide43.xml"/>
  <Relationship Id="rId48" Type="http://schemas.openxmlformats.org/officeDocument/2006/relationships/slide" Target="slides/slide44.xml"/>
  <Relationship Id="rId49" Type="http://schemas.openxmlformats.org/officeDocument/2006/relationships/slide" Target="slides/slide45.xml"/>
  <Relationship Id="rId50" Type="http://schemas.openxmlformats.org/officeDocument/2006/relationships/slide" Target="slides/slide46.xml"/>
  <Relationship Id="rId51" Type="http://schemas.openxmlformats.org/officeDocument/2006/relationships/slide" Target="slides/slide47.xml"/>
  <Relationship Id="rId52" Type="http://schemas.openxmlformats.org/officeDocument/2006/relationships/slide" Target="slides/slide48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" name="Notes Placeholder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Facilitator note — full run sheet lives in speaker notes throughout this deck. Total target: 90 minutes.</a:t>
            </a:r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" name="Notes Placeholder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 min.</a:t>
            </a:r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" name="Notes Placeholder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 min. Walk the line left to right.</a:t>
            </a:r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" name="Notes Placeholder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 min.</a:t>
            </a:r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" name="Notes Placeholder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 min. Read the boss message aloud. Ask: if the Director could check this herself, what would she need to see first?</a:t>
            </a:r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" name="Notes Placeholder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 min. Let them open the actual files and skim in silence — resist narrating it for them.</a:t>
            </a:r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" name="Notes Placeholder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 min. Debrief what they caught before moving into the warm-up.</a:t>
            </a:r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" name="Notes Placeholder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 min total: 2 min pair discussion, ~2 min share-out. Don't let anyone open an AI tool yet.</a:t>
            </a:r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" name="Notes Placeholder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30 sec transition. Keep energy up.</a:t>
            </a:r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" name="Notes Placeholder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 min. Both paths are fine — argue-for-one or sketch-first. Circulate and ask what question their chart is actually answering.</a:t>
            </a:r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" name="Notes Placeholder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 min. The axis-trick check is the one to slow down on — walk the real HVAC numbers if a group needs convincing.</a:t>
            </a:r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" name="Notes Placeholder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30 sec transition. Say explicitly: now we're not making a chart, we're building the thing that keeps making it.</a:t>
            </a:r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" name="Notes Placeholder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 min. Point out the flow diagram — old way vs. new way — and the non-determinism callback to Module 2.</a:t>
            </a:r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" name="Notes Placeholder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 min. Circulate for tech troubleshooting only — let the traps surface on their own.</a:t>
            </a:r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" name="Notes Placeholder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 min. Full trap detail: estimates vs. actuals, the unconfirmed competitor theory, axis honesty, one-chart-as-the-answer, the unverified why. Close with: revise your prompt, not the output, and regenerate.</a:t>
            </a:r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" name="Notes Placeholder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30 sec transition into the concept + vocabulary beat.</a:t>
            </a:r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" name="Notes Placeholder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 min. This is the explicit naming moment — say the quote plainly.</a:t>
            </a:r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" name="Notes Placeholder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 min. Connects to the Prompting module's foundations content.</a:t>
            </a:r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" name="Notes Placeholder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min. Recap only, nothing new here.</a:t>
            </a:r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" name="Notes Placeholder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30 sec transition into sensemaking.</a:t>
            </a:r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" name="Notes Placeholder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 min: ~2 min think/pair, ~2 min share out. Push for specific recurring tasks, not abstractions.</a:t>
            </a:r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" name="Notes Placeholder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 min — a sketch, not a full redo. A full hands-on follow-up is a good fit for office hours.</a:t>
            </a:r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" name="Notes Placeholder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 min. Point people to where these skeletons live for later reference.</a:t>
            </a:r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" name="Notes Placeholder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Thank the room and point to the companion materials for lasting reference. If anyone asks about Director Chen's quote, it's a joke — own it.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E6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046720" y="-2743200"/>
            <a:ext cx="7315200" cy="7315200"/>
          </a:xfrm>
          <a:prstGeom prst="ellipse">
            <a:avLst/>
          </a:prstGeom>
          <a:solidFill>
            <a:srgbClr val="0013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822960" y="685800"/>
            <a:ext cx="292608" cy="292608"/>
          </a:xfrm>
          <a:prstGeom prst="ellipse">
            <a:avLst/>
          </a:prstGeom>
          <a:solidFill>
            <a:srgbClr val="A522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822960" y="68580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234440" y="621792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CHICAGO TECH CIRCLE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822960" y="23317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MODULE 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822960" y="2788920"/>
            <a:ext cx="10058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Data On Demand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822960" y="37947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4EE"/>
              </a:buClr>
              <a:buSzPts val="2600"/>
              <a:buFont typeface="Cambria"/>
              <a:buNone/>
            </a:pPr>
            <a:r>
              <a:rPr b="0" i="1" lang="en-US" sz="2600" u="none" cap="none" strike="noStrike">
                <a:solidFill>
                  <a:srgbClr val="C9D4EE"/>
                </a:solidFill>
                <a:latin typeface="Cambria"/>
                <a:ea typeface="Cambria"/>
                <a:cs typeface="Cambria"/>
                <a:sym typeface="Cambria"/>
              </a:rPr>
              <a:t>From Deck to Dashboard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822960" y="4526280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EB9D6"/>
                </a:solidFill>
                <a:latin typeface="Calibri"/>
                <a:ea typeface="Calibri"/>
                <a:cs typeface="Calibri"/>
                <a:sym typeface="Calibri"/>
              </a:rPr>
              <a:t>Turning a folder that keeps growing into an answer that’s always current, with AI as assistant or analyst.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822960" y="5806440"/>
            <a:ext cx="1417320" cy="502920"/>
          </a:xfrm>
          <a:prstGeom prst="roundRect">
            <a:avLst>
              <a:gd fmla="val 50909" name="adj"/>
            </a:avLst>
          </a:prstGeom>
          <a:solidFill>
            <a:srgbClr val="A522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822960" y="580644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90 MINUTES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2560320" y="5806440"/>
            <a:ext cx="1463040" cy="502920"/>
          </a:xfrm>
          <a:prstGeom prst="roundRect">
            <a:avLst>
              <a:gd fmla="val 50909" name="adj"/>
            </a:avLst>
          </a:prstGeom>
          <a:noFill/>
          <a:ln cap="flat" cmpd="sng" w="15875">
            <a:solidFill>
              <a:srgbClr val="3B4E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2560320" y="5806440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LEVEL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KICKOFF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By the end of today, you’ll be able to …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MODULE 3 · DATA ON DEMAND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640080" y="178308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417320" y="1728216"/>
            <a:ext cx="9692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Pick the chart that answers the question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417320" y="2148840"/>
            <a:ext cx="9692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not the one the tool defaults to — trend, comparison, and composition are three different questions.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40080" y="3200400"/>
            <a:ext cx="566928" cy="566928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640080" y="32004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417320" y="3145536"/>
            <a:ext cx="9692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Build the thing once, not the report every month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417320" y="3566160"/>
            <a:ext cx="9692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turn a repeated task into something that already has next month’s answer in it.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640080" y="4617720"/>
            <a:ext cx="566928" cy="566928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640080" y="461772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417320" y="4562856"/>
            <a:ext cx="9692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Catch what a living dashboard gets wrong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417320" y="4983480"/>
            <a:ext cx="9692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so you don’t oversell what an AI-built tool can and can’t tell you.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KICKOFF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How we’ll spend the next 90 minutes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MODULE 3 · DATA ON DEMAND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p5"/>
          <p:cNvCxnSpPr/>
          <p:nvPr/>
        </p:nvCxnSpPr>
        <p:spPr>
          <a:xfrm>
            <a:off x="1440180" y="2720340"/>
            <a:ext cx="9326880" cy="0"/>
          </a:xfrm>
          <a:prstGeom prst="straightConnector1">
            <a:avLst/>
          </a:prstGeom>
          <a:noFill/>
          <a:ln cap="flat" cmpd="sng" w="38100">
            <a:solidFill>
              <a:srgbClr val="E9ED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5"/>
          <p:cNvSpPr/>
          <p:nvPr/>
        </p:nvSpPr>
        <p:spPr>
          <a:xfrm>
            <a:off x="1051560" y="2331720"/>
            <a:ext cx="777240" cy="777240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1051560" y="233172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48640" y="3273552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548640" y="3950208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5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3383280" y="2331720"/>
            <a:ext cx="777240" cy="777240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3383280" y="233172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2880360" y="3273552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The Scenario</a:t>
            </a:r>
            <a:endParaRPr b="1" sz="1350">
              <a:solidFill>
                <a:srgbClr val="1C1E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2880360" y="3950208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12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5715000" y="2331720"/>
            <a:ext cx="777240" cy="777240"/>
          </a:xfrm>
          <a:prstGeom prst="ellipse">
            <a:avLst/>
          </a:prstGeom>
          <a:solidFill>
            <a:srgbClr val="A522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5715000" y="233172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212080" y="3273552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Two Beats,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Bigger Folder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5212080" y="3950208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1C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C1C6B"/>
                </a:solidFill>
                <a:latin typeface="Calibri"/>
                <a:ea typeface="Calibri"/>
                <a:cs typeface="Calibri"/>
                <a:sym typeface="Calibri"/>
              </a:rPr>
              <a:t>44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8046720" y="2331720"/>
            <a:ext cx="777240" cy="777240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8046720" y="233172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7543800" y="3273552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Naming the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Pattern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7543800" y="3950208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14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10378440" y="2331720"/>
            <a:ext cx="777240" cy="777240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10378440" y="233172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9875520" y="3273552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Bring It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Home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9875520" y="3950208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15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548640" y="4892040"/>
            <a:ext cx="11064240" cy="1051560"/>
          </a:xfrm>
          <a:prstGeom prst="roundRect">
            <a:avLst>
              <a:gd fmla="val 8696" name="adj"/>
            </a:avLst>
          </a:prstGeom>
          <a:solidFill>
            <a:srgbClr val="F4E7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868680" y="4892040"/>
            <a:ext cx="104241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C1C6B"/>
              </a:buClr>
              <a:buSzPts val="1500"/>
              <a:buFont typeface="Cambria"/>
              <a:buNone/>
            </a:pPr>
            <a:r>
              <a:rPr b="0" i="1" lang="en-US" sz="1500" u="none" cap="none" strike="noStrike">
                <a:solidFill>
                  <a:srgbClr val="7C1C6B"/>
                </a:solidFill>
                <a:latin typeface="Cambria"/>
                <a:ea typeface="Cambria"/>
                <a:cs typeface="Cambria"/>
                <a:sym typeface="Cambria"/>
              </a:rPr>
              <a:t>Almost half of today is hands-on: you’ll pick a chart, then build a living version of the same tool — before we name what you did.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E6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0013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-2560320" y="4572000"/>
            <a:ext cx="4572000" cy="4572000"/>
          </a:xfrm>
          <a:prstGeom prst="ellipse">
            <a:avLst/>
          </a:prstGeom>
          <a:solidFill>
            <a:srgbClr val="0013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822960" y="233172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THE SCENARIO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822960" y="2743200"/>
            <a:ext cx="105156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Director loved your report.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Now she wants one every month.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822960" y="4251960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B9D6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AEB9D6"/>
                </a:solidFill>
                <a:latin typeface="Calibri"/>
                <a:ea typeface="Calibri"/>
                <a:cs typeface="Calibri"/>
                <a:sym typeface="Calibri"/>
              </a:rPr>
              <a:t>Same folder. New wrinkle: it now spans four years, and she wants to check it herself.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B9D6"/>
                </a:solidFill>
                <a:latin typeface="Calibri"/>
                <a:ea typeface="Calibri"/>
                <a:cs typeface="Calibri"/>
                <a:sym typeface="Calibri"/>
              </a:rPr>
              <a:t>MODULE 3 · DATA ON DEMAND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THE SCENARIO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Pinnacle Peak Home Services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MODULE 3 · DATA ON DEMAND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548640" y="1737360"/>
            <a:ext cx="6492240" cy="1874520"/>
          </a:xfrm>
          <a:prstGeom prst="roundRect">
            <a:avLst>
              <a:gd fmla="val 3902" name="adj"/>
            </a:avLst>
          </a:prstGeom>
          <a:solidFill>
            <a:srgbClr val="E9ED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"/>
          <p:cNvSpPr/>
          <p:nvPr/>
        </p:nvSpPr>
        <p:spPr>
          <a:xfrm>
            <a:off x="868680" y="1920240"/>
            <a:ext cx="5852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1E62"/>
                </a:solidFill>
                <a:latin typeface="Calibri"/>
                <a:ea typeface="Calibri"/>
                <a:cs typeface="Calibri"/>
                <a:sym typeface="Calibri"/>
              </a:rPr>
              <a:t>MESSAGE FROM YOUR BOSS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868680" y="2286000"/>
            <a:ext cx="58521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800"/>
              <a:buFont typeface="Cambria"/>
              <a:buNone/>
            </a:pPr>
            <a:r>
              <a:rPr b="0" i="1" lang="en-US" sz="180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“Hey — that Q2 deck? The Director loved it. So much that she wants one every month now. Actually, she said — and I quote — ‘can I just check this myself whenever I want.’ I don’t know what that means either. Sort it out.”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7360920" y="1865376"/>
            <a:ext cx="100584" cy="100584"/>
          </a:xfrm>
          <a:prstGeom prst="ellipse">
            <a:avLst/>
          </a:prstGeom>
          <a:solidFill>
            <a:srgbClr val="A522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/>
          <p:cNvSpPr/>
          <p:nvPr/>
        </p:nvSpPr>
        <p:spPr>
          <a:xfrm>
            <a:off x="7589520" y="1709928"/>
            <a:ext cx="4069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Last time, you turned 12 tabs into one good number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7360920" y="2523744"/>
            <a:ext cx="100584" cy="100584"/>
          </a:xfrm>
          <a:prstGeom prst="ellipse">
            <a:avLst/>
          </a:prstGeom>
          <a:solidFill>
            <a:srgbClr val="A522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7589520" y="2368296"/>
            <a:ext cx="4069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This time, the folder has grown — full 2023, 2024, 2025, and half of 2026, four years instead of one quarter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7360920" y="3182112"/>
            <a:ext cx="100584" cy="100584"/>
          </a:xfrm>
          <a:prstGeom prst="ellipse">
            <a:avLst/>
          </a:prstGeom>
          <a:solidFill>
            <a:srgbClr val="A522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7589520" y="3026664"/>
            <a:ext cx="4069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She doesn’t want a deck. She wants an answer, on demand, whenever she asks.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548640" y="3977640"/>
            <a:ext cx="11064240" cy="960120"/>
          </a:xfrm>
          <a:prstGeom prst="roundRect">
            <a:avLst>
              <a:gd fmla="val 9524" name="adj"/>
            </a:avLst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868680" y="3977640"/>
            <a:ext cx="104241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What you’ll do: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pick the right chart for a question, then build something that already has next month’s answer in it — no more rebuilding from scratch.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548640" y="516636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Before you open any AI tool: if the Director could check this herself, what would she need to see first?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"/>
          <p:cNvSpPr/>
          <p:nvPr/>
        </p:nvSpPr>
        <p:spPr>
          <a:xfrm>
            <a:off x="548640" y="41148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THE SCENARIO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548640" y="713232"/>
            <a:ext cx="10789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Take 5 minutes. See how much the folder grew.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548640" y="6528816"/>
            <a:ext cx="6400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MODULE 3 · DATA ON DEMAND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1280160" y="1737360"/>
            <a:ext cx="9966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2025: estimates, not actuals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1280160" y="2148840"/>
            <a:ext cx="9966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The 2025 file’s own notes say every figure is a management estimate. Chart it next to real actuals with no label, and you’ve told a small lie.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Easy to miss if you’re just pulling numbers into a chart.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1280160" y="3154680"/>
            <a:ext cx="9966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2026: an open question, mid-chart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1280160" y="3566160"/>
            <a:ext cx="9966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Cleaning revenue is soft in Q2 2026, and the file says why is still “under review — possible competitor impact.” Not yet a settled fact.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640080" y="4617720"/>
            <a:ext cx="457200" cy="457200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640080" y="46177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1280160" y="4572000"/>
            <a:ext cx="9966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Four files, four different shapes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1280160" y="4983480"/>
            <a:ext cx="9966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2023–2025 are quarterly-summarized; 2026 is month-by-month, half a year. Stitching them into one view isn’t just copy-paste.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"/>
          <p:cNvSpPr/>
          <p:nvPr/>
        </p:nvSpPr>
        <p:spPr>
          <a:xfrm>
            <a:off x="548640" y="41148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THE SCENARIO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548640" y="713232"/>
            <a:ext cx="10789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What you might have caught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548640" y="6528816"/>
            <a:ext cx="6400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MODULE 3 · DATA ON DEMAND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1280160" y="1737360"/>
            <a:ext cx="9966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The trap: estimates dressed as actuals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1280160" y="2148840"/>
            <a:ext cx="9966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If 2025’s management estimates get charted with the same styling as 2023–2024’s real actuals, a reader can’t tell which years to trust.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Nothing in a typical chart flags this unless you tell AI to.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1280160" y="3154680"/>
            <a:ext cx="9966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The open question: Cleaning in 2026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1280160" y="3566160"/>
            <a:ext cx="9966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The competitor-impact theory is unconfirmed. A dashboard that states it as the reason, not a theory, oversells what’s actually known.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640080" y="4617720"/>
            <a:ext cx="457200" cy="457200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640080" y="46177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1280160" y="4572000"/>
            <a:ext cx="9966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The shape mismatch: quarters vs. months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1280160" y="4983480"/>
            <a:ext cx="9966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Naively concatenating four files can silently misalign timeframes if no one checks the grain of each one first.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WARM-UP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Before you touch AI — what’s your instinct?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MODULE 3 · DATA ON DEMAND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640080" y="1920240"/>
            <a:ext cx="502920" cy="502920"/>
          </a:xfrm>
          <a:prstGeom prst="ellipse">
            <a:avLst/>
          </a:prstGeom>
          <a:solidFill>
            <a:srgbClr val="A522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0"/>
          <p:cNvSpPr/>
          <p:nvPr/>
        </p:nvSpPr>
        <p:spPr>
          <a:xfrm>
            <a:off x="640080" y="19202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1325880" y="1783080"/>
            <a:ext cx="9875520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12700">
            <a:solidFill>
              <a:srgbClr val="E3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0"/>
          <p:cNvSpPr/>
          <p:nvPr/>
        </p:nvSpPr>
        <p:spPr>
          <a:xfrm>
            <a:off x="1600200" y="1783080"/>
            <a:ext cx="93268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800"/>
              <a:buFont typeface="Cambria"/>
              <a:buNone/>
            </a:pPr>
            <a:r>
              <a:rPr b="0" i="1" lang="en-US" sz="180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Have you ever had to redo a report because new numbers came in? What’s your first move?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A522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0"/>
          <p:cNvSpPr/>
          <p:nvPr/>
        </p:nvSpPr>
        <p:spPr>
          <a:xfrm>
            <a:off x="640080" y="32004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1325880" y="3063240"/>
            <a:ext cx="9875520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12700">
            <a:solidFill>
              <a:srgbClr val="E3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"/>
          <p:cNvSpPr/>
          <p:nvPr/>
        </p:nvSpPr>
        <p:spPr>
          <a:xfrm>
            <a:off x="1600200" y="3063240"/>
            <a:ext cx="93268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800"/>
              <a:buFont typeface="Cambria"/>
              <a:buNone/>
            </a:pPr>
            <a:r>
              <a:rPr b="0" i="1" lang="en-US" sz="180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How much of that redo was real thinking, and how much was copy-paste?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685800" y="4709160"/>
            <a:ext cx="457200" cy="457200"/>
          </a:xfrm>
          <a:prstGeom prst="ellipse">
            <a:avLst/>
          </a:prstGeom>
          <a:solidFill>
            <a:srgbClr val="E9ED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0"/>
          <p:cNvSpPr/>
          <p:nvPr/>
        </p:nvSpPr>
        <p:spPr>
          <a:xfrm>
            <a:off x="960120" y="4709160"/>
            <a:ext cx="457200" cy="457200"/>
          </a:xfrm>
          <a:prstGeom prst="ellipse">
            <a:avLst/>
          </a:prstGeom>
          <a:solidFill>
            <a:srgbClr val="F4E7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0"/>
          <p:cNvSpPr/>
          <p:nvPr/>
        </p:nvSpPr>
        <p:spPr>
          <a:xfrm>
            <a:off x="1600200" y="4681728"/>
            <a:ext cx="9326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01E62"/>
                </a:solidFill>
                <a:latin typeface="Calibri"/>
                <a:ea typeface="Calibri"/>
                <a:cs typeface="Calibri"/>
                <a:sym typeface="Calibri"/>
              </a:rPr>
              <a:t>Turn to a partner — 2 minutes. We’ll share a few out before we bring AI into it.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E62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0013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1"/>
          <p:cNvSpPr/>
          <p:nvPr/>
        </p:nvSpPr>
        <p:spPr>
          <a:xfrm>
            <a:off x="-2560320" y="4572000"/>
            <a:ext cx="4572000" cy="4572000"/>
          </a:xfrm>
          <a:prstGeom prst="ellipse">
            <a:avLst/>
          </a:prstGeom>
          <a:solidFill>
            <a:srgbClr val="0013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1"/>
          <p:cNvSpPr/>
          <p:nvPr/>
        </p:nvSpPr>
        <p:spPr>
          <a:xfrm>
            <a:off x="822960" y="233172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BEAT ONE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1"/>
          <p:cNvSpPr/>
          <p:nvPr/>
        </p:nvSpPr>
        <p:spPr>
          <a:xfrm>
            <a:off x="822960" y="2743200"/>
            <a:ext cx="105156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AI as an assistant.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822960" y="4251960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B9D6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AEB9D6"/>
                </a:solidFill>
                <a:latin typeface="Calibri"/>
                <a:ea typeface="Calibri"/>
                <a:cs typeface="Calibri"/>
                <a:sym typeface="Calibri"/>
              </a:rPr>
              <a:t>You’re not handing off the chart. You’re choosing it, with help.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B9D6"/>
                </a:solidFill>
                <a:latin typeface="Calibri"/>
                <a:ea typeface="Calibri"/>
                <a:cs typeface="Calibri"/>
                <a:sym typeface="Calibri"/>
              </a:rPr>
              <a:t>MODULE 3 · DATA ON DEMAND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6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BEAT ONE · ACTIVITY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6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Pick the chart before you build it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6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MODULE 3 · DATA ON DEMAND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6"/>
          <p:cNvSpPr/>
          <p:nvPr/>
        </p:nvSpPr>
        <p:spPr>
          <a:xfrm>
            <a:off x="9052560" y="1783080"/>
            <a:ext cx="1417320" cy="502920"/>
          </a:xfrm>
          <a:prstGeom prst="roundRect">
            <a:avLst>
              <a:gd fmla="val 50909" name="adj"/>
            </a:avLst>
          </a:prstGeom>
          <a:solidFill>
            <a:srgbClr val="A522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6"/>
          <p:cNvSpPr/>
          <p:nvPr/>
        </p:nvSpPr>
        <p:spPr>
          <a:xfrm>
            <a:off x="9052560" y="178308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 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6"/>
          <p:cNvSpPr/>
          <p:nvPr/>
        </p:nvSpPr>
        <p:spPr>
          <a:xfrm>
            <a:off x="548640" y="1828800"/>
            <a:ext cx="8138160" cy="1234440"/>
          </a:xfrm>
          <a:prstGeom prst="roundRect">
            <a:avLst>
              <a:gd fmla="val 6667" name="adj"/>
            </a:avLst>
          </a:prstGeom>
          <a:solidFill>
            <a:srgbClr val="F4E7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6"/>
          <p:cNvSpPr/>
          <p:nvPr/>
        </p:nvSpPr>
        <p:spPr>
          <a:xfrm>
            <a:off x="868680" y="1965960"/>
            <a:ext cx="74980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C1C6B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7C1C6B"/>
                </a:solidFill>
                <a:latin typeface="Cambria"/>
                <a:ea typeface="Cambria"/>
                <a:cs typeface="Cambria"/>
                <a:sym typeface="Cambria"/>
              </a:rPr>
              <a:t>Look at the grown folder. Before asking AI to visualize anything, decide: what question is this chart supposed to answer?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6"/>
          <p:cNvSpPr/>
          <p:nvPr/>
        </p:nvSpPr>
        <p:spPr>
          <a:xfrm>
            <a:off x="548640" y="32918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1E62"/>
                </a:solidFill>
                <a:latin typeface="Calibri"/>
                <a:ea typeface="Calibri"/>
                <a:cs typeface="Calibri"/>
                <a:sym typeface="Calibri"/>
              </a:rPr>
              <a:t>QUESTIONS TO EXPLORE FIRST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6"/>
          <p:cNvSpPr/>
          <p:nvPr/>
        </p:nvSpPr>
        <p:spPr>
          <a:xfrm>
            <a:off x="548640" y="3657600"/>
            <a:ext cx="81381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Is this a trend, a comparison, or a composition question — and does your chart type actually match?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1C1E2B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If the Director has 30 seconds and no context, what would you cut?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1C1E2B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What choice — axis, scale, color, range — could make the same true numbers look like a collapse or a shrug?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6"/>
          <p:cNvSpPr/>
          <p:nvPr/>
        </p:nvSpPr>
        <p:spPr>
          <a:xfrm>
            <a:off x="548640" y="53492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Two fine starting points: ask AI to suggest three chart options and argue for one — or sketch what you’d want first, then check AI’s suggestion against it.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7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BEAT ONE · DIAGNOSE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7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Three checks — no single right answer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7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MODULE 3 · DATA ON DEMAND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7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7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7"/>
          <p:cNvSpPr/>
          <p:nvPr/>
        </p:nvSpPr>
        <p:spPr>
          <a:xfrm>
            <a:off x="1280160" y="1737360"/>
            <a:ext cx="9966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Did you match the visual to the question?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7"/>
          <p:cNvSpPr/>
          <p:nvPr/>
        </p:nvSpPr>
        <p:spPr>
          <a:xfrm>
            <a:off x="1280160" y="2148840"/>
            <a:ext cx="9966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Generic: “Chart this data.”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Context-rich: “Show HVAC vs. Plumbing vs. Cleaning over time” is a line-chart question. “Show Q3 2024 by region” is a bar-chart question.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7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7"/>
          <p:cNvSpPr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7"/>
          <p:cNvSpPr/>
          <p:nvPr/>
        </p:nvSpPr>
        <p:spPr>
          <a:xfrm>
            <a:off x="1280160" y="3154680"/>
            <a:ext cx="9966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Did you design for the reader, not yourself?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7"/>
          <p:cNvSpPr/>
          <p:nvPr/>
        </p:nvSpPr>
        <p:spPr>
          <a:xfrm>
            <a:off x="1280160" y="3566160"/>
            <a:ext cx="9966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You know what “Actual vs. Target” means. The Director skimming this before a board meeting doesn’t, yet — fewer numbers is usually the more honest choice, not the lazier one.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7"/>
          <p:cNvSpPr/>
          <p:nvPr/>
        </p:nvSpPr>
        <p:spPr>
          <a:xfrm>
            <a:off x="640080" y="4617720"/>
            <a:ext cx="457200" cy="457200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7"/>
          <p:cNvSpPr/>
          <p:nvPr/>
        </p:nvSpPr>
        <p:spPr>
          <a:xfrm>
            <a:off x="640080" y="46177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7"/>
          <p:cNvSpPr/>
          <p:nvPr/>
        </p:nvSpPr>
        <p:spPr>
          <a:xfrm>
            <a:off x="1280160" y="4572000"/>
            <a:ext cx="9966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Did you catch the axis trick?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7"/>
          <p:cNvSpPr/>
          <p:nvPr/>
        </p:nvSpPr>
        <p:spPr>
          <a:xfrm>
            <a:off x="1280160" y="4983480"/>
            <a:ext cx="9966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HVAC grew from $124,500 to $145,100 (Q3 2023 to Q3 2024) — real growth, about 16%. A truncated axis can make that look like it tripled. Same numbers, different honesty.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E62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5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0013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5"/>
          <p:cNvSpPr/>
          <p:nvPr/>
        </p:nvSpPr>
        <p:spPr>
          <a:xfrm>
            <a:off x="-2560320" y="4572000"/>
            <a:ext cx="4572000" cy="4572000"/>
          </a:xfrm>
          <a:prstGeom prst="ellipse">
            <a:avLst/>
          </a:prstGeom>
          <a:solidFill>
            <a:srgbClr val="0013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5"/>
          <p:cNvSpPr/>
          <p:nvPr/>
        </p:nvSpPr>
        <p:spPr>
          <a:xfrm>
            <a:off x="822960" y="233172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BEAT TWO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5"/>
          <p:cNvSpPr/>
          <p:nvPr/>
        </p:nvSpPr>
        <p:spPr>
          <a:xfrm>
            <a:off x="822960" y="2743200"/>
            <a:ext cx="105156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AI as an analyst.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5"/>
          <p:cNvSpPr/>
          <p:nvPr/>
        </p:nvSpPr>
        <p:spPr>
          <a:xfrm>
            <a:off x="822960" y="4251960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B9D6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AEB9D6"/>
                </a:solidFill>
                <a:latin typeface="Calibri"/>
                <a:ea typeface="Calibri"/>
                <a:cs typeface="Calibri"/>
                <a:sym typeface="Calibri"/>
              </a:rPr>
              <a:t>Same folder. Now you’re not making a chart — you’re building the thing that keeps making it.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5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B9D6"/>
                </a:solidFill>
                <a:latin typeface="Calibri"/>
                <a:ea typeface="Calibri"/>
                <a:cs typeface="Calibri"/>
                <a:sym typeface="Calibri"/>
              </a:rPr>
              <a:t>MODULE 3 · DATA ON DEMAND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BEAT TWO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2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The old way vs. the new way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2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MODULE 3 · DATA ON DEMAND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2"/>
          <p:cNvSpPr/>
          <p:nvPr/>
        </p:nvSpPr>
        <p:spPr>
          <a:xfrm>
            <a:off x="2194560" y="1691640"/>
            <a:ext cx="7818120" cy="4343400"/>
          </a:xfrm>
          <a:prstGeom prst="roundRect">
            <a:avLst>
              <a:gd fmla="val 1263" name="adj"/>
            </a:avLst>
          </a:prstGeom>
          <a:solidFill>
            <a:srgbClr val="FFFFFF"/>
          </a:solidFill>
          <a:ln cap="flat" cmpd="sng" w="15875">
            <a:solidFill>
              <a:srgbClr val="DAD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2"/>
          <p:cNvSpPr/>
          <p:nvPr/>
        </p:nvSpPr>
        <p:spPr>
          <a:xfrm>
            <a:off x="2194560" y="1691640"/>
            <a:ext cx="7818120" cy="566928"/>
          </a:xfrm>
          <a:prstGeom prst="rect">
            <a:avLst/>
          </a:prstGeom>
          <a:solidFill>
            <a:srgbClr val="E9ED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2"/>
          <p:cNvSpPr/>
          <p:nvPr/>
        </p:nvSpPr>
        <p:spPr>
          <a:xfrm>
            <a:off x="2423160" y="1691640"/>
            <a:ext cx="7360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FROM STATIC DECK TO LIVING TOOL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2"/>
          <p:cNvSpPr/>
          <p:nvPr/>
        </p:nvSpPr>
        <p:spPr>
          <a:xfrm>
            <a:off x="2542032" y="2377440"/>
            <a:ext cx="7269480" cy="3520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01E62"/>
                </a:solidFill>
                <a:latin typeface="Calibri"/>
                <a:ea typeface="Calibri"/>
                <a:cs typeface="Calibri"/>
                <a:sym typeface="Calibri"/>
              </a:rPr>
              <a:t>THE OLD WAY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1C1E2B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1. New data arrives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rgbClr val="1C1E2B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2. Rebuild the deck by hand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rgbClr val="1C1E2B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3. Send it. Repeat next quarter.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Clr>
                <a:srgbClr val="001E62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01E62"/>
                </a:solidFill>
                <a:latin typeface="Calibri"/>
                <a:ea typeface="Calibri"/>
                <a:cs typeface="Calibri"/>
                <a:sym typeface="Calibri"/>
              </a:rPr>
              <a:t>THE NEW WAY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1C1E2B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New data arrives → the dashboard updates itself → the reader checks it whenever they want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Clr>
                <a:srgbClr val="001E62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01E62"/>
                </a:solidFill>
                <a:latin typeface="Calibri"/>
                <a:ea typeface="Calibri"/>
                <a:cs typeface="Calibri"/>
                <a:sym typeface="Calibri"/>
              </a:rPr>
              <a:t>WHY THIS MATTERS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1C1E2B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Don’t build a deck for something you’ll be asked again next month.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Clr>
                <a:srgbClr val="001E62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01E62"/>
                </a:solidFill>
                <a:latin typeface="Calibri"/>
                <a:ea typeface="Calibri"/>
                <a:cs typeface="Calibri"/>
                <a:sym typeface="Calibri"/>
              </a:rPr>
              <a:t>STILL TRUE FROM MODULE 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1C1E2B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Same non-determinism as Module 2 — still your job to own, not AI’s.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3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BEAT TWO · ACTIVITY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3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Your first prompt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3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MODULE 3 · DATA ON DEMAND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3"/>
          <p:cNvSpPr/>
          <p:nvPr/>
        </p:nvSpPr>
        <p:spPr>
          <a:xfrm>
            <a:off x="9052560" y="1783080"/>
            <a:ext cx="1417320" cy="502920"/>
          </a:xfrm>
          <a:prstGeom prst="roundRect">
            <a:avLst>
              <a:gd fmla="val 50909" name="adj"/>
            </a:avLst>
          </a:prstGeom>
          <a:solidFill>
            <a:srgbClr val="A522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3"/>
          <p:cNvSpPr/>
          <p:nvPr/>
        </p:nvSpPr>
        <p:spPr>
          <a:xfrm>
            <a:off x="9052560" y="178308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 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3"/>
          <p:cNvSpPr/>
          <p:nvPr/>
        </p:nvSpPr>
        <p:spPr>
          <a:xfrm>
            <a:off x="548640" y="1828800"/>
            <a:ext cx="8138160" cy="2286000"/>
          </a:xfrm>
          <a:prstGeom prst="roundRect">
            <a:avLst>
              <a:gd fmla="val 3600" name="adj"/>
            </a:avLst>
          </a:prstGeom>
          <a:solidFill>
            <a:srgbClr val="F4E7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3"/>
          <p:cNvSpPr/>
          <p:nvPr/>
        </p:nvSpPr>
        <p:spPr>
          <a:xfrm>
            <a:off x="868680" y="2011680"/>
            <a:ext cx="7498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C1C6B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7C1C6B"/>
                </a:solidFill>
                <a:latin typeface="Cambria"/>
                <a:ea typeface="Cambria"/>
                <a:cs typeface="Cambria"/>
                <a:sym typeface="Cambria"/>
              </a:rPr>
              <a:t>Point your AI assistant at the raw files directly, and ask it to build a living version of the report — not just describe one.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3"/>
          <p:cNvSpPr/>
          <p:nvPr/>
        </p:nvSpPr>
        <p:spPr>
          <a:xfrm>
            <a:off x="868680" y="2971800"/>
            <a:ext cx="7498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Try your first prompt now — don’t overthink it. Use whatever feels natural.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3"/>
          <p:cNvSpPr/>
          <p:nvPr/>
        </p:nvSpPr>
        <p:spPr>
          <a:xfrm>
            <a:off x="548640" y="434340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Once you have output: don’t edit it by hand. Read it carefully — you’ll check it against five specific things next.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3"/>
          <p:cNvSpPr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Inputs: all four years of the Pinnacle Peak revenue files, plus the Q3 data workbook from Module 2 for structure.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4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BEAT TWO · DIAGNOSE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4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Check your output against these five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4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MODULE 3 · DATA ON DEMAND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4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4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4"/>
          <p:cNvSpPr/>
          <p:nvPr/>
        </p:nvSpPr>
        <p:spPr>
          <a:xfrm>
            <a:off x="1280160" y="17830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Estimates charted as actuals?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4"/>
          <p:cNvSpPr/>
          <p:nvPr/>
        </p:nvSpPr>
        <p:spPr>
          <a:xfrm>
            <a:off x="4709160" y="1783080"/>
            <a:ext cx="6720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Check whether 2025’s management-estimate figures got styled identically to real actuals, with no label distinguishing them.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4"/>
          <p:cNvSpPr/>
          <p:nvPr/>
        </p:nvSpPr>
        <p:spPr>
          <a:xfrm>
            <a:off x="640080" y="2386584"/>
            <a:ext cx="457200" cy="457200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4"/>
          <p:cNvSpPr/>
          <p:nvPr/>
        </p:nvSpPr>
        <p:spPr>
          <a:xfrm>
            <a:off x="640080" y="238658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4"/>
          <p:cNvSpPr/>
          <p:nvPr/>
        </p:nvSpPr>
        <p:spPr>
          <a:xfrm>
            <a:off x="1280160" y="2386584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Open question stated as fact?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4"/>
          <p:cNvSpPr/>
          <p:nvPr/>
        </p:nvSpPr>
        <p:spPr>
          <a:xfrm>
            <a:off x="4709160" y="2386584"/>
            <a:ext cx="6720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The 2026 Cleaning dip has an unconfirmed competitor theory attached. Did the output present it as settled, or flag it as still under review?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640080" y="2990088"/>
            <a:ext cx="457200" cy="457200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4"/>
          <p:cNvSpPr/>
          <p:nvPr/>
        </p:nvSpPr>
        <p:spPr>
          <a:xfrm>
            <a:off x="640080" y="299008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4"/>
          <p:cNvSpPr/>
          <p:nvPr/>
        </p:nvSpPr>
        <p:spPr>
          <a:xfrm>
            <a:off x="1280160" y="2990088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Misleading axis or scale?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4"/>
          <p:cNvSpPr/>
          <p:nvPr/>
        </p:nvSpPr>
        <p:spPr>
          <a:xfrm>
            <a:off x="4709160" y="2990088"/>
            <a:ext cx="6720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Did the chart choice make a real ~16% HVAC gain look dramatically bigger or smaller than it is?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4"/>
          <p:cNvSpPr/>
          <p:nvPr/>
        </p:nvSpPr>
        <p:spPr>
          <a:xfrm>
            <a:off x="640080" y="3593592"/>
            <a:ext cx="457200" cy="457200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4"/>
          <p:cNvSpPr/>
          <p:nvPr/>
        </p:nvSpPr>
        <p:spPr>
          <a:xfrm>
            <a:off x="640080" y="35935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4"/>
          <p:cNvSpPr/>
          <p:nvPr/>
        </p:nvSpPr>
        <p:spPr>
          <a:xfrm>
            <a:off x="1280160" y="3593592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One chart claimed as the answer?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4"/>
          <p:cNvSpPr/>
          <p:nvPr/>
        </p:nvSpPr>
        <p:spPr>
          <a:xfrm>
            <a:off x="4709160" y="3593592"/>
            <a:ext cx="6720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Two honest analysts can visualize the same data two different, equally defensible ways. Does the output acknowledge that, or present its choice as the only correct one?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4"/>
          <p:cNvSpPr/>
          <p:nvPr/>
        </p:nvSpPr>
        <p:spPr>
          <a:xfrm>
            <a:off x="640080" y="4197096"/>
            <a:ext cx="457200" cy="457200"/>
          </a:xfrm>
          <a:prstGeom prst="ellipse">
            <a:avLst/>
          </a:prstGeom>
          <a:solidFill>
            <a:srgbClr val="AEB9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4"/>
          <p:cNvSpPr/>
          <p:nvPr/>
        </p:nvSpPr>
        <p:spPr>
          <a:xfrm>
            <a:off x="640080" y="419709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4"/>
          <p:cNvSpPr/>
          <p:nvPr/>
        </p:nvSpPr>
        <p:spPr>
          <a:xfrm>
            <a:off x="1280160" y="4197096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The “why,” unverified?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4"/>
          <p:cNvSpPr/>
          <p:nvPr/>
        </p:nvSpPr>
        <p:spPr>
          <a:xfrm>
            <a:off x="4709160" y="4197096"/>
            <a:ext cx="6720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AI can tell you revenue dropped three months running. It can’t tell you why. Was that checked against one file by hand, even once?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4"/>
          <p:cNvSpPr/>
          <p:nvPr/>
        </p:nvSpPr>
        <p:spPr>
          <a:xfrm>
            <a:off x="548640" y="5029200"/>
            <a:ext cx="11064240" cy="777240"/>
          </a:xfrm>
          <a:prstGeom prst="roundRect">
            <a:avLst>
              <a:gd fmla="val 10588" name="adj"/>
            </a:avLst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4"/>
          <p:cNvSpPr/>
          <p:nvPr/>
        </p:nvSpPr>
        <p:spPr>
          <a:xfrm>
            <a:off x="822960" y="5029200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Now revise: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edit your prompt — not the output — and regenerate. The learning is in rewriting the instruction.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E62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8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0013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8"/>
          <p:cNvSpPr/>
          <p:nvPr/>
        </p:nvSpPr>
        <p:spPr>
          <a:xfrm>
            <a:off x="-2560320" y="4572000"/>
            <a:ext cx="4572000" cy="4572000"/>
          </a:xfrm>
          <a:prstGeom prst="ellipse">
            <a:avLst/>
          </a:prstGeom>
          <a:solidFill>
            <a:srgbClr val="0013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8"/>
          <p:cNvSpPr/>
          <p:nvPr/>
        </p:nvSpPr>
        <p:spPr>
          <a:xfrm>
            <a:off x="822960" y="233172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NAMING THE PATTERN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8"/>
          <p:cNvSpPr/>
          <p:nvPr/>
        </p:nvSpPr>
        <p:spPr>
          <a:xfrm>
            <a:off x="822960" y="2743200"/>
            <a:ext cx="105156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Two beats. Bigger folder.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Very different levels of trust.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8"/>
          <p:cNvSpPr/>
          <p:nvPr/>
        </p:nvSpPr>
        <p:spPr>
          <a:xfrm>
            <a:off x="822960" y="4251960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B9D6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AEB9D6"/>
                </a:solidFill>
                <a:latin typeface="Calibri"/>
                <a:ea typeface="Calibri"/>
                <a:cs typeface="Calibri"/>
                <a:sym typeface="Calibri"/>
              </a:rPr>
              <a:t>Now we pull back and name the two moves you just used.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8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B9D6"/>
                </a:solidFill>
                <a:latin typeface="Calibri"/>
                <a:ea typeface="Calibri"/>
                <a:cs typeface="Calibri"/>
                <a:sym typeface="Calibri"/>
              </a:rPr>
              <a:t>MODULE 3 · DATA ON DEMAND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9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THE PATTERN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9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The two moves you’ll use constantly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9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MODULE 3 · DATA ON DEMAND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9"/>
          <p:cNvSpPr/>
          <p:nvPr/>
        </p:nvSpPr>
        <p:spPr>
          <a:xfrm>
            <a:off x="548640" y="1783080"/>
            <a:ext cx="5349240" cy="2514600"/>
          </a:xfrm>
          <a:prstGeom prst="roundRect">
            <a:avLst>
              <a:gd fmla="val 3273" name="adj"/>
            </a:avLst>
          </a:prstGeom>
          <a:solidFill>
            <a:srgbClr val="FFFFFF"/>
          </a:solidFill>
          <a:ln cap="flat" cmpd="sng" w="12700">
            <a:solidFill>
              <a:srgbClr val="E3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9"/>
          <p:cNvSpPr/>
          <p:nvPr/>
        </p:nvSpPr>
        <p:spPr>
          <a:xfrm>
            <a:off x="868680" y="2103120"/>
            <a:ext cx="502920" cy="502920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9"/>
          <p:cNvSpPr/>
          <p:nvPr/>
        </p:nvSpPr>
        <p:spPr>
          <a:xfrm>
            <a:off x="868680" y="21031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9"/>
          <p:cNvSpPr/>
          <p:nvPr/>
        </p:nvSpPr>
        <p:spPr>
          <a:xfrm>
            <a:off x="1554480" y="2075688"/>
            <a:ext cx="4069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Beat 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9"/>
          <p:cNvSpPr/>
          <p:nvPr/>
        </p:nvSpPr>
        <p:spPr>
          <a:xfrm>
            <a:off x="1554480" y="2404872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1E62"/>
                </a:solidFill>
                <a:latin typeface="Calibri"/>
                <a:ea typeface="Calibri"/>
                <a:cs typeface="Calibri"/>
                <a:sym typeface="Calibri"/>
              </a:rPr>
              <a:t>AI AS ASSISTANT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9"/>
          <p:cNvSpPr/>
          <p:nvPr/>
        </p:nvSpPr>
        <p:spPr>
          <a:xfrm>
            <a:off x="868680" y="2834640"/>
            <a:ext cx="47091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You choose the chart. AI suggests options and executes — you decide what question it needs to answer and what a reader needs to see.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9"/>
          <p:cNvSpPr/>
          <p:nvPr/>
        </p:nvSpPr>
        <p:spPr>
          <a:xfrm>
            <a:off x="6263640" y="1783080"/>
            <a:ext cx="5349240" cy="2514600"/>
          </a:xfrm>
          <a:prstGeom prst="roundRect">
            <a:avLst>
              <a:gd fmla="val 3273" name="adj"/>
            </a:avLst>
          </a:prstGeom>
          <a:solidFill>
            <a:srgbClr val="FFFFFF"/>
          </a:solidFill>
          <a:ln cap="flat" cmpd="sng" w="12700">
            <a:solidFill>
              <a:srgbClr val="E3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9"/>
          <p:cNvSpPr/>
          <p:nvPr/>
        </p:nvSpPr>
        <p:spPr>
          <a:xfrm>
            <a:off x="6583680" y="2103120"/>
            <a:ext cx="502920" cy="502920"/>
          </a:xfrm>
          <a:prstGeom prst="ellipse">
            <a:avLst/>
          </a:prstGeom>
          <a:solidFill>
            <a:srgbClr val="A522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9"/>
          <p:cNvSpPr/>
          <p:nvPr/>
        </p:nvSpPr>
        <p:spPr>
          <a:xfrm>
            <a:off x="6583680" y="21031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9"/>
          <p:cNvSpPr/>
          <p:nvPr/>
        </p:nvSpPr>
        <p:spPr>
          <a:xfrm>
            <a:off x="7269480" y="2075688"/>
            <a:ext cx="4069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Beat Two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9"/>
          <p:cNvSpPr/>
          <p:nvPr/>
        </p:nvSpPr>
        <p:spPr>
          <a:xfrm>
            <a:off x="7269480" y="2404872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AI AS ANALYST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9"/>
          <p:cNvSpPr/>
          <p:nvPr/>
        </p:nvSpPr>
        <p:spPr>
          <a:xfrm>
            <a:off x="6583680" y="2834640"/>
            <a:ext cx="47091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AI builds the living tool directly — which means the verification burden shifts onto you, on an ongoing basis, not just once.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9"/>
          <p:cNvSpPr/>
          <p:nvPr/>
        </p:nvSpPr>
        <p:spPr>
          <a:xfrm>
            <a:off x="548640" y="4572000"/>
            <a:ext cx="11064240" cy="1234440"/>
          </a:xfrm>
          <a:prstGeom prst="roundRect">
            <a:avLst>
              <a:gd fmla="val 7407" name="adj"/>
            </a:avLst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9"/>
          <p:cNvSpPr/>
          <p:nvPr/>
        </p:nvSpPr>
        <p:spPr>
          <a:xfrm>
            <a:off x="914400" y="4572000"/>
            <a:ext cx="103327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0" i="1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“A static answer expires the moment new data arrives. A living tool doesn’t — but only if someone keeps checking what it’s claiming.”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THE PATTERN · WHY IT WORKS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0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You were already using this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0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MODULE 3 · DATA ON DEMAND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0"/>
          <p:cNvSpPr/>
          <p:nvPr/>
        </p:nvSpPr>
        <p:spPr>
          <a:xfrm>
            <a:off x="548640" y="1874520"/>
            <a:ext cx="11064240" cy="914400"/>
          </a:xfrm>
          <a:prstGeom prst="roundRect">
            <a:avLst>
              <a:gd fmla="val 8000" name="adj"/>
            </a:avLst>
          </a:prstGeom>
          <a:solidFill>
            <a:srgbClr val="E9ED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0"/>
          <p:cNvSpPr/>
          <p:nvPr/>
        </p:nvSpPr>
        <p:spPr>
          <a:xfrm>
            <a:off x="822960" y="1874520"/>
            <a:ext cx="3749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Uncover your goal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0"/>
          <p:cNvSpPr/>
          <p:nvPr/>
        </p:nvSpPr>
        <p:spPr>
          <a:xfrm>
            <a:off x="4709160" y="1874520"/>
            <a:ext cx="6720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Beat One’s chart questions — figuring out what the Director actually needs to see before asking AI to visualize anything.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0"/>
          <p:cNvSpPr/>
          <p:nvPr/>
        </p:nvSpPr>
        <p:spPr>
          <a:xfrm>
            <a:off x="548640" y="2971800"/>
            <a:ext cx="11064240" cy="914400"/>
          </a:xfrm>
          <a:prstGeom prst="roundRect">
            <a:avLst>
              <a:gd fmla="val 8000" name="adj"/>
            </a:avLst>
          </a:prstGeom>
          <a:solidFill>
            <a:srgbClr val="E9ED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0"/>
          <p:cNvSpPr/>
          <p:nvPr/>
        </p:nvSpPr>
        <p:spPr>
          <a:xfrm>
            <a:off x="822960" y="2971800"/>
            <a:ext cx="3749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One step at a time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0"/>
          <p:cNvSpPr/>
          <p:nvPr/>
        </p:nvSpPr>
        <p:spPr>
          <a:xfrm>
            <a:off x="4709160" y="2971800"/>
            <a:ext cx="6720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Deciding chart type, then reader-context, then axis honesty — one question at a time, not “make me a dashboard” in one shot.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0"/>
          <p:cNvSpPr/>
          <p:nvPr/>
        </p:nvSpPr>
        <p:spPr>
          <a:xfrm>
            <a:off x="548640" y="4069080"/>
            <a:ext cx="11064240" cy="914400"/>
          </a:xfrm>
          <a:prstGeom prst="roundRect">
            <a:avLst>
              <a:gd fmla="val 8000" name="adj"/>
            </a:avLst>
          </a:prstGeom>
          <a:solidFill>
            <a:srgbClr val="E9ED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0"/>
          <p:cNvSpPr/>
          <p:nvPr/>
        </p:nvSpPr>
        <p:spPr>
          <a:xfrm>
            <a:off x="822960" y="4069080"/>
            <a:ext cx="3749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Don’t outsource your thinking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0"/>
          <p:cNvSpPr/>
          <p:nvPr/>
        </p:nvSpPr>
        <p:spPr>
          <a:xfrm>
            <a:off x="4709160" y="4069080"/>
            <a:ext cx="6720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The diagnose step — catching AI’s assumptions: estimates vs. actuals, unconfirmed theories, misleading axes, the unverified “why.”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0"/>
          <p:cNvSpPr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From “Foundations of AI Communication” — more depth on this in the Prompting module.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VOCABULARY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Words for what you just did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1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MODULE 3 · DATA ON DEMAND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1"/>
          <p:cNvSpPr/>
          <p:nvPr/>
        </p:nvSpPr>
        <p:spPr>
          <a:xfrm>
            <a:off x="548640" y="1828800"/>
            <a:ext cx="5349240" cy="1600200"/>
          </a:xfrm>
          <a:prstGeom prst="roundRect">
            <a:avLst>
              <a:gd fmla="val 5143" name="adj"/>
            </a:avLst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1"/>
          <p:cNvSpPr/>
          <p:nvPr/>
        </p:nvSpPr>
        <p:spPr>
          <a:xfrm>
            <a:off x="868680" y="2029968"/>
            <a:ext cx="4709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AI as assistant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1"/>
          <p:cNvSpPr/>
          <p:nvPr/>
        </p:nvSpPr>
        <p:spPr>
          <a:xfrm>
            <a:off x="868680" y="2606040"/>
            <a:ext cx="4709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9E9F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9E9F2"/>
                </a:solidFill>
                <a:latin typeface="Calibri"/>
                <a:ea typeface="Calibri"/>
                <a:cs typeface="Calibri"/>
                <a:sym typeface="Calibri"/>
              </a:rPr>
              <a:t>Choosing and building visualizations with AI’s help — you stay the one deciding what a chart needs to say.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1"/>
          <p:cNvSpPr/>
          <p:nvPr/>
        </p:nvSpPr>
        <p:spPr>
          <a:xfrm>
            <a:off x="6263640" y="1828800"/>
            <a:ext cx="5349240" cy="1600200"/>
          </a:xfrm>
          <a:prstGeom prst="roundRect">
            <a:avLst>
              <a:gd fmla="val 5143" name="adj"/>
            </a:avLst>
          </a:prstGeom>
          <a:solidFill>
            <a:srgbClr val="A522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1"/>
          <p:cNvSpPr/>
          <p:nvPr/>
        </p:nvSpPr>
        <p:spPr>
          <a:xfrm>
            <a:off x="6583680" y="2029968"/>
            <a:ext cx="4709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AI as analyst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1"/>
          <p:cNvSpPr/>
          <p:nvPr/>
        </p:nvSpPr>
        <p:spPr>
          <a:xfrm>
            <a:off x="6583680" y="2606040"/>
            <a:ext cx="4709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9E9F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9E9F2"/>
                </a:solidFill>
                <a:latin typeface="Calibri"/>
                <a:ea typeface="Calibri"/>
                <a:cs typeface="Calibri"/>
                <a:sym typeface="Calibri"/>
              </a:rPr>
              <a:t>Handing AI the raw files to build a living tool directly, and treating ongoing verification as part of the job.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1"/>
          <p:cNvSpPr/>
          <p:nvPr/>
        </p:nvSpPr>
        <p:spPr>
          <a:xfrm>
            <a:off x="548640" y="3749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FROM THE PROMPTING MODULE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1"/>
          <p:cNvSpPr/>
          <p:nvPr/>
        </p:nvSpPr>
        <p:spPr>
          <a:xfrm>
            <a:off x="548640" y="4114800"/>
            <a:ext cx="1810512" cy="502920"/>
          </a:xfrm>
          <a:prstGeom prst="roundRect">
            <a:avLst>
              <a:gd fmla="val 50909" name="adj"/>
            </a:avLst>
          </a:prstGeom>
          <a:solidFill>
            <a:srgbClr val="FFFFFF"/>
          </a:solidFill>
          <a:ln cap="flat" cmpd="sng" w="15875">
            <a:solidFill>
              <a:srgbClr val="001E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1"/>
          <p:cNvSpPr/>
          <p:nvPr/>
        </p:nvSpPr>
        <p:spPr>
          <a:xfrm>
            <a:off x="548640" y="4114800"/>
            <a:ext cx="18105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01E62"/>
                </a:solidFill>
                <a:latin typeface="Calibri"/>
                <a:ea typeface="Calibri"/>
                <a:cs typeface="Calibri"/>
                <a:sym typeface="Calibri"/>
              </a:rPr>
              <a:t>Uncover your goal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1"/>
          <p:cNvSpPr/>
          <p:nvPr/>
        </p:nvSpPr>
        <p:spPr>
          <a:xfrm>
            <a:off x="2587752" y="4114800"/>
            <a:ext cx="1901952" cy="502920"/>
          </a:xfrm>
          <a:prstGeom prst="roundRect">
            <a:avLst>
              <a:gd fmla="val 50909" name="adj"/>
            </a:avLst>
          </a:prstGeom>
          <a:solidFill>
            <a:srgbClr val="FFFFFF"/>
          </a:solidFill>
          <a:ln cap="flat" cmpd="sng" w="15875">
            <a:solidFill>
              <a:srgbClr val="001E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1"/>
          <p:cNvSpPr/>
          <p:nvPr/>
        </p:nvSpPr>
        <p:spPr>
          <a:xfrm>
            <a:off x="2587752" y="4114800"/>
            <a:ext cx="190195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01E62"/>
                </a:solidFill>
                <a:latin typeface="Calibri"/>
                <a:ea typeface="Calibri"/>
                <a:cs typeface="Calibri"/>
                <a:sym typeface="Calibri"/>
              </a:rPr>
              <a:t>One step at a time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1"/>
          <p:cNvSpPr/>
          <p:nvPr/>
        </p:nvSpPr>
        <p:spPr>
          <a:xfrm>
            <a:off x="4718304" y="4114800"/>
            <a:ext cx="2907792" cy="502920"/>
          </a:xfrm>
          <a:prstGeom prst="roundRect">
            <a:avLst>
              <a:gd fmla="val 50909" name="adj"/>
            </a:avLst>
          </a:prstGeom>
          <a:solidFill>
            <a:srgbClr val="FFFFFF"/>
          </a:solidFill>
          <a:ln cap="flat" cmpd="sng" w="15875">
            <a:solidFill>
              <a:srgbClr val="001E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1"/>
          <p:cNvSpPr/>
          <p:nvPr/>
        </p:nvSpPr>
        <p:spPr>
          <a:xfrm>
            <a:off x="4718304" y="4114800"/>
            <a:ext cx="29077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01E62"/>
                </a:solidFill>
                <a:latin typeface="Calibri"/>
                <a:ea typeface="Calibri"/>
                <a:cs typeface="Calibri"/>
                <a:sym typeface="Calibri"/>
              </a:rPr>
              <a:t>Don’t outsource your thinking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E62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2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0013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2"/>
          <p:cNvSpPr/>
          <p:nvPr/>
        </p:nvSpPr>
        <p:spPr>
          <a:xfrm>
            <a:off x="-2560320" y="4572000"/>
            <a:ext cx="4572000" cy="4572000"/>
          </a:xfrm>
          <a:prstGeom prst="ellipse">
            <a:avLst/>
          </a:prstGeom>
          <a:solidFill>
            <a:srgbClr val="0013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2"/>
          <p:cNvSpPr/>
          <p:nvPr/>
        </p:nvSpPr>
        <p:spPr>
          <a:xfrm>
            <a:off x="822960" y="233172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BRING IT HOME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2"/>
          <p:cNvSpPr/>
          <p:nvPr/>
        </p:nvSpPr>
        <p:spPr>
          <a:xfrm>
            <a:off x="822960" y="2743200"/>
            <a:ext cx="105156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Where this shows up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outside this room.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2"/>
          <p:cNvSpPr/>
          <p:nvPr/>
        </p:nvSpPr>
        <p:spPr>
          <a:xfrm>
            <a:off x="822960" y="4251960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B9D6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AEB9D6"/>
                </a:solidFill>
                <a:latin typeface="Calibri"/>
                <a:ea typeface="Calibri"/>
                <a:cs typeface="Calibri"/>
                <a:sym typeface="Calibri"/>
              </a:rPr>
              <a:t>Your job. Every report you’ve ever rebuilt from scratch. Same two moves.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2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B9D6"/>
                </a:solidFill>
                <a:latin typeface="Calibri"/>
                <a:ea typeface="Calibri"/>
                <a:cs typeface="Calibri"/>
                <a:sym typeface="Calibri"/>
              </a:rPr>
              <a:t>MODULE 3 · DATA ON DEMAND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3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SENSEMAKING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3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Where else does this apply?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3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MODULE 3 · DATA ON DEMAND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3"/>
          <p:cNvSpPr/>
          <p:nvPr/>
        </p:nvSpPr>
        <p:spPr>
          <a:xfrm>
            <a:off x="548640" y="1783080"/>
            <a:ext cx="11064240" cy="1371600"/>
          </a:xfrm>
          <a:prstGeom prst="roundRect">
            <a:avLst>
              <a:gd fmla="val 6000" name="adj"/>
            </a:avLst>
          </a:prstGeom>
          <a:solidFill>
            <a:srgbClr val="F4E7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3"/>
          <p:cNvSpPr/>
          <p:nvPr/>
        </p:nvSpPr>
        <p:spPr>
          <a:xfrm>
            <a:off x="868680" y="1920240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1C6B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7C1C6B"/>
                </a:solidFill>
                <a:latin typeface="Cambria"/>
                <a:ea typeface="Cambria"/>
                <a:cs typeface="Cambria"/>
                <a:sym typeface="Cambria"/>
              </a:rPr>
              <a:t>Think of a recurring task in your own work — something you’ve done more than twice.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3"/>
          <p:cNvSpPr/>
          <p:nvPr/>
        </p:nvSpPr>
        <p:spPr>
          <a:xfrm>
            <a:off x="868680" y="2514600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450"/>
              <a:buFont typeface="Calibri"/>
              <a:buNone/>
            </a:pPr>
            <a:r>
              <a:rPr b="0" i="1" lang="en-US" sz="14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Does it call for AI as an assistant (you choose the visual) or AI as an analyst (you hand off the build, and verify what it claims)?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3"/>
          <p:cNvSpPr/>
          <p:nvPr/>
        </p:nvSpPr>
        <p:spPr>
          <a:xfrm>
            <a:off x="548640" y="34290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1E62"/>
                </a:solidFill>
                <a:latin typeface="Calibri"/>
                <a:ea typeface="Calibri"/>
                <a:cs typeface="Calibri"/>
                <a:sym typeface="Calibri"/>
              </a:rPr>
              <a:t>EXAMPLES TO SEED THE ROOM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3"/>
          <p:cNvSpPr/>
          <p:nvPr/>
        </p:nvSpPr>
        <p:spPr>
          <a:xfrm>
            <a:off x="548640" y="3794760"/>
            <a:ext cx="1673352" cy="4572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D7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3"/>
          <p:cNvSpPr/>
          <p:nvPr/>
        </p:nvSpPr>
        <p:spPr>
          <a:xfrm>
            <a:off x="548640" y="3794760"/>
            <a:ext cx="16733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Monthly status decks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3"/>
          <p:cNvSpPr/>
          <p:nvPr/>
        </p:nvSpPr>
        <p:spPr>
          <a:xfrm>
            <a:off x="2423160" y="3794760"/>
            <a:ext cx="1847088" cy="4572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D7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3"/>
          <p:cNvSpPr/>
          <p:nvPr/>
        </p:nvSpPr>
        <p:spPr>
          <a:xfrm>
            <a:off x="2423160" y="3794760"/>
            <a:ext cx="1847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KPI dashboards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3"/>
          <p:cNvSpPr/>
          <p:nvPr/>
        </p:nvSpPr>
        <p:spPr>
          <a:xfrm>
            <a:off x="4471416" y="3794760"/>
            <a:ext cx="1499616" cy="4572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D7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3"/>
          <p:cNvSpPr/>
          <p:nvPr/>
        </p:nvSpPr>
        <p:spPr>
          <a:xfrm>
            <a:off x="4471416" y="3794760"/>
            <a:ext cx="14996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Recurring client reports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3"/>
          <p:cNvSpPr/>
          <p:nvPr/>
        </p:nvSpPr>
        <p:spPr>
          <a:xfrm>
            <a:off x="6172200" y="3794760"/>
            <a:ext cx="1586484" cy="4572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D7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3"/>
          <p:cNvSpPr/>
          <p:nvPr/>
        </p:nvSpPr>
        <p:spPr>
          <a:xfrm>
            <a:off x="6172200" y="3794760"/>
            <a:ext cx="15864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Trend analyses you rebuild each time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3"/>
          <p:cNvSpPr/>
          <p:nvPr/>
        </p:nvSpPr>
        <p:spPr>
          <a:xfrm>
            <a:off x="7959852" y="3794760"/>
            <a:ext cx="2107692" cy="4572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D7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3"/>
          <p:cNvSpPr/>
          <p:nvPr/>
        </p:nvSpPr>
        <p:spPr>
          <a:xfrm>
            <a:off x="7959852" y="3794760"/>
            <a:ext cx="21076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Anything with a “FINAL_v3” in the filename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3"/>
          <p:cNvSpPr/>
          <p:nvPr/>
        </p:nvSpPr>
        <p:spPr>
          <a:xfrm>
            <a:off x="548640" y="466344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1E62"/>
                </a:solidFill>
                <a:latin typeface="Calibri"/>
                <a:ea typeface="Calibri"/>
                <a:cs typeface="Calibri"/>
                <a:sym typeface="Calibri"/>
              </a:rPr>
              <a:t>2 min with a partner, then we’ll hear a few out loud.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4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PRACTICE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4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Try it on one real thing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4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MODULE 3 · DATA ON DEMAND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4"/>
          <p:cNvSpPr/>
          <p:nvPr/>
        </p:nvSpPr>
        <p:spPr>
          <a:xfrm>
            <a:off x="548640" y="1783080"/>
            <a:ext cx="11064240" cy="1508760"/>
          </a:xfrm>
          <a:prstGeom prst="roundRect">
            <a:avLst>
              <a:gd fmla="val 5455" name="adj"/>
            </a:avLst>
          </a:prstGeom>
          <a:solidFill>
            <a:srgbClr val="E9ED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4"/>
          <p:cNvSpPr/>
          <p:nvPr/>
        </p:nvSpPr>
        <p:spPr>
          <a:xfrm>
            <a:off x="868680" y="1920240"/>
            <a:ext cx="10424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Pick ONE task </a:t>
            </a:r>
            <a:r>
              <a:rPr b="0" i="0" lang="en-US" sz="165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from your own work — or use the safe Pinnacle Peak folder if you’d rather not use real data.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4"/>
          <p:cNvSpPr/>
          <p:nvPr/>
        </p:nvSpPr>
        <p:spPr>
          <a:xfrm>
            <a:off x="868680" y="2606040"/>
            <a:ext cx="10424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Sketch (on paper or in your AI tool) which mode fits — assistant or analyst — and what your first line of prompt would say.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4"/>
          <p:cNvSpPr/>
          <p:nvPr/>
        </p:nvSpPr>
        <p:spPr>
          <a:xfrm>
            <a:off x="868680" y="3063240"/>
            <a:ext cx="1417320" cy="502920"/>
          </a:xfrm>
          <a:prstGeom prst="roundRect">
            <a:avLst>
              <a:gd fmla="val 50909" name="adj"/>
            </a:avLst>
          </a:prstGeom>
          <a:solidFill>
            <a:srgbClr val="A522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4"/>
          <p:cNvSpPr/>
          <p:nvPr/>
        </p:nvSpPr>
        <p:spPr>
          <a:xfrm>
            <a:off x="868680" y="306324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4"/>
          <p:cNvSpPr/>
          <p:nvPr/>
        </p:nvSpPr>
        <p:spPr>
          <a:xfrm>
            <a:off x="548640" y="3840480"/>
            <a:ext cx="11064240" cy="13716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3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4"/>
          <p:cNvSpPr/>
          <p:nvPr/>
        </p:nvSpPr>
        <p:spPr>
          <a:xfrm>
            <a:off x="822960" y="40233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WANT TO GO FURTHER?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4"/>
          <p:cNvSpPr/>
          <p:nvPr/>
        </p:nvSpPr>
        <p:spPr>
          <a:xfrm>
            <a:off x="822960" y="4343400"/>
            <a:ext cx="10332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A fuller version — actually building a live version and getting feedback — is a great fit for office hours or an async follow-up. Capture your prompt, AI’s output, and one thing you’d verify before trusting it.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5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WRAP-UP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5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Take this with you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5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MODULE 3 · DATA ON DEMAND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5"/>
          <p:cNvSpPr/>
          <p:nvPr/>
        </p:nvSpPr>
        <p:spPr>
          <a:xfrm>
            <a:off x="548640" y="1783080"/>
            <a:ext cx="5349240" cy="3794760"/>
          </a:xfrm>
          <a:prstGeom prst="roundRect">
            <a:avLst>
              <a:gd fmla="val 1928" name="adj"/>
            </a:avLst>
          </a:prstGeom>
          <a:solidFill>
            <a:srgbClr val="F4F5FA"/>
          </a:solidFill>
          <a:ln cap="flat" cmpd="sng" w="12700">
            <a:solidFill>
              <a:srgbClr val="E3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5"/>
          <p:cNvSpPr/>
          <p:nvPr/>
        </p:nvSpPr>
        <p:spPr>
          <a:xfrm>
            <a:off x="548640" y="1783080"/>
            <a:ext cx="5349240" cy="548640"/>
          </a:xfrm>
          <a:prstGeom prst="rect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5"/>
          <p:cNvSpPr/>
          <p:nvPr/>
        </p:nvSpPr>
        <p:spPr>
          <a:xfrm>
            <a:off x="777240" y="1783080"/>
            <a:ext cx="4892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SKELETON 1 — When AI is your assistant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5"/>
          <p:cNvSpPr/>
          <p:nvPr/>
        </p:nvSpPr>
        <p:spPr>
          <a:xfrm>
            <a:off x="822960" y="2514600"/>
            <a:ext cx="480060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1C1E2B"/>
                </a:solidFill>
                <a:latin typeface="Consolas"/>
                <a:ea typeface="Consolas"/>
                <a:cs typeface="Consolas"/>
                <a:sym typeface="Consolas"/>
              </a:rPr>
              <a:t>Here’s the question this needs to answer: [trend / comparison / composition].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1C1E2B"/>
                </a:solidFill>
                <a:latin typeface="Consolas"/>
                <a:ea typeface="Consolas"/>
                <a:cs typeface="Consolas"/>
                <a:sym typeface="Consolas"/>
              </a:rPr>
              <a:t>Suggest chart types that fit, and tell me what a reader with 30 seconds and no context would need to see.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1C1E2B"/>
                </a:solidFill>
                <a:latin typeface="Consolas"/>
                <a:ea typeface="Consolas"/>
                <a:cs typeface="Consolas"/>
                <a:sym typeface="Consolas"/>
              </a:rPr>
              <a:t>Then, before you ship it: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1C1E2B"/>
                </a:solidFill>
                <a:latin typeface="Consolas"/>
                <a:ea typeface="Consolas"/>
                <a:cs typeface="Consolas"/>
                <a:sym typeface="Consolas"/>
              </a:rPr>
              <a:t>• Tell me what choice (axis, scale, range) could make this misleading.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1C1E2B"/>
                </a:solidFill>
                <a:latin typeface="Consolas"/>
                <a:ea typeface="Consolas"/>
                <a:cs typeface="Consolas"/>
                <a:sym typeface="Consolas"/>
              </a:rPr>
              <a:t>• Flag anything that’s an estimate or unconfirmed, not settled fact.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1C1E2B"/>
                </a:solidFill>
                <a:latin typeface="Consolas"/>
                <a:ea typeface="Consolas"/>
                <a:cs typeface="Consolas"/>
                <a:sym typeface="Consolas"/>
              </a:rPr>
              <a:t>• Don’t assume there’s one correct chart — say why you picked this one.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5"/>
          <p:cNvSpPr/>
          <p:nvPr/>
        </p:nvSpPr>
        <p:spPr>
          <a:xfrm>
            <a:off x="6263640" y="1783080"/>
            <a:ext cx="5349240" cy="3794760"/>
          </a:xfrm>
          <a:prstGeom prst="roundRect">
            <a:avLst>
              <a:gd fmla="val 1928" name="adj"/>
            </a:avLst>
          </a:prstGeom>
          <a:solidFill>
            <a:srgbClr val="F4F5FA"/>
          </a:solidFill>
          <a:ln cap="flat" cmpd="sng" w="12700">
            <a:solidFill>
              <a:srgbClr val="E3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5"/>
          <p:cNvSpPr/>
          <p:nvPr/>
        </p:nvSpPr>
        <p:spPr>
          <a:xfrm>
            <a:off x="6263640" y="1783080"/>
            <a:ext cx="5349240" cy="548640"/>
          </a:xfrm>
          <a:prstGeom prst="rect">
            <a:avLst/>
          </a:prstGeom>
          <a:solidFill>
            <a:srgbClr val="A522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5"/>
          <p:cNvSpPr/>
          <p:nvPr/>
        </p:nvSpPr>
        <p:spPr>
          <a:xfrm>
            <a:off x="6492240" y="1783080"/>
            <a:ext cx="4892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SKELETON 2 — When AI is your analyst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5"/>
          <p:cNvSpPr/>
          <p:nvPr/>
        </p:nvSpPr>
        <p:spPr>
          <a:xfrm>
            <a:off x="6537960" y="2514600"/>
            <a:ext cx="480060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1C1E2B"/>
                </a:solidFill>
                <a:latin typeface="Consolas"/>
                <a:ea typeface="Consolas"/>
                <a:cs typeface="Consolas"/>
                <a:sym typeface="Consolas"/>
              </a:rPr>
              <a:t>I need this to stay current, not rebuilt every [month/quarter]. Here’s the data: [growing folder].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1C1E2B"/>
                </a:solidFill>
                <a:latin typeface="Consolas"/>
                <a:ea typeface="Consolas"/>
                <a:cs typeface="Consolas"/>
                <a:sym typeface="Consolas"/>
              </a:rPr>
              <a:t>Build the living version. Show your work: which files fed which numbers, and flag anything you couldn’t verify.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1C1E2B"/>
                </a:solidFill>
                <a:latin typeface="Consolas"/>
                <a:ea typeface="Consolas"/>
                <a:cs typeface="Consolas"/>
                <a:sym typeface="Consolas"/>
              </a:rPr>
              <a:t>I’ll check the “why” behind any trend by hand before I repeat it to anyone.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E62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6"/>
          <p:cNvSpPr/>
          <p:nvPr/>
        </p:nvSpPr>
        <p:spPr>
          <a:xfrm>
            <a:off x="-2743200" y="-3200400"/>
            <a:ext cx="6400800" cy="6400800"/>
          </a:xfrm>
          <a:prstGeom prst="ellipse">
            <a:avLst/>
          </a:prstGeom>
          <a:solidFill>
            <a:srgbClr val="0013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6"/>
          <p:cNvSpPr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MODULE 3 COMPLETE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6"/>
          <p:cNvSpPr/>
          <p:nvPr/>
        </p:nvSpPr>
        <p:spPr>
          <a:xfrm>
            <a:off x="822960" y="1965960"/>
            <a:ext cx="10515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0" i="1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“Perfect, now I never have to email you again.”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0" i="1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— Director Chen, reportedly. (Please still email Rachel sometimes.)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6"/>
          <p:cNvSpPr/>
          <p:nvPr/>
        </p:nvSpPr>
        <p:spPr>
          <a:xfrm>
            <a:off x="822960" y="5989320"/>
            <a:ext cx="256032" cy="256032"/>
          </a:xfrm>
          <a:prstGeom prst="ellipse">
            <a:avLst/>
          </a:prstGeom>
          <a:solidFill>
            <a:srgbClr val="A522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6"/>
          <p:cNvSpPr/>
          <p:nvPr/>
        </p:nvSpPr>
        <p:spPr>
          <a:xfrm>
            <a:off x="822960" y="598932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6"/>
          <p:cNvSpPr/>
          <p:nvPr/>
        </p:nvSpPr>
        <p:spPr>
          <a:xfrm>
            <a:off x="1188720" y="59436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CHICAGO TECH CIRCLE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