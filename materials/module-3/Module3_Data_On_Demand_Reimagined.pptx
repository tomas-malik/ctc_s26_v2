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 note — full run sheet lives in the Facilitator Manual and in speaker notes throughout this deck. Total target: ~110 minutes (longer than Modules 1-2's 90 — this is a hands-on technical build, don't compress it to fit 90).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Read these plainly — they're the spine of the whole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Walk the agenda left to right — flag up front that this runs longer than Modules 1-2 because of the hands-on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Keep this fast — it's a recap, not a re-teach. This is the one moment to name explicitly why Module 3 requires Module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Read the message aloud. Take a few answers before moving on — don't let anyone open an AI tool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Land this before Beat One starts — it's the frame for why today feels different.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 transition. Keep energy up — this is the exciting 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This sets up the hands-on activity — keep it brief, the lab guide has the actual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min. Full instructions live in the Lab Guide, not here — don't re-explain the steps from the projector.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Optional, absorbs early finishers. Not required for everyone to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transition into the big idea. Don't rush past this — let the room register what they just did.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This is the explicit naming moment for Big Idea One — say it plainly, then bridge into Beat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 transition. Say explicitly: we're not building anything new now — we're finding out what maintaining the thing we built actually takes.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Set this up before the activity so learners know what kind of failure they're watching for — without telling them the specific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min. This is the core diagnostic beat — resist giving away the mechanism. See the Facilitator Manual's answer key for exactly what to expect and how much to hint.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min. Watch for the trap fix (hand-editing output/data.json) — that's the moment to intervene, per the Facilitator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transition. Tone shift from Big Idea One — this is the grounding 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This is the explicit naming moment for Big Idea Two — say the trade-off plainly. Both big ideas need to land in the same room; don't let excitement from Beat One be the last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 transition into the concept + vocabulary 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This is the explicit naming moment — say the closing quote plainly.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Connects explicitly back to Modules 1 and 2's shared vocabulary.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 transition into sensemaking.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min: ~2 min pair discussion, ~2 min share-out.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 — a sketch, not a full build. Point people to office hours for a fuller follow-up.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Point people to where these skeletons live for later reference (the Lab Guide).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room and point to the companion materials (Lab Guide, Facilitator Manual, starter kit) for lasting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937760" cy="4937760"/>
          </a:xfrm>
          <a:prstGeom prst="ellipse">
            <a:avLst/>
          </a:prstGeom>
          <a:solidFill>
            <a:srgbClr val="001A54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CHICAGO TECH CIRCLE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REIMAGINED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233172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 Demand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379476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static report to living webpage — a Level 2 follow-up to Module 2. Build a real, working tool with AI as your technical partner, then find out what “living” actually costs to keep that way.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4892040"/>
            <a:ext cx="1883664" cy="329184"/>
          </a:xfrm>
          <a:prstGeom prst="roundRect">
            <a:avLst>
              <a:gd name="adj" fmla="val 50000"/>
            </a:avLst>
          </a:prstGeom>
          <a:solidFill>
            <a:srgbClr val="0A2A73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4892040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~110 MINUTES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24912" y="4892040"/>
            <a:ext cx="1289304" cy="329184"/>
          </a:xfrm>
          <a:prstGeom prst="roundRect">
            <a:avLst>
              <a:gd name="adj" fmla="val 50000"/>
            </a:avLst>
          </a:prstGeom>
          <a:solidFill>
            <a:srgbClr val="0A2A73"/>
          </a:solidFill>
          <a:ln/>
        </p:spPr>
      </p:sp>
      <p:sp>
        <p:nvSpPr>
          <p:cNvPr id="10" name="Text 8"/>
          <p:cNvSpPr/>
          <p:nvPr/>
        </p:nvSpPr>
        <p:spPr>
          <a:xfrm>
            <a:off x="2724912" y="4892040"/>
            <a:ext cx="1289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97096" y="4892040"/>
            <a:ext cx="3072384" cy="329184"/>
          </a:xfrm>
          <a:prstGeom prst="roundRect">
            <a:avLst>
              <a:gd name="adj" fmla="val 50000"/>
            </a:avLst>
          </a:prstGeom>
          <a:solidFill>
            <a:srgbClr val="0A2A73"/>
          </a:solidFill>
          <a:ln/>
        </p:spPr>
      </p:sp>
      <p:sp>
        <p:nvSpPr>
          <p:cNvPr id="12" name="Text 10"/>
          <p:cNvSpPr/>
          <p:nvPr/>
        </p:nvSpPr>
        <p:spPr>
          <a:xfrm>
            <a:off x="4197096" y="4892040"/>
            <a:ext cx="3072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PREREQUISITE: MODULE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39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BY-NC-SA 4.0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you'll be able to …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99339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192938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serve a real, interactive local webpage from raw data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61288" y="225856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as the one doing most of the technical work — not just describing what a report should look like.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304495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0449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61288" y="298094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when a “successful” rebuild quietly lied to you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61288" y="331012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rebuild that doesn't crash isn't the same thing as a rebuild that worked.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409651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40965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" y="403250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real cause, not the symptom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61288" y="436168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fix survives the next rebuild instead of breaking again the moment new data shows up.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spend the next ~110 minutes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99339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192938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— 10 min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61288" y="2258568"/>
            <a:ext cx="9966960" cy="4229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Module 2, meet the ask, see what's different about a Level 2 module.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278206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78206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61288" y="271805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One: build — 25 min, then Big Idea One — 5 min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61288" y="3047238"/>
            <a:ext cx="9966960" cy="4229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living report with your AI assistant. Then name what just became possible.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357073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5707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" y="350672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Two: break, notice, fix — 35 min, then Big Idea Two — 5 min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61288" y="3835908"/>
            <a:ext cx="9966960" cy="4229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goes in. Something goes wrong. You find it and fix it for real. Then name the cost.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435940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35940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61288" y="429539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pattern &amp; bring it home — 30 min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61288" y="4624578"/>
            <a:ext cx="9966960" cy="4229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back to vocabulary, connect to your own work, take the cheat sheet with you.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time, on Pinnacle Peak…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99339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192938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turned a 12-tab, undocumented folder into a Q3 report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61288" y="225856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 — once with AI as an assistant, once as an analyst — and learned that verification burden doesn't disappear just because AI is driving.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304495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0449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61288" y="298094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Director loved it. That's the problem now.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61288" y="331012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wants one every month — and said, quote, “can I just check this myself whenever I want.”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409651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40965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" y="403250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module only works if Module 2 already happened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61288" y="436168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checking habit you built there is exactly what Beat Two needs — aimed at a pipeline instead of a paragraph.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ask, from your boss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2011680"/>
            <a:ext cx="10881360" cy="2286000"/>
          </a:xfrm>
          <a:prstGeom prst="roundRect">
            <a:avLst>
              <a:gd name="adj" fmla="val 4800"/>
            </a:avLst>
          </a:prstGeom>
          <a:solidFill>
            <a:srgbClr val="FBF8FA"/>
          </a:solidFill>
          <a:ln w="12700">
            <a:solidFill>
              <a:srgbClr val="E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2240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FROM RACHEL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24128" y="2560320"/>
            <a:ext cx="10149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“Hey — that Q2 deck? The Director loved it. So much that she wants one every month now. Actually, she said — and I quote — ‘can I just check this myself whenever I want.’ I don't know what that means either, but can you figure it out?”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45720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1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time, you turned 12 confusing tabs into one good number.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5010912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1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time: no more decks. She wants an answer, on demand, whenever she asks — and the folder just grew to four and a half years of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5541264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FBEFF7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5541264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7C1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opening any AI tool: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Director could check this herself, what would she need to see first?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different about a Level 2 module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99339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192938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producing a working tool, not a document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61288" y="225856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webpage that runs, not a deck or a report file — a real jump in what's assumed walking in.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304495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0449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61288" y="298094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verification target moves from content to pipeline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61288" y="331012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asked “is this number right?” Today also asks “did the process that produced this number actually run correctly?”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409651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40965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" y="403250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only Level 2 module in the curriculum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61288" y="436168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1, 2, and 4 all stand alone at Level 1 — this is the one place where a prerequisite is real, not a suggestion.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937760" cy="4937760"/>
          </a:xfrm>
          <a:prstGeom prst="ellipse">
            <a:avLst/>
          </a:prstGeom>
          <a:solidFill>
            <a:srgbClr val="001A54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ONE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301752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living report.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43434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not describing what a dashboard should show. You're building one — and getting it actually running.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ONE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your technical partner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99339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192938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the raw files, not a description of them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61288" y="225856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four-and-a-half years of Pinnacle Peak revenue data from Module 2's folder, plus 2024-2026.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304495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0449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61288" y="298094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something that runs, not something that describes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61288" y="331012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webpage served locally on your machine — not a mockup, not a static export, not a screenshot of a chart.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409651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40965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" y="403250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past the first draft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61288" y="436168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picture isn't the goal. Filter, sort, a toggle — something a reader can actually do something with.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ONE · ACTIVITY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it, and get it actually running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27487" y="53035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BEFF7"/>
          </a:solidFill>
          <a:ln/>
        </p:spPr>
      </p:sp>
      <p:sp>
        <p:nvSpPr>
          <p:cNvPr id="5" name="Text 3"/>
          <p:cNvSpPr/>
          <p:nvPr/>
        </p:nvSpPr>
        <p:spPr>
          <a:xfrm>
            <a:off x="10527487" y="53035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C1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BEFF7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2130552"/>
            <a:ext cx="102412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Lab Guide and follow Beat One. Unzip the starter data folder, hand it to your AI assistant, and don't stop at a description — get a real localhost address open in your browser.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/ CHECKS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386791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“Served” means a browser tab pointed at a localhost address — not a file you double-clicked.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4288536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build against the MVP checklist in the lab guide: a filter, a sort, a toggle, something beyond a static image.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470916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assistant's first answer is a static file, tell it what's missing and ask again — that back-and-forth is the point.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59893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Circulate for technical troubleshooting only (e.g. a local server that won't start) — let everything else surface on its own.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ONE · STRETCH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finish early: sketch the IT hand-off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99339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192938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this actually live?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61288" y="225856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your laptop — somewhere anyone at Pinnacle Peak could reach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304495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0449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61288" y="298094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allowed to add new files, and how?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61288" y="331012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folder needs an owner and a safe way for new numbers to arrive.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409651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40965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" y="403250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put in the email to IT asking for this?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61288" y="436168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real bullet points — hosting, refresh schedule, who owns it — not a full deployment.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937760" cy="4937760"/>
          </a:xfrm>
          <a:prstGeom prst="ellipse">
            <a:avLst/>
          </a:prstGeom>
          <a:solidFill>
            <a:srgbClr val="001A54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 ONE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301752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supplements your technical skills.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43434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what just happened before we complicate it.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 ONE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did something you probably haven't before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99339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192938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ran a local web server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61288" y="225856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learners in this room have never done that — and most of them just did it by asking, not by typing configuration by hand.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304495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0449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61288" y="298094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“AI supplements your technical skills” actually means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61288" y="331012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“AI writes your emails” — AI reaching into territory that used to require an engineer in the room.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409651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40965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" y="403250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onto that feeling for a few minutes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61288" y="436168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Two is going to complicate it. That's not a reason to undersell what you just built.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1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937760" cy="4937760"/>
          </a:xfrm>
          <a:prstGeom prst="ellipse">
            <a:avLst/>
          </a:prstGeom>
          <a:solidFill>
            <a:srgbClr val="001A54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TWO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301752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numbers. Hit rebuild.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43434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folder, six new months. Watch closely — “it didn't crash” is not the same as “it worked.”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TWO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a report can lie quietly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201168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BF8FA"/>
          </a:solidFill>
          <a:ln w="12700">
            <a:solidFill>
              <a:srgbClr val="E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286000"/>
            <a:ext cx="4572000" cy="384048"/>
          </a:xfrm>
          <a:prstGeom prst="roundRect">
            <a:avLst>
              <a:gd name="adj" fmla="val 50000"/>
            </a:avLst>
          </a:prstGeom>
          <a:solidFill>
            <a:srgbClr val="6B627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2860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THAT CRASHES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8803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miss — an error on screen, a red message, a broken page.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344728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Annoying, but honest: you know immediately something needs fixing.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32688" y="4014216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today's failure mode.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6208" y="201168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BF8FA"/>
          </a:solidFill>
          <a:ln w="12700">
            <a:solidFill>
              <a:srgbClr val="E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10528" y="2286000"/>
            <a:ext cx="4572000" cy="384048"/>
          </a:xfrm>
          <a:prstGeom prst="roundRect">
            <a:avLst>
              <a:gd name="adj" fmla="val 50000"/>
            </a:avLst>
          </a:prstGeom>
          <a:solidFill>
            <a:srgbClr val="A5228E"/>
          </a:solidFill>
          <a:ln/>
        </p:spPr>
      </p:sp>
      <p:sp>
        <p:nvSpPr>
          <p:cNvPr id="12" name="Text 10"/>
          <p:cNvSpPr/>
          <p:nvPr/>
        </p:nvSpPr>
        <p:spPr>
          <a:xfrm>
            <a:off x="6510528" y="22860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THAT SILENTLY GOES STALE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10528" y="28803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it worked. No error, no red text, no crash.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10528" y="344728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showing an answer — just not the current one.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10528" y="4014216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failure mode that actually costs people, because nothing tells you to look.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54406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one to take seriously: a “living” tool's most realistic failure isn't a crash, it's confidently showing you last month.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TWO · ACTIVITY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the new file, rebuild, and look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27487" y="53035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BEFF7"/>
          </a:solidFill>
          <a:ln/>
        </p:spPr>
      </p:sp>
      <p:sp>
        <p:nvSpPr>
          <p:cNvPr id="5" name="Text 3"/>
          <p:cNvSpPr/>
          <p:nvPr/>
        </p:nvSpPr>
        <p:spPr>
          <a:xfrm>
            <a:off x="10527487" y="53035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C1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BEFF7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2130552"/>
            <a:ext cx="102412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Beat Two in the Lab Guide: download the new H2 2026 file, add it to your data folder exactly as-is, and re-run whatever “rebuild” step you set up in Beat One.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/ CHECKS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386791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assume it worked because nothing turned red.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4288536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report against what you'd actually expect now that six more months exist.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470916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whatever the report itself shows you — totals, date ranges, a log — before deciding it's fine.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59893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confirm or deny anything when someone asks “is this supposed to look like this?” — ask what they'd check next.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TWO · ACTIVITY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real cause, and fix it there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27487" y="53035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BEFF7"/>
          </a:solidFill>
          <a:ln/>
        </p:spPr>
      </p:sp>
      <p:sp>
        <p:nvSpPr>
          <p:cNvPr id="5" name="Text 3"/>
          <p:cNvSpPr/>
          <p:nvPr/>
        </p:nvSpPr>
        <p:spPr>
          <a:xfrm>
            <a:off x="10527487" y="53035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C1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BF1DD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2130552"/>
            <a:ext cx="102412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your AI assistant to find where the pipeline actually breaks — not just where the output looks wrong. Fix it at the source, then rebuild again to confirm.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/ CHECKS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386791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hand-edit the generated report or any generated data file to make it “look right” — that fixes this one rebuild and hides the problem from the next person.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4288536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assistant to compare the new file against the old ones directly — what's actually different about it?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470916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fix by rebuilding, not by eyeballing the page once.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59893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“fix” is usually the wrong one. If it only took editing the output, it isn't fixed.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1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937760" cy="4937760"/>
          </a:xfrm>
          <a:prstGeom prst="ellipse">
            <a:avLst/>
          </a:prstGeom>
          <a:solidFill>
            <a:srgbClr val="001A54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 TWO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301752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magic.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43434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 wasn't a bug in the exercise. It was the point.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 TWO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is real — and it's not free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99339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192938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tool trades one-time report-writing for ongoing tech debt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61288" y="225856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a flaw in what you built today — it's what “living” actually means, every time, for any tool like this.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304495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0449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61288" y="298094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upkeep, and breakage don't go away because AI helped build it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61288" y="331012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got easier. The owning-it-over-time part didn't.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409651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40965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" y="403250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fair trade — but only if you know you made it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61288" y="436168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today knowing which you signed up for: a report you rebuild by hand occasionally, or a tool you now maintain indefinitely.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1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937760" cy="4937760"/>
          </a:xfrm>
          <a:prstGeom prst="ellipse">
            <a:avLst/>
          </a:prstGeom>
          <a:solidFill>
            <a:srgbClr val="001A54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PATTERN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301752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beats. One pipeline. A very different kind of checking.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43434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we pull back and name the two moves you just used.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PATTERN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moves you'll use constantly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201168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BF8FA"/>
          </a:solidFill>
          <a:ln w="12700">
            <a:solidFill>
              <a:srgbClr val="E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286000"/>
            <a:ext cx="4572000" cy="384048"/>
          </a:xfrm>
          <a:prstGeom prst="roundRect">
            <a:avLst>
              <a:gd name="adj" fmla="val 50000"/>
            </a:avLst>
          </a:prstGeom>
          <a:solidFill>
            <a:srgbClr val="001E62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2860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ONE — BUILD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8803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1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hand off the technical build directly — closer to Module 2's “AI as analyst.”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344728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1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verification burden doesn't disappear; it moves to checking whether the thing actually runs and does what you asked.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6208" y="201168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BF8FA"/>
          </a:solidFill>
          <a:ln w="12700">
            <a:solidFill>
              <a:srgbClr val="EC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0528" y="2286000"/>
            <a:ext cx="4572000" cy="384048"/>
          </a:xfrm>
          <a:prstGeom prst="roundRect">
            <a:avLst>
              <a:gd name="adj" fmla="val 50000"/>
            </a:avLst>
          </a:prstGeom>
          <a:solidFill>
            <a:srgbClr val="A5228E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22860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TWO — MAINTAIN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10528" y="28803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partner with AI to diagnose and fix — closer to “AI as assistant,” but aimed at a pipeline instead of a paragraph.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0528" y="344728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job repeats every time the data changes. It doesn't happen once and stay done.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" y="54406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static answer expires the moment new data arrives. A living tool doesn't — but only if someone keeps checking what it's claiming.”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PATTERN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were already using this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99339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" y="192938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your goal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61288" y="225856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One's first move — figuring out what the Director actually needs to see before asking AI to build anything.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304495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0449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61288" y="298094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at a time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61288" y="331012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first, then interactivity, then IT hand-off — not “make me a whole platform” in one shot.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4096512"/>
            <a:ext cx="310896" cy="310896"/>
          </a:xfrm>
          <a:prstGeom prst="ellipse">
            <a:avLst/>
          </a:prstGeom>
          <a:solidFill>
            <a:srgbClr val="001E62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40965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" y="403250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outsource your thinking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61288" y="436168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notice-and-fix step in Beat Two — the exact muscle Module 2 built, now aimed at a pipeline instead of a paragraph.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1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937760" cy="4937760"/>
          </a:xfrm>
          <a:prstGeom prst="ellipse">
            <a:avLst/>
          </a:prstGeom>
          <a:solidFill>
            <a:srgbClr val="001A54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IT HOME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301752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shows up outside this room.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43434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job. Every dashboard, tracker, or “live” thing you already half-own.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IT HOME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else does this apply?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27487" y="53035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BEFF7"/>
          </a:solidFill>
          <a:ln/>
        </p:spPr>
      </p:sp>
      <p:sp>
        <p:nvSpPr>
          <p:cNvPr id="5" name="Text 3"/>
          <p:cNvSpPr/>
          <p:nvPr/>
        </p:nvSpPr>
        <p:spPr>
          <a:xfrm>
            <a:off x="10527487" y="53035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C1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BEFF7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2130552"/>
            <a:ext cx="102412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something in your own work that's supposed to “just stay current” — a tracker, a dashboard, a shared sheet with a macro nobody remembers how to fix.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/ CHECKS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386791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actually notices when it's wrong — and how long does that usually take?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4288536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broke silently tomorrow, what's the first sign you'd actually see?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470916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anyone the de facto “owner,” or does it just keep running until it doesn't?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59893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with a partner, then a few shared out loud.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IT HOME · PRACTICE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on one real thing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27487" y="530352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BEFF7"/>
          </a:solidFill>
          <a:ln/>
        </p:spPr>
      </p:sp>
      <p:sp>
        <p:nvSpPr>
          <p:cNvPr id="5" name="Text 3"/>
          <p:cNvSpPr/>
          <p:nvPr/>
        </p:nvSpPr>
        <p:spPr>
          <a:xfrm>
            <a:off x="10527487" y="53035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C1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BEFF7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2130552"/>
            <a:ext cx="1024128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recurring thing from your own work — or stick with the safe Pinnacle Peak folder if you'd rather not use real data.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/ CHECKS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386791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(on paper or with your AI tool) what “living” would even mean for it, and what would need to keep working for that to hold.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4288536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thing that would have to break before anyone noticed — is that acceptable, or does it need a better signal?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59893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go further? Actually building a live version and getting feedback is a great fit for office hours or an async follow-up.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58368" y="8686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this with you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201168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BF8FA"/>
          </a:solidFill>
          <a:ln w="12700">
            <a:solidFill>
              <a:srgbClr val="E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286000"/>
            <a:ext cx="4572000" cy="384048"/>
          </a:xfrm>
          <a:prstGeom prst="roundRect">
            <a:avLst>
              <a:gd name="adj" fmla="val 50000"/>
            </a:avLst>
          </a:prstGeom>
          <a:solidFill>
            <a:srgbClr val="001E62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2860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YOU'RE BUILDING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8803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1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this so it stays current, not something I rebuild by hand. Show me it actually running, not just a description.”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344728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01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would make this look like it worked when it actually didn't? Show me how you'd catch that.”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6208" y="201168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BF8FA"/>
          </a:solidFill>
          <a:ln w="12700">
            <a:solidFill>
              <a:srgbClr val="EC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0528" y="2286000"/>
            <a:ext cx="4572000" cy="384048"/>
          </a:xfrm>
          <a:prstGeom prst="roundRect">
            <a:avLst>
              <a:gd name="adj" fmla="val 50000"/>
            </a:avLst>
          </a:prstGeom>
          <a:solidFill>
            <a:srgbClr val="A5228E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22860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YOU'RE MAINTAINING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10528" y="28803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“Something changed in the new data. Compare it against what worked before and tell me exactly what's different.”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0528" y="344728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“Fix this where it actually breaks, not by patching what it output this one time.”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" y="54406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prompt skeletons — one per beat. Point people to where these live for later reference.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DATA ON DEMAND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1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937760" cy="4937760"/>
          </a:xfrm>
          <a:prstGeom prst="ellipse">
            <a:avLst/>
          </a:prstGeom>
          <a:solidFill>
            <a:srgbClr val="001A54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3774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complete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32918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i="1" dirty="0">
                <a:solidFill>
                  <a:srgbClr val="DC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“Perfect, now I never have to email you again.” — Director Chen, reportedly. (Please still email Rachel sometimes — and keep an eye on the build log.)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4160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Tech Circle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6172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2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CHICAGO TECH CIRCLE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704527" y="6172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39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BY-NC-SA 4.0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2026-08-16T17:25:12Z</dcterms:created>
  <dcterms:modified xsi:type="dcterms:W3CDTF">2026-08-16T17:25:12Z</dcterms:modified>
</cp:coreProperties>
</file>