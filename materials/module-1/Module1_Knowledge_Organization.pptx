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FACILITATOR NOTE — full run sheet lives in speaker notes throughout this deck.
Total target: 90 minutes. Timing budget: Kickoff 5 / Meet the Mess 12 / Two Passes 44 / Naming the Pattern 14 / Bring It Home 15.
Colors: UIC Navy Pier Blue (001E62, official UIC brand navy) + CTC’s own magenta/plum (A5228E, pulled from ctc.uic.edu’s theme-color tag). If CTC uses a different specific blue on internal materials, swap the 'navy' value at the top of build.js — every slide inherits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Read these fast — don’t over-explain, they’ll make more sense after the activities. This is a promise you’re making to the room; you’ll circle back to it at Wrap-Up.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Walk the line left to right. Flag up front: Pass One and Pass Two are the real heart of this session — almost half our time. Everything else is short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Just set the scene — don’t over-narrate, the next slide has the real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Read Dana’s message aloud. Ask the room: 'raise a hand if a version of this message has actually landed in your inbox.' Then state the task preview clearly — it’s the spine of the next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Don’t read every line — point at the contradiction (19 vs 18) and the buried urgent item (Denise) as teasers. Full text is in the Module 1 companion site/handout — pull it up now, not later. (Companion site: github.com/Tomas-Malik/CTCSummer26 — deploy docs/ to GitHub Pages before class.)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 total: 2 min pair discussion, ~2 min share-out. This baseline matters — you’ll contrast it against their AI-assisted attempts later. Don’t let anyone open an AI tool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 transition. Keep energy up — this is where hands go to keyboards.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2.5 min. Point out the shape (Highlights / Watch List / Needs a Decision / Numbers) and the tone — calm, confident, nothing urgent. That calm tone is itself a trap for this month’s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min. Circulate — don’t answer content questions yet, just tech troubleshooting. The naive prompt is supposed to produce something subtly off; resist the urge to hint at the traps.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min. Full trap detail for facilitator reference:
1) 19 vs 18 — AI often takes the first clear number rather than the Friday correction. Fix: 'later messages may correct earlier ones — use the most recent version of any fact.'
2) 'Needs a Decision' — AI pattern-matches the template and copies 'None' forward, but the Denise situation is live and unresolved. Fix: 'don’t assume sections need to be filled the same way as the example.'
3) Hendricks rumor — AI doesn’t know what’s safe for a board packet unless told. Fix: 'flag anything unconfirmed or secondhand rather than stating it as settled fact.'
4) Tone on Denise — matching template tone can import 'calm' everywhere. Fix: 'match style, but don’t apply tone uniformly — this month has one genuinely urgent item.'
5) Printer/parking lot — most first prompts filter these correctly; a small win if so, not a big teaching moment.
Close with: revise your PROMPT (not the output) and regenerate — the learning is in rewriting the instruction.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 transition. Say explicitly: forget last month’s report ever existed.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min. Both paths are fine: generate-first-then-inspect, or structure-first. The point is they now deliberately compare the two. Circulate and ask 'did you tell it who’s reading this and why?'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Note: if a structure looks nothing like Pass One’s template but passes these three checks, that’s success — say this explicitly, it’s counterintuitive for some learners.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 transition into the concept + vocabulary beat.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This is the explicit pull-back-and-name-it moment — say it plainly: 'bring a template when you have one, build a structure with AI when you don’t.' That sentence is the transferable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This connects to the 'Foundations of AI Communication' content from the Prompting module (Karpathy Method: Uncover Your Goal / One Step at a Time / Don’t Outsource Your Thinking). Say explicitly: you weren’t just getting lucky — you were applying real prompting principles, you just didn’t have names for them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Quick recap only — nothing new here. This is reinforcement before moving to sensemaking.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 transition into sensemaking.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min: ~2 min think/pair, ~2 min share out. Push for SPECIFIC recurring tasks, not abstractions — 'status updates' is too vague, 'my Friday client summary' is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 — compressed on purpose from the fuller 'Bring Your Own' concept given the 90-minute cap. Framing matters: this is a sketch, not a full redo. Offer Path B (retail scenario, in the companion site) for anyone uncomfortable using real work data. A full hands-on version (running actual prompts on a second task, with feedback) is a strong candidate for an office-hours follow-up or async homework — flag that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Point people to where these skeletons live (companion doc) so they don’t feel pressure to copy them down verbatim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room. Remind them the companion site (CTCSummer26 repo) has every skeleton, checklist, and the full messy-input text for later reference.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2743200"/>
            <a:ext cx="7315200" cy="7315200"/>
          </a:xfrm>
          <a:prstGeom prst="ellipse">
            <a:avLst/>
          </a:prstGeom>
          <a:solidFill>
            <a:srgbClr val="001344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685800"/>
            <a:ext cx="292608" cy="292608"/>
          </a:xfrm>
          <a:prstGeom prst="ellipse">
            <a:avLst/>
          </a:prstGeom>
          <a:solidFill>
            <a:srgbClr val="A5228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685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34440" y="6217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CHICAGO TECH CIRCLE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78892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Organization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822960" y="3794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D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Mess to Message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22960" y="45262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everyday inputs into reports AI can actually help with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5806440"/>
            <a:ext cx="1417320" cy="502920"/>
          </a:xfrm>
          <a:prstGeom prst="roundRect">
            <a:avLst>
              <a:gd name="adj" fmla="val 50909"/>
            </a:avLst>
          </a:prstGeom>
          <a:solidFill>
            <a:srgbClr val="A5228E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806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MINUTES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560320" y="5806440"/>
            <a:ext cx="1463040" cy="502920"/>
          </a:xfrm>
          <a:prstGeom prst="roundRect">
            <a:avLst>
              <a:gd name="adj" fmla="val 50909"/>
            </a:avLst>
          </a:prstGeom>
          <a:ln w="15875">
            <a:solidFill>
              <a:srgbClr val="3B4E8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0" y="5806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001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today, you’ll be able to …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KNOWLEDGE ORGANIZATION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001E6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417320" y="172821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a template on purpose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417320" y="21488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paste-and-hope — show AI what counts as structure, tone, and signal vs. noise.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3200400"/>
            <a:ext cx="566928" cy="566928"/>
          </a:xfrm>
          <a:prstGeom prst="ellipse">
            <a:avLst/>
          </a:prstGeom>
          <a:solidFill>
            <a:srgbClr val="001E62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200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417320" y="314553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structure before you generate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1417320" y="356616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there’s no example to anchor to, make that its own step with AI, before asking for output.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40080" y="4617720"/>
            <a:ext cx="566928" cy="566928"/>
          </a:xfrm>
          <a:prstGeom prst="ellipse">
            <a:avLst/>
          </a:prstGeom>
          <a:solidFill>
            <a:srgbClr val="001E62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4617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417320" y="456285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 what AI gets wrong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1417320" y="498348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real, messy, contradictory inputs — the kind your actual inbox produces.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001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we’ll spend the next 90 minutes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KNOWLEDGE ORGANIZATION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1440180" y="2720340"/>
            <a:ext cx="9326880" cy="0"/>
          </a:xfrm>
          <a:prstGeom prst="line">
            <a:avLst/>
          </a:prstGeom>
          <a:noFill/>
          <a:ln w="38100">
            <a:solidFill>
              <a:srgbClr val="E9EDF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1560" y="2331720"/>
            <a:ext cx="777240" cy="777240"/>
          </a:xfrm>
          <a:prstGeom prst="ellipse">
            <a:avLst/>
          </a:prstGeom>
          <a:solidFill>
            <a:srgbClr val="001E62"/>
          </a:solidFill>
          <a:ln/>
        </p:spPr>
      </p:sp>
      <p:sp>
        <p:nvSpPr>
          <p:cNvPr id="8" name="Text 5"/>
          <p:cNvSpPr/>
          <p:nvPr/>
        </p:nvSpPr>
        <p:spPr>
          <a:xfrm>
            <a:off x="1051560" y="23317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48640" y="327355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48640" y="39502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83280" y="2331720"/>
            <a:ext cx="777240" cy="777240"/>
          </a:xfrm>
          <a:prstGeom prst="ellipse">
            <a:avLst/>
          </a:prstGeom>
          <a:solidFill>
            <a:srgbClr val="001E62"/>
          </a:solidFill>
          <a:ln/>
        </p:spPr>
      </p:sp>
      <p:sp>
        <p:nvSpPr>
          <p:cNvPr id="12" name="Text 9"/>
          <p:cNvSpPr/>
          <p:nvPr/>
        </p:nvSpPr>
        <p:spPr>
          <a:xfrm>
            <a:off x="3383280" y="23317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2880360" y="327355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the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2880360" y="39502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715000" y="2331720"/>
            <a:ext cx="777240" cy="777240"/>
          </a:xfrm>
          <a:prstGeom prst="ellipse">
            <a:avLst/>
          </a:prstGeom>
          <a:solidFill>
            <a:srgbClr val="A5228E"/>
          </a:solidFill>
          <a:ln/>
        </p:spPr>
      </p:sp>
      <p:sp>
        <p:nvSpPr>
          <p:cNvPr id="16" name="Text 13"/>
          <p:cNvSpPr/>
          <p:nvPr/>
        </p:nvSpPr>
        <p:spPr>
          <a:xfrm>
            <a:off x="5715000" y="23317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5212080" y="327355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Passes,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Mess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5212080" y="39502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1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min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046720" y="2331720"/>
            <a:ext cx="777240" cy="777240"/>
          </a:xfrm>
          <a:prstGeom prst="ellipse">
            <a:avLst/>
          </a:prstGeom>
          <a:solidFill>
            <a:srgbClr val="001E62"/>
          </a:solidFill>
          <a:ln/>
        </p:spPr>
      </p:sp>
      <p:sp>
        <p:nvSpPr>
          <p:cNvPr id="20" name="Text 17"/>
          <p:cNvSpPr/>
          <p:nvPr/>
        </p:nvSpPr>
        <p:spPr>
          <a:xfrm>
            <a:off x="8046720" y="23317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7543800" y="327355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the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7543800" y="39502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min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10378440" y="2331720"/>
            <a:ext cx="777240" cy="777240"/>
          </a:xfrm>
          <a:prstGeom prst="ellipse">
            <a:avLst/>
          </a:prstGeom>
          <a:solidFill>
            <a:srgbClr val="001E62"/>
          </a:solidFill>
          <a:ln/>
        </p:spPr>
      </p:sp>
      <p:sp>
        <p:nvSpPr>
          <p:cNvPr id="24" name="Text 21"/>
          <p:cNvSpPr/>
          <p:nvPr/>
        </p:nvSpPr>
        <p:spPr>
          <a:xfrm>
            <a:off x="10378440" y="23317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9875520" y="327355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It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9875520" y="39502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F4E7F1"/>
          </a:solidFill>
          <a:ln/>
        </p:spPr>
      </p:sp>
      <p:sp>
        <p:nvSpPr>
          <p:cNvPr id="28" name="Text 25"/>
          <p:cNvSpPr/>
          <p:nvPr/>
        </p:nvSpPr>
        <p:spPr>
          <a:xfrm>
            <a:off x="868680" y="489204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7C1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Almost half of today is hands-on: you’ll produce the same report twice — once with a template, once without — before we name what you did.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1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943600" cy="5943600"/>
          </a:xfrm>
          <a:prstGeom prst="ellipse">
            <a:avLst/>
          </a:prstGeom>
          <a:solidFill>
            <a:srgbClr val="001344"/>
          </a:solidFill>
          <a:ln/>
        </p:spPr>
      </p:sp>
      <p:sp>
        <p:nvSpPr>
          <p:cNvPr id="3" name="Shape 1"/>
          <p:cNvSpPr/>
          <p:nvPr/>
        </p:nvSpPr>
        <p:spPr>
          <a:xfrm>
            <a:off x="-2560320" y="4572000"/>
            <a:ext cx="4572000" cy="4572000"/>
          </a:xfrm>
          <a:prstGeom prst="ellipse">
            <a:avLst/>
          </a:prstGeom>
          <a:solidFill>
            <a:srgbClr val="00134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SCENARIO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You’re a team lead.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packet goes out tomorrow.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2519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days out of office. Three direct reports. Nothing organized.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KNOWLEDGE ORGANIZATION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SCENARIO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001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Riverside Community Partners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KNOWLEDGE ORGANIZATION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6492240" cy="1874520"/>
          </a:xfrm>
          <a:prstGeom prst="roundRect">
            <a:avLst>
              <a:gd name="adj" fmla="val 3902"/>
            </a:avLst>
          </a:prstGeom>
          <a:solidFill>
            <a:srgbClr val="E9EDF6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19202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1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FROM DANA, YOUR MANAGER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68680" y="228600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i="1" dirty="0">
                <a:solidFill>
                  <a:srgbClr val="1C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“Hey — need your monthly program update by end of day, sorry for short notice, board packet goes out tomorrow morning.”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360920" y="1865376"/>
            <a:ext cx="100584" cy="100584"/>
          </a:xfrm>
          <a:prstGeom prst="ellipse">
            <a:avLst/>
          </a:prstGeom>
          <a:solidFill>
            <a:srgbClr val="A5228E"/>
          </a:solidFill>
          <a:ln/>
        </p:spPr>
      </p:sp>
      <p:sp>
        <p:nvSpPr>
          <p:cNvPr id="10" name="Text 7"/>
          <p:cNvSpPr/>
          <p:nvPr/>
        </p:nvSpPr>
        <p:spPr>
          <a:xfrm>
            <a:off x="7589520" y="1709928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You’ve been out for four days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7360920" y="2523744"/>
            <a:ext cx="100584" cy="100584"/>
          </a:xfrm>
          <a:prstGeom prst="ellipse">
            <a:avLst/>
          </a:prstGeom>
          <a:solidFill>
            <a:srgbClr val="A5228E"/>
          </a:solidFill>
          <a:ln/>
        </p:spPr>
      </p:sp>
      <p:sp>
        <p:nvSpPr>
          <p:cNvPr id="12" name="Text 9"/>
          <p:cNvSpPr/>
          <p:nvPr/>
        </p:nvSpPr>
        <p:spPr>
          <a:xfrm>
            <a:off x="7589520" y="2368296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from Marcus, Priya, and Liz — scattered across Slack, email, and a rough meeting note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7360920" y="3182112"/>
            <a:ext cx="100584" cy="100584"/>
          </a:xfrm>
          <a:prstGeom prst="ellipse">
            <a:avLst/>
          </a:prstGeom>
          <a:solidFill>
            <a:srgbClr val="A5228E"/>
          </a:solidFill>
          <a:ln/>
        </p:spPr>
      </p:sp>
      <p:sp>
        <p:nvSpPr>
          <p:cNvPr id="14" name="Text 11"/>
          <p:cNvSpPr/>
          <p:nvPr/>
        </p:nvSpPr>
        <p:spPr>
          <a:xfrm>
            <a:off x="7589520" y="3026664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organized. Nothing formatted.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48640" y="397764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001E62"/>
          </a:solidFill>
          <a:ln/>
        </p:spPr>
      </p:sp>
      <p:sp>
        <p:nvSpPr>
          <p:cNvPr id="16" name="Text 13"/>
          <p:cNvSpPr/>
          <p:nvPr/>
        </p:nvSpPr>
        <p:spPr>
          <a:xfrm>
            <a:off x="868680" y="397764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you’ll do: 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the same report twice — once with a template, once without. Same mess. Two very different conversations with AI.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48640" y="5166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open any AI tool: if you had to do this with no AI, what’s your first move? Which part is most tedious — and which requires the most judgment?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SCENARIO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001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Marcus, Priya, and Liz sent you … this.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KNOWLEDGE ORGANIZATION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3520440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828800"/>
            <a:ext cx="3520440" cy="502920"/>
          </a:xfrm>
          <a:prstGeom prst="roundRect">
            <a:avLst>
              <a:gd name="adj" fmla="val 16364"/>
            </a:avLst>
          </a:prstGeom>
          <a:solidFill>
            <a:srgbClr val="001E62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2084832"/>
            <a:ext cx="3520440" cy="246888"/>
          </a:xfrm>
          <a:prstGeom prst="rect">
            <a:avLst/>
          </a:prstGeom>
          <a:solidFill>
            <a:srgbClr val="001E62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82880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· #team-updates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487168"/>
            <a:ext cx="308152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001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Tue</a:t>
            </a:r>
            <a:endParaRPr lang="en-US" sz="1250" dirty="0"/>
          </a:p>
          <a:p>
            <a:pPr indent="0" marL="0">
              <a:lnSpc>
                <a:spcPct val="125000"/>
              </a:lnSpc>
              <a:spcAft>
                <a:spcPts val="1600"/>
              </a:spcAft>
              <a:buNone/>
            </a:pPr>
            <a:r>
              <a:rPr lang="en-US" sz="1300" i="1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“…cohort now at 22 ppl, up from 14…”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7C1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Fri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“correcting myself — it’s actually 18 not 19…”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25112" y="1828800"/>
            <a:ext cx="3520440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25112" y="1828800"/>
            <a:ext cx="3520440" cy="502920"/>
          </a:xfrm>
          <a:prstGeom prst="roundRect">
            <a:avLst>
              <a:gd name="adj" fmla="val 16364"/>
            </a:avLst>
          </a:prstGeom>
          <a:solidFill>
            <a:srgbClr val="001E62"/>
          </a:solidFill>
          <a:ln/>
        </p:spPr>
      </p:sp>
      <p:sp>
        <p:nvSpPr>
          <p:cNvPr id="13" name="Shape 10"/>
          <p:cNvSpPr/>
          <p:nvPr/>
        </p:nvSpPr>
        <p:spPr>
          <a:xfrm>
            <a:off x="4325112" y="2084832"/>
            <a:ext cx="3520440" cy="246888"/>
          </a:xfrm>
          <a:prstGeom prst="rect">
            <a:avLst/>
          </a:prstGeom>
          <a:solidFill>
            <a:srgbClr val="001E62"/>
          </a:solidFill>
          <a:ln/>
        </p:spPr>
      </p:sp>
      <p:sp>
        <p:nvSpPr>
          <p:cNvPr id="14" name="Text 11"/>
          <p:cNvSpPr/>
          <p:nvPr/>
        </p:nvSpPr>
        <p:spPr>
          <a:xfrm>
            <a:off x="4507992" y="182880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· from Marcus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544568" y="2487168"/>
            <a:ext cx="308152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Denise situation is more urgent. She left for a full-time job. Wed evening class has no instructor…”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8101584" y="1828800"/>
            <a:ext cx="3520440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101584" y="1828800"/>
            <a:ext cx="3520440" cy="502920"/>
          </a:xfrm>
          <a:prstGeom prst="roundRect">
            <a:avLst>
              <a:gd name="adj" fmla="val 16364"/>
            </a:avLst>
          </a:prstGeom>
          <a:solidFill>
            <a:srgbClr val="001E6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01584" y="2084832"/>
            <a:ext cx="3520440" cy="246888"/>
          </a:xfrm>
          <a:prstGeom prst="rect">
            <a:avLst/>
          </a:prstGeom>
          <a:solidFill>
            <a:srgbClr val="001E62"/>
          </a:solidFill>
          <a:ln/>
        </p:spPr>
      </p:sp>
      <p:sp>
        <p:nvSpPr>
          <p:cNvPr id="19" name="Text 16"/>
          <p:cNvSpPr/>
          <p:nvPr/>
        </p:nvSpPr>
        <p:spPr>
          <a:xfrm>
            <a:off x="8284464" y="182880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· Priya’s call w/ Workforce Solutions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8321040" y="2487168"/>
            <a:ext cx="308152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“…they mentioned (offhand, secondhand) that Hendricks MIGHT be doing layoffs in Q3…”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548640" y="52852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inputs (all three sources, unedited) are in your Module 1 companion doc — pull it up now.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001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touch AI — what’s your instinct?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KNOWLEDGE ORGANIZATION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640080" y="1920240"/>
            <a:ext cx="502920" cy="502920"/>
          </a:xfrm>
          <a:prstGeom prst="ellipse">
            <a:avLst/>
          </a:prstGeom>
          <a:solidFill>
            <a:srgbClr val="A5228E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1325880" y="1783080"/>
            <a:ext cx="98755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600200" y="1783080"/>
            <a:ext cx="9326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1C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you had to do this with no AI at all — what’s your first move?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200400"/>
            <a:ext cx="502920" cy="502920"/>
          </a:xfrm>
          <a:prstGeom prst="ellipse">
            <a:avLst/>
          </a:prstGeom>
          <a:solidFill>
            <a:srgbClr val="A5228E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1325880" y="3063240"/>
            <a:ext cx="98755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600200" y="3063240"/>
            <a:ext cx="9326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1C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part of this task is most tedious? Which part needs the most judgment?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85800" y="4709160"/>
            <a:ext cx="457200" cy="457200"/>
          </a:xfrm>
          <a:prstGeom prst="ellipse">
            <a:avLst/>
          </a:prstGeom>
          <a:solidFill>
            <a:srgbClr val="E9EDF6"/>
          </a:solidFill>
          <a:ln/>
        </p:spPr>
      </p:sp>
      <p:sp>
        <p:nvSpPr>
          <p:cNvPr id="15" name="Shape 12"/>
          <p:cNvSpPr/>
          <p:nvPr/>
        </p:nvSpPr>
        <p:spPr>
          <a:xfrm>
            <a:off x="960120" y="4709160"/>
            <a:ext cx="457200" cy="457200"/>
          </a:xfrm>
          <a:prstGeom prst="ellipse">
            <a:avLst/>
          </a:prstGeom>
          <a:solidFill>
            <a:srgbClr val="F4E7F1"/>
          </a:solidFill>
          <a:ln/>
        </p:spPr>
      </p:sp>
      <p:sp>
        <p:nvSpPr>
          <p:cNvPr id="16" name="Text 13"/>
          <p:cNvSpPr/>
          <p:nvPr/>
        </p:nvSpPr>
        <p:spPr>
          <a:xfrm>
            <a:off x="1600200" y="4681728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to a partner — 2 minutes. We’ll share a few out before we bring AI into it.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1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943600" cy="5943600"/>
          </a:xfrm>
          <a:prstGeom prst="ellipse">
            <a:avLst/>
          </a:prstGeom>
          <a:solidFill>
            <a:srgbClr val="001344"/>
          </a:solidFill>
          <a:ln/>
        </p:spPr>
      </p:sp>
      <p:sp>
        <p:nvSpPr>
          <p:cNvPr id="3" name="Shape 1"/>
          <p:cNvSpPr/>
          <p:nvPr/>
        </p:nvSpPr>
        <p:spPr>
          <a:xfrm>
            <a:off x="-2560320" y="4572000"/>
            <a:ext cx="4572000" cy="4572000"/>
          </a:xfrm>
          <a:prstGeom prst="ellipse">
            <a:avLst/>
          </a:prstGeom>
          <a:solidFill>
            <a:srgbClr val="00134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ONE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have a template.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2519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report from last month. Same mess. Let’s see what AI does with it.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KNOWLEDGE ORGANIZATION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ONE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001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Last month’s report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KNOWLEDGE ORGANIZATION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2194560" y="1691640"/>
            <a:ext cx="7818120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15875">
            <a:solidFill>
              <a:srgbClr val="DADFE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194560" y="1691640"/>
            <a:ext cx="7818120" cy="566928"/>
          </a:xfrm>
          <a:prstGeom prst="rect">
            <a:avLst/>
          </a:prstGeom>
          <a:solidFill>
            <a:srgbClr val="E9EDF6"/>
          </a:solidFill>
          <a:ln/>
        </p:spPr>
      </p:sp>
      <p:sp>
        <p:nvSpPr>
          <p:cNvPr id="8" name="Text 5"/>
          <p:cNvSpPr/>
          <p:nvPr/>
        </p:nvSpPr>
        <p:spPr>
          <a:xfrm>
            <a:off x="2423160" y="1691640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MONTHLY PROGRAM UPDATE — Riverside Community Partners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2542032" y="2377440"/>
            <a:ext cx="72694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01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HIGHLIGHTS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300"/>
              </a:spcAft>
              <a:buSzPct val="100000"/>
              <a:buChar char="●"/>
            </a:pPr>
            <a:r>
              <a:rPr lang="en-US" sz="1250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readiness cohort: 86% completion (up from 78%)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300"/>
              </a:spcAft>
              <a:buSzPct val="100000"/>
              <a:buChar char="●"/>
            </a:pPr>
            <a:r>
              <a:rPr lang="en-US" sz="1250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placements: 14 this month vs. goal of 12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800"/>
              </a:spcAft>
              <a:buSzPct val="100000"/>
              <a:buChar char="●"/>
            </a:pPr>
            <a:r>
              <a:rPr lang="en-US" sz="1250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skills enrollment: 16, consistent with prior quarter</a:t>
            </a:r>
            <a:endParaRPr lang="en-US" sz="1350" dirty="0"/>
          </a:p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01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LIST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800"/>
              </a:spcAft>
              <a:buSzPct val="100000"/>
              <a:buChar char="●"/>
            </a:pPr>
            <a:r>
              <a:rPr lang="en-US" sz="1250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instructor (evening ESL) gave notice — replacement underway</a:t>
            </a:r>
            <a:endParaRPr lang="en-US" sz="1350" dirty="0"/>
          </a:p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01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DECISION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1800"/>
              </a:spcAft>
              <a:buSzPct val="100000"/>
              <a:buChar char="●"/>
            </a:pPr>
            <a:r>
              <a:rPr lang="en-US" sz="1250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this period.</a:t>
            </a:r>
            <a:endParaRPr lang="en-US" sz="1350" dirty="0"/>
          </a:p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01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FOR NEXT MONTH</a:t>
            </a:r>
            <a:endParaRPr lang="en-US" sz="1350" dirty="0"/>
          </a:p>
          <a:p>
            <a:pPr marL="177800" indent="-177800">
              <a:lnSpc>
                <a:spcPct val="120000"/>
              </a:lnSpc>
              <a:buSzPct val="100000"/>
              <a:buChar char="●"/>
            </a:pPr>
            <a:r>
              <a:rPr lang="en-US" sz="1250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skills enrollment flat — check with Marcus on outreach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ONE · ACTIVITY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001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prompt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KNOWLEDGE ORGANIZATION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9052560" y="1783080"/>
            <a:ext cx="1417320" cy="502920"/>
          </a:xfrm>
          <a:prstGeom prst="roundRect">
            <a:avLst>
              <a:gd name="adj" fmla="val 50909"/>
            </a:avLst>
          </a:prstGeom>
          <a:solidFill>
            <a:srgbClr val="A5228E"/>
          </a:solidFill>
          <a:ln/>
        </p:spPr>
      </p:sp>
      <p:sp>
        <p:nvSpPr>
          <p:cNvPr id="7" name="Text 4"/>
          <p:cNvSpPr/>
          <p:nvPr/>
        </p:nvSpPr>
        <p:spPr>
          <a:xfrm>
            <a:off x="9052560" y="17830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MIN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8138160" cy="2286000"/>
          </a:xfrm>
          <a:prstGeom prst="roundRect">
            <a:avLst>
              <a:gd name="adj" fmla="val 3600"/>
            </a:avLst>
          </a:prstGeom>
          <a:solidFill>
            <a:srgbClr val="F4E7F1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201168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7C1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your AI assistant to produce this month’s version of the report, using last month’s as your guide for structure and tone.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68680" y="297180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your first prompt now — don’t overthink it. Use whatever feels natural.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48640" y="4343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you have output: don’t edit it by hand. Read it carefully — you’ll check it against five specific things next.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the messy Slack/email/notes from slide 6, plus last month’s template from slide 9.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ONE · DIAGNOSE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001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output against these five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KNOWLEDGE ORGANIZATION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001E6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80160" y="1783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or 18?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4709160" y="1783080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 messages can correct earlier ones — use the most recent fact.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2386584"/>
            <a:ext cx="457200" cy="457200"/>
          </a:xfrm>
          <a:prstGeom prst="ellipse">
            <a:avLst/>
          </a:prstGeom>
          <a:solidFill>
            <a:srgbClr val="001E62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386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80160" y="238658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“Needs a Decision”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4709160" y="2386584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Don’t copy last month’s “None” forward — check what’s actually live.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2990088"/>
            <a:ext cx="457200" cy="457200"/>
          </a:xfrm>
          <a:prstGeom prst="ellipse">
            <a:avLst/>
          </a:prstGeom>
          <a:solidFill>
            <a:srgbClr val="001E62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2990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80160" y="29900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Hendricks rumor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4709160" y="2990088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anything secondhand or unconfirmed — don’t state it as fact.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640080" y="3593592"/>
            <a:ext cx="457200" cy="457200"/>
          </a:xfrm>
          <a:prstGeom prst="ellipse">
            <a:avLst/>
          </a:prstGeom>
          <a:solidFill>
            <a:srgbClr val="001E62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280160" y="359359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Tone on the Denise item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4709160" y="3593592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structure, not tone — don’t flatten real urgency.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640080" y="4197096"/>
            <a:ext cx="457200" cy="457200"/>
          </a:xfrm>
          <a:prstGeom prst="ellipse">
            <a:avLst/>
          </a:prstGeom>
          <a:solidFill>
            <a:srgbClr val="AEB9D6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197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280160" y="419709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Printer &amp; parking lot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4709160" y="4197096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prompts filter these out fine — a small win if yours did.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548640" y="5029200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001E62"/>
          </a:solidFill>
          <a:ln/>
        </p:spPr>
      </p:sp>
      <p:sp>
        <p:nvSpPr>
          <p:cNvPr id="27" name="Text 24"/>
          <p:cNvSpPr/>
          <p:nvPr/>
        </p:nvSpPr>
        <p:spPr>
          <a:xfrm>
            <a:off x="822960" y="50292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revise: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your prompt — not the output — and regenerate. The learning is in rewriting the instruction.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1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943600" cy="5943600"/>
          </a:xfrm>
          <a:prstGeom prst="ellipse">
            <a:avLst/>
          </a:prstGeom>
          <a:solidFill>
            <a:srgbClr val="001344"/>
          </a:solidFill>
          <a:ln/>
        </p:spPr>
      </p:sp>
      <p:sp>
        <p:nvSpPr>
          <p:cNvPr id="3" name="Shape 1"/>
          <p:cNvSpPr/>
          <p:nvPr/>
        </p:nvSpPr>
        <p:spPr>
          <a:xfrm>
            <a:off x="-2560320" y="4572000"/>
            <a:ext cx="4572000" cy="4572000"/>
          </a:xfrm>
          <a:prstGeom prst="ellipse">
            <a:avLst/>
          </a:prstGeom>
          <a:solidFill>
            <a:srgbClr val="00134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TWO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template.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2519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mess. No example to anchor to. Structure it before you generate.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KNOWLEDGE ORGANIZATION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TWO · ACTIVITY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001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 before you generate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KNOWLEDGE ORGANIZATION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9052560" y="1783080"/>
            <a:ext cx="1417320" cy="502920"/>
          </a:xfrm>
          <a:prstGeom prst="roundRect">
            <a:avLst>
              <a:gd name="adj" fmla="val 50909"/>
            </a:avLst>
          </a:prstGeom>
          <a:solidFill>
            <a:srgbClr val="A5228E"/>
          </a:solidFill>
          <a:ln/>
        </p:spPr>
      </p:sp>
      <p:sp>
        <p:nvSpPr>
          <p:cNvPr id="7" name="Text 4"/>
          <p:cNvSpPr/>
          <p:nvPr/>
        </p:nvSpPr>
        <p:spPr>
          <a:xfrm>
            <a:off x="9052560" y="17830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8138160" cy="1234440"/>
          </a:xfrm>
          <a:prstGeom prst="roundRect">
            <a:avLst>
              <a:gd name="adj" fmla="val 6667"/>
            </a:avLst>
          </a:prstGeom>
          <a:solidFill>
            <a:srgbClr val="F4E7F1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1965960"/>
            <a:ext cx="7498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7C1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You’re new to this role — no example to work from. Have a structuring conversation with AI before you generate anything.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548640" y="3291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1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EXPLORE FIRST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3657600"/>
            <a:ext cx="8138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Dana actually want to see in a report like this?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sections would separate what needs attention from routine good news?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structure hold up against the real, messy inputs?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8640" y="5349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fine starting points: generate first and inspect what you got — or structure first, then check the conversation actually covered reader + judgment calls.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TWO · DIAGNOSE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001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— no single right answer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KNOWLEDGE ORGANIZATION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001E6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80160" y="173736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 you give AI context about the reader?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280160" y="21488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Generic: “What sections should a report have?”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Context-rich: “Dana scans for what needs her decision vs. routine good news — what structure serves that?”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" y="3200400"/>
            <a:ext cx="457200" cy="457200"/>
          </a:xfrm>
          <a:prstGeom prst="ellipse">
            <a:avLst/>
          </a:prstGeom>
          <a:solidFill>
            <a:srgbClr val="001E62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80160" y="315468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your structure have room for unresolved things?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280160" y="356616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Structures built from “what reports usually look like” tend toward positive-framing categories. Is there somewhere for the Denise situation to land honestly?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0080" y="4617720"/>
            <a:ext cx="457200" cy="457200"/>
          </a:xfrm>
          <a:prstGeom prst="ellipse">
            <a:avLst/>
          </a:prstGeom>
          <a:solidFill>
            <a:srgbClr val="001E62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80160" y="45720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 you check the structure against the actual data?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280160" y="498348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did you design in the abstract and force the inputs to fit? Sharing the mess during structuring catches mismatches before generation.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1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943600" cy="5943600"/>
          </a:xfrm>
          <a:prstGeom prst="ellipse">
            <a:avLst/>
          </a:prstGeom>
          <a:solidFill>
            <a:srgbClr val="001344"/>
          </a:solidFill>
          <a:ln/>
        </p:spPr>
      </p:sp>
      <p:sp>
        <p:nvSpPr>
          <p:cNvPr id="3" name="Shape 1"/>
          <p:cNvSpPr/>
          <p:nvPr/>
        </p:nvSpPr>
        <p:spPr>
          <a:xfrm>
            <a:off x="-2560320" y="4572000"/>
            <a:ext cx="4572000" cy="4572000"/>
          </a:xfrm>
          <a:prstGeom prst="ellipse">
            <a:avLst/>
          </a:prstGeom>
          <a:solidFill>
            <a:srgbClr val="00134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THE PATTERN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passes. Same mess.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Very different conversations.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2519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we pull back and name the two moves you just used.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KNOWLEDGE ORGANIZATION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001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moves you’ll use constantly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KNOWLEDGE ORGANIZATION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68680" y="2103120"/>
            <a:ext cx="502920" cy="502920"/>
          </a:xfrm>
          <a:prstGeom prst="ellipse">
            <a:avLst/>
          </a:prstGeom>
          <a:solidFill>
            <a:srgbClr val="001E62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554480" y="207568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 One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554480" y="24048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1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EXAMPLE-ANCHORED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68680" y="2834640"/>
            <a:ext cx="4709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tells AI the shape. But shape isn’t judgment — you supply what’s different this time, what’s urgent, what’s sensitive. In the prompt, not in edits after.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263640" y="1783080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3680" y="2103120"/>
            <a:ext cx="502920" cy="502920"/>
          </a:xfrm>
          <a:prstGeom prst="ellipse">
            <a:avLst/>
          </a:prstGeom>
          <a:solidFill>
            <a:srgbClr val="A5228E"/>
          </a:solidFill>
          <a:ln/>
        </p:spPr>
      </p:sp>
      <p:sp>
        <p:nvSpPr>
          <p:cNvPr id="14" name="Text 11"/>
          <p:cNvSpPr/>
          <p:nvPr/>
        </p:nvSpPr>
        <p:spPr>
          <a:xfrm>
            <a:off x="65836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269480" y="207568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 Two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7269480" y="24048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STRUCTURE-FIRST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583680" y="2834640"/>
            <a:ext cx="4709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an example, AI is still useful — but only as a thinking partner on structure before generation. Jumping straight to generation isn’t wrong, just usually slower in the end.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457200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001E62"/>
          </a:solidFill>
          <a:ln/>
        </p:spPr>
      </p:sp>
      <p:sp>
        <p:nvSpPr>
          <p:cNvPr id="19" name="Text 16"/>
          <p:cNvSpPr/>
          <p:nvPr/>
        </p:nvSpPr>
        <p:spPr>
          <a:xfrm>
            <a:off x="914400" y="457200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“Bring a template when you have one, and use it deliberately. Build the structure with AI when you don’t — before you generate anything.”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· WHY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001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were already using this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KNOWLEDGE ORGANIZATION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8745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9EDF6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745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001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Uncover your goal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4709160" y="1874520"/>
            <a:ext cx="6720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Two’s structuring conversation — asking what Dana actually wants before generating anything.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9718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9EDF6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297180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001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step at a time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4709160" y="2971800"/>
            <a:ext cx="6720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“write a report” into structure-first, then generate — instead of one giant ask.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40690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9EDF6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0690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001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Don’t outsource your thinking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4709160" y="4069080"/>
            <a:ext cx="6720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diagnose step — catching AI’s assumptions: 19 vs. 18, the Hendricks rumor, the flattened tone.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48640" y="5257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“Foundations of AI Communication” — more depth on this in the Prompting module.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001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Words for what you just did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KNOWLEDGE ORGANIZATION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001E62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202996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Example-anchored prompting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260604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template deliberately — structure, tone, and what counts as signal vs. noise.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63640" y="182880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A5228E"/>
          </a:solidFill>
          <a:ln/>
        </p:spPr>
      </p:sp>
      <p:sp>
        <p:nvSpPr>
          <p:cNvPr id="10" name="Text 7"/>
          <p:cNvSpPr/>
          <p:nvPr/>
        </p:nvSpPr>
        <p:spPr>
          <a:xfrm>
            <a:off x="6583680" y="202996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Structure-first prompting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583680" y="260604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shape of the output with AI as its own step, before asking it to generate anything.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3749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PROMPTING MODULE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4114800"/>
            <a:ext cx="1810512" cy="502920"/>
          </a:xfrm>
          <a:prstGeom prst="roundRect">
            <a:avLst>
              <a:gd name="adj" fmla="val 50909"/>
            </a:avLst>
          </a:prstGeom>
          <a:solidFill>
            <a:srgbClr val="FFFFFF"/>
          </a:solidFill>
          <a:ln w="15875">
            <a:solidFill>
              <a:srgbClr val="001E6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411480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Uncover your goal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2587752" y="4114800"/>
            <a:ext cx="1901952" cy="502920"/>
          </a:xfrm>
          <a:prstGeom prst="roundRect">
            <a:avLst>
              <a:gd name="adj" fmla="val 50909"/>
            </a:avLst>
          </a:prstGeom>
          <a:solidFill>
            <a:srgbClr val="FFFFFF"/>
          </a:solidFill>
          <a:ln w="15875">
            <a:solidFill>
              <a:srgbClr val="001E6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587752" y="4114800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 at a time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4718304" y="4114800"/>
            <a:ext cx="2907792" cy="502920"/>
          </a:xfrm>
          <a:prstGeom prst="roundRect">
            <a:avLst>
              <a:gd name="adj" fmla="val 50909"/>
            </a:avLst>
          </a:prstGeom>
          <a:solidFill>
            <a:srgbClr val="FFFFFF"/>
          </a:solidFill>
          <a:ln w="15875">
            <a:solidFill>
              <a:srgbClr val="001E6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718304" y="4114800"/>
            <a:ext cx="2907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Don’t outsource your thinking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1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943600" cy="5943600"/>
          </a:xfrm>
          <a:prstGeom prst="ellipse">
            <a:avLst/>
          </a:prstGeom>
          <a:solidFill>
            <a:srgbClr val="001344"/>
          </a:solidFill>
          <a:ln/>
        </p:spPr>
      </p:sp>
      <p:sp>
        <p:nvSpPr>
          <p:cNvPr id="3" name="Shape 1"/>
          <p:cNvSpPr/>
          <p:nvPr/>
        </p:nvSpPr>
        <p:spPr>
          <a:xfrm>
            <a:off x="-2560320" y="4572000"/>
            <a:ext cx="4572000" cy="4572000"/>
          </a:xfrm>
          <a:prstGeom prst="ellipse">
            <a:avLst/>
          </a:prstGeom>
          <a:solidFill>
            <a:srgbClr val="00134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IT HOME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shows up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 this room.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2519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job. Your recurring tasks. Same two moves.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KNOWLEDGE ORGANIZATION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SENSEMAKING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001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else does this apply?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KNOWLEDGE ORGANIZATION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4E7F1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19202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1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 of a recurring task in your own work — something you’ve done more than twice.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68680" y="2514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i="1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fit Pass One (you have a previous version to anchor to) or Pass Two (you start from scratch every time)?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1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TO SEED THE ROOM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3794760"/>
            <a:ext cx="1673352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DC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7947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updates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423160" y="3794760"/>
            <a:ext cx="184708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DC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423160" y="3794760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summaries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471416" y="3794760"/>
            <a:ext cx="1499616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DCE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71416" y="3794760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prep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72200" y="3794760"/>
            <a:ext cx="158648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DCE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72200" y="3794760"/>
            <a:ext cx="15864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notes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59852" y="3794760"/>
            <a:ext cx="2107692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DCE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959852" y="3794760"/>
            <a:ext cx="21076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reviews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48640" y="4663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 with a partner, then we’ll hear a few out loud.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001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on one real thing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KNOWLEDGE ORGANIZATION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11064240" cy="1508760"/>
          </a:xfrm>
          <a:prstGeom prst="roundRect">
            <a:avLst>
              <a:gd name="adj" fmla="val 5455"/>
            </a:avLst>
          </a:prstGeom>
          <a:solidFill>
            <a:srgbClr val="E9EDF6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192024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001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ONE task </a:t>
            </a:r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001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your own work — or use the safe retail-store fallback in your companion doc if you’d rather not use real data.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868680" y="260604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E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(on paper or in your AI tool) which move fits — example-anchored or structure-first — and what your first line of prompt would say.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68680" y="3063240"/>
            <a:ext cx="1417320" cy="502920"/>
          </a:xfrm>
          <a:prstGeom prst="roundRect">
            <a:avLst>
              <a:gd name="adj" fmla="val 50909"/>
            </a:avLst>
          </a:prstGeom>
          <a:solidFill>
            <a:srgbClr val="A5228E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30632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38404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4023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TO GO FURTHER?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22960" y="434340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fuller version — actually running the prompt on a second task and getting feedback — is a great fit for office hours or an async follow-up. Capture your prompt, AI’s output, and one sentence on what you’d change next time.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001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this with you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KNOWLEDGE ORGANIZATION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5349240" cy="3794760"/>
          </a:xfrm>
          <a:prstGeom prst="roundRect">
            <a:avLst>
              <a:gd name="adj" fmla="val 1928"/>
            </a:avLst>
          </a:prstGeom>
          <a:solidFill>
            <a:srgbClr val="F4F5FA"/>
          </a:solidFill>
          <a:ln w="12700">
            <a:solidFill>
              <a:srgbClr val="E3E6E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783080"/>
            <a:ext cx="5349240" cy="548640"/>
          </a:xfrm>
          <a:prstGeom prst="rect">
            <a:avLst/>
          </a:prstGeom>
          <a:solidFill>
            <a:srgbClr val="001E62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7830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1 — When you have a template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2514600"/>
            <a:ext cx="4800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C1E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Here’s an example of [output type].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C1E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Here’s the new input: [messy inputs].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C1E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 the example for structure and tone, but: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C1E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Later messages may correct earlier ones.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C1E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Don’t assume sections repeat the example.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C1E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Flag anything unconfirmed as unconfirmed.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1783080"/>
            <a:ext cx="5349240" cy="3794760"/>
          </a:xfrm>
          <a:prstGeom prst="roundRect">
            <a:avLst>
              <a:gd name="adj" fmla="val 1928"/>
            </a:avLst>
          </a:prstGeom>
          <a:solidFill>
            <a:srgbClr val="F4F5FA"/>
          </a:solidFill>
          <a:ln w="12700">
            <a:solidFill>
              <a:srgbClr val="E3E6E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263640" y="1783080"/>
            <a:ext cx="5349240" cy="548640"/>
          </a:xfrm>
          <a:prstGeom prst="rect">
            <a:avLst/>
          </a:prstGeom>
          <a:solidFill>
            <a:srgbClr val="A5228E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7830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2 — When you have no template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537960" y="2514600"/>
            <a:ext cx="4800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C1E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need [output type] for [reader — who they are, what they use it for].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C1E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Before generating anything, help me figure out what structure would serve that.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C1E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Here’s the real input: [messy inputs]. Does this structure hold up against it?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1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3200400"/>
            <a:ext cx="6400800" cy="6400800"/>
          </a:xfrm>
          <a:prstGeom prst="ellipse">
            <a:avLst/>
          </a:prstGeom>
          <a:solidFill>
            <a:srgbClr val="00134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COMPLETE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“Bring an example when you have one, and use it deliberately.</a:t>
            </a:r>
            <a:endParaRPr lang="en-US" sz="2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structure with AI when you don’t — before you generate anything.”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7863840" cy="1051560"/>
          </a:xfrm>
          <a:prstGeom prst="roundRect">
            <a:avLst>
              <a:gd name="adj" fmla="val 7826"/>
            </a:avLst>
          </a:prstGeom>
          <a:solidFill>
            <a:srgbClr val="001344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4343400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A52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— Module 2: 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Map, No Problem: Building a Plan When You Don’t Know Where to Start.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5989320"/>
            <a:ext cx="256032" cy="256032"/>
          </a:xfrm>
          <a:prstGeom prst="ellipse">
            <a:avLst/>
          </a:prstGeom>
          <a:solidFill>
            <a:srgbClr val="A5228E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893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5943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CHICAGO TECH CIRCLE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1: Knowledge Organization — From Mess to Message</dc:title>
  <dc:subject>PptxGenJS Presentation</dc:subject>
  <dc:creator>Chicago Tech Circle</dc:creator>
  <cp:lastModifiedBy>Chicago Tech Circle</cp:lastModifiedBy>
  <cp:revision>1</cp:revision>
  <dcterms:created xsi:type="dcterms:W3CDTF">2026-07-22T15:09:56Z</dcterms:created>
  <dcterms:modified xsi:type="dcterms:W3CDTF">2026-07-22T15:09:56Z</dcterms:modified>
</cp:coreProperties>
</file>