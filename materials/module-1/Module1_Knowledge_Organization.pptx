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FACILITATOR NOTE — full run sheet lives in speaker notes throughout this deck.</a:t>
            </a:r>
            <a:br>
              <a:rPr lang="en-US"/>
            </a:br>
            <a:r>
              <a:rPr lang="en-US"/>
              <a:t>Total target: 90 minutes. Timing budget: Overview 5 / Scenario 12 / Two Passes 44 / Naming the Pattern 14 / Conclusion 15.</a:t>
            </a:r>
            <a:br>
              <a:rPr lang="en-US"/>
            </a:b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Walk the line left to right.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Read Dana’s message aloud. </a:t>
            </a:r>
            <a:br>
              <a:rPr lang="en-US"/>
            </a:br>
            <a:r>
              <a:rPr lang="en-US"/>
              <a:t>(OPTIONAL) </a:t>
            </a:r>
            <a:r>
              <a:rPr b="1" lang="en-US"/>
              <a:t>ACTIVITY</a:t>
            </a:r>
            <a:r>
              <a:rPr lang="en-US"/>
              <a:t>: 'raise a hand if a version of this message has actually landed in your inbox.' </a:t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281c5d4f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Let them read the three sources in silence before discussing anything.</a:t>
            </a:r>
            <a:endParaRPr lang="en-US"/>
          </a:p>
        </p:txBody>
      </p:sp>
      <p:sp>
        <p:nvSpPr>
          <p:cNvPr id="112" name="Google Shape;112;g3f6281c5d4f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281c5d4f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Debrief what they caught before moving into the warm-up.</a:t>
            </a:r>
            <a:endParaRPr lang="en-US"/>
          </a:p>
        </p:txBody>
      </p:sp>
      <p:sp>
        <p:nvSpPr>
          <p:cNvPr id="131" name="Google Shape;131;g3f6281c5d4f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Pair discussion, no AI yet — this baseline sets up the contrast later.</a:t>
            </a:r>
            <a:endParaRPr lang="en-US"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</a:t>
            </a:r>
            <a:endParaRPr lang="en-US"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Point out the report's shape and its calm tone — that tone is itself a trap this month.</a:t>
            </a:r>
            <a:endParaRPr lang="en-US"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 min. Circulate for tech troubleshooting only — let the traps surface on their own.</a:t>
            </a:r>
            <a:endParaRPr lang="en-US"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min. Walk the five checks (full detail in the facilitator diagnostic guide), then have them revise their prompt, not the output, and regenerate.</a:t>
            </a:r>
            <a:endParaRPr lang="en-US"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 Reset: no template exists for this pass.</a:t>
            </a:r>
            <a:endParaRPr lang="en-US"/>
          </a:p>
        </p:txBody>
      </p:sp>
      <p:sp>
        <p:nvSpPr>
          <p:cNvPr id="238" name="Google Shape;2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min. Either approach works, generate-first or structure-first. Circulate and ask whether they've told AI who's reading this.</a:t>
            </a:r>
            <a:endParaRPr lang="en-US"/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min. A structure that looks nothing like Pass One's template can still pass these checks — say that explicitly.</a:t>
            </a:r>
            <a:endParaRPr lang="en-US"/>
          </a:p>
        </p:txBody>
      </p:sp>
      <p:sp>
        <p:nvSpPr>
          <p:cNvPr id="264" name="Google Shape;2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</a:t>
            </a:r>
            <a:endParaRPr lang="en-US"/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This is the naming moment — say the throughline plainly.</a:t>
            </a:r>
            <a:endParaRPr lang="en-US"/>
          </a:p>
        </p:txBody>
      </p:sp>
      <p:sp>
        <p:nvSpPr>
          <p:cNvPr id="295" name="Google Shape;2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Connects to the Prompting module's foundations content — these were real principles, just unnamed until now.</a:t>
            </a:r>
            <a:endParaRPr lang="en-US"/>
          </a:p>
        </p:txBody>
      </p:sp>
      <p:sp>
        <p:nvSpPr>
          <p:cNvPr id="317" name="Google Shape;3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Recap only, nothing new here.</a:t>
            </a:r>
            <a:endParaRPr lang="en-US"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</a:t>
            </a:r>
            <a:endParaRPr lang="en-US"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Pair share — push for specific recurring tasks, not abstractions.</a:t>
            </a:r>
            <a:endParaRPr lang="en-US"/>
          </a:p>
        </p:txBody>
      </p:sp>
      <p:sp>
        <p:nvSpPr>
          <p:cNvPr id="367" name="Google Shape;3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A sketch, not a full redo. Offer the retail fallback for anyone who'd rather not use real work data.</a:t>
            </a:r>
            <a:endParaRPr lang="en-US"/>
          </a:p>
        </p:txBody>
      </p:sp>
      <p:sp>
        <p:nvSpPr>
          <p:cNvPr id="390" name="Google Shape;3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Point to where the skeletons live for later reference.</a:t>
            </a:r>
            <a:endParaRPr lang="en-US"/>
          </a:p>
        </p:txBody>
      </p:sp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the room and point to the companion site for lasting reference.</a:t>
            </a:r>
            <a:endParaRPr lang="en-US"/>
          </a:p>
        </p:txBody>
      </p:sp>
      <p:sp>
        <p:nvSpPr>
          <p:cNvPr id="422" name="Google Shape;42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685800"/>
            <a:ext cx="292608" cy="292608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685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234440" y="6217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Knowledge Organization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794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EE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9D4EE"/>
                </a:solidFill>
                <a:latin typeface="Cambria"/>
                <a:ea typeface="Cambria"/>
                <a:cs typeface="Cambria"/>
                <a:sym typeface="Cambria"/>
              </a:rPr>
              <a:t>From Mess to Message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Turning everyday inputs into reports AI can actually help with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8064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22960" y="58064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60320" y="5806440"/>
            <a:ext cx="1463040" cy="502920"/>
          </a:xfrm>
          <a:prstGeom prst="roundRect">
            <a:avLst>
              <a:gd fmla="val 50909" name="adj"/>
            </a:avLst>
          </a:prstGeom>
          <a:noFill/>
          <a:ln cap="flat" cmpd="sng" w="15875">
            <a:solidFill>
              <a:srgbClr val="3B4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60320" y="58064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By the end of today, you’ll be able to 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17320" y="172821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Use a template on purpose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17320" y="214884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not just paste-and-hope — show AI what counts as structure, tone, and signal vs. noise.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" y="3200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417320" y="314553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Build structure before you generate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356616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when there’s no example to anchor to, make that its own step with AI, before asking for output.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7320" y="456285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Catch what AI gets wrong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7320" y="498348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with real, messy, contradictory 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How we’ll spend the next 90 minutes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1440180" y="2720340"/>
            <a:ext cx="9326880" cy="0"/>
          </a:xfrm>
          <a:prstGeom prst="straightConnector1">
            <a:avLst/>
          </a:prstGeom>
          <a:noFill/>
          <a:ln cap="flat" cmpd="sng" w="38100">
            <a:solidFill>
              <a:srgbClr val="E9ED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/>
          <p:nvPr/>
        </p:nvSpPr>
        <p:spPr>
          <a:xfrm>
            <a:off x="105156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5156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38328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38328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88036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1" sz="1350">
              <a:solidFill>
                <a:srgbClr val="1C1E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88036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15000" y="2331720"/>
            <a:ext cx="777240" cy="77724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71500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1208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Two Passes,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Same Mess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1C6B"/>
                </a:solidFill>
                <a:latin typeface="Calibri"/>
                <a:ea typeface="Calibri"/>
                <a:cs typeface="Calibri"/>
                <a:sym typeface="Calibri"/>
              </a:rPr>
              <a:t>44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04672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04672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54380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Naming the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54380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37844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037844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87552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Bring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87552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Almost half of today is hands-on: you’ll produce the same report twice — once with a template, once without — before we name what you did.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You’re a team lead.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board packet goes out tomorrow.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Four days out of office. Three direct reports. Nothing organized.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Riverside Community Partners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737360"/>
            <a:ext cx="6492240" cy="1874520"/>
          </a:xfrm>
          <a:prstGeom prst="roundRect">
            <a:avLst>
              <a:gd fmla="val 3902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68680" y="192024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MESSAGE FROM DANA, YOUR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680" y="22860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“Hey — need your monthly program update by end of day, sorry for short notice, board packet goes out tomorrow morning.”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360920" y="1865376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589520" y="170992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You’ve been out for four days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360920" y="2523744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589520" y="2368296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Updates from Marcus, Priya, and Liz — scattered across Slack, email, and a rough meeting note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60920" y="3182112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589520" y="3026664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Nothing organized. Nothing formatted.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68680" y="39776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What you’ll do: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 the same report twice — once with a template, once without. Same mess. Two very different conversations with AI.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Before you open any AI tool: if you had to do this with no AI, what’s your first move?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5 minutes. Read it yourself.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Slack — #team-updates scrollback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Full scrollback — Marcus, Priya, and Liz, Tuesday through Friday.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Read start to finish before you touch any AI tool.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Email — from Marcus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“digital skills + the Denise thing” — his full note, the one he said couldn't wait for the next check-in.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Notes — Priya's call w/ Workforce Solutions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Her rough notes right after the call — unfiltered, including the part she flagged "don't publish yet."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What you might have caught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correction: 19 → 18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Priya's Wednesday count got corrected in her Friday message — the real number is 18, not 19.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When two messages conflict, which one do you trust — the first one or the last one?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buried urgency: Denise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 instructor for Wednesday evening class, and it's getting worse day by day — mentioned mid-thread, never called out on its 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unverified rumor: Hendricks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Possible Q3 layoffs at your biggest placement employer — offhand, secondhand, flagged "don't publish yet." Worth knowing, not worth stating as 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Before you touch AI — what’s your instinct?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325880" y="178308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600200" y="178308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If you had to do this with no AI at all — what’s your first move?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325880" y="306324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600200" y="306324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Which part of this task is most tedious? Which part needs the most judgment?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960120" y="4709160"/>
            <a:ext cx="457200" cy="457200"/>
          </a:xfrm>
          <a:prstGeom prst="ellipse">
            <a:avLst/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600200" y="4681728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Turn to a partner — 2 minutes. We’ll share a few out before we bring AI into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 have a template.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A real report from last month. Same mess. Let’s see what AI does with 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Last month’s report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194560" y="1691640"/>
            <a:ext cx="781812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5875">
            <a:solidFill>
              <a:srgbClr val="DA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194560" y="1691640"/>
            <a:ext cx="7818120" cy="566928"/>
          </a:xfrm>
          <a:prstGeom prst="rect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2423160" y="1691640"/>
            <a:ext cx="7360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MONTHLY PROGRAM UPDATE — Riverside Community Partners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542032" y="2377440"/>
            <a:ext cx="72694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Job readiness cohort: 86% completion (up from 78%)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Workforce placements: 14 this month vs. goal of 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Digital skills enrollment: 16, consistent with prior quarter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WATCH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One instructor (evening ESL) gave notice — replacement underway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NEEDS A DECISION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None this period.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NOTES FOR NEXT MONTH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Digital skills enrollment flat — check with Marcus on outreach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ONE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Your first 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48640" y="1828800"/>
            <a:ext cx="8138160" cy="2286000"/>
          </a:xfrm>
          <a:prstGeom prst="roundRect">
            <a:avLst>
              <a:gd fmla="val 36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68680" y="201168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Use your AI assistant to produce this month’s version of the report, using last month’s as your guide for structure and tone.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68680" y="29718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Try your first prompt now — don’t overthink it. Use whatever feels natural.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Once you have output: don’t edit it by hand. Read it carefully — you’ll check it against five specific things next.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Inputs: the messy Slack/email/notes from slide 6, plus last month’s template from slide 9.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ONE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Check your output against these five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280160" y="1783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19 or 18?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709160" y="1783080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Later messages can correct earlier ones — use the most recent fact.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280160" y="238658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“Needs a Decision”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709160" y="2386584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Don’t copy last month’s “None” forward — check what’s actually live.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280160" y="29900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Hendricks rumor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709160" y="2990088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Flag anything secondhand or unconfirmed — don’t state it as fact.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40080" y="3593592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640080" y="3593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280160" y="359359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Tone on the Denise item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709160" y="3593592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Match structure, not tone — don’t flatten real urgency.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AEB9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280160" y="419709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Printer &amp; parking lot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4709160" y="4197096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Most prompts filter these out fine — a small win if yours did.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fmla="val 10588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Now revise: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 your prompt — not the output — and regenerate. The learning is in rewriting the instruction.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TWO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template.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Same mess. No example to anchor to. Structure it before you generate.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TWO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Structure before you generate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48640" y="1828800"/>
            <a:ext cx="8138160" cy="1234440"/>
          </a:xfrm>
          <a:prstGeom prst="roundRect">
            <a:avLst>
              <a:gd fmla="val 6667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868680" y="196596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You’re new to this role — no example to work from. Have a structuring conversation with AI before you generate anything.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QUESTIONS TO EXPLORE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8640" y="3657600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would Dana actually want to see in a report like this?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sections would separate what needs attention from routine good news?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Does the structure hold up against the real, messy inputs?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Two fine starting points: generate first and inspect what you got — or structure first, then check the conversation actually covered reader + judgment calls.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PASS TWO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Three checks — no single right answer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280160" y="173736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give AI context about the reader?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1280160" y="214884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Generic: “What sections should a report have?”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Context-rich: “Dana scans for what needs her decision vs. routine good news — what structure serves that?”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280160" y="315468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Does your structure have room for unresolved things?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1280160" y="356616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Structures built from “what reports usually look like” tend toward positive-framing categories. Is there somewhere for the Denise situation to land honestly?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280160" y="457200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check the structure against the actual data?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280160" y="498348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Or did you design in the abstract and force the inputs to fit? Sharing the mess during structuring catches mismatches before generation.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NAMING THE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Two passes. Same mess.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Very different conversations.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Now we pull back and name the two moves you just used.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The two moves you’ll use constantly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548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554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Pass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554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EXAMPLE-ANCHORED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868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template tells AI the shape. But shape isn’t judgment — you supply what’s different this time, what’s urgent, what’s sensitive. In the prompt, not in edits after.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6263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7269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Pass Two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269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STRUCTURE-FIRST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583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Without an example, AI is still useful — but only as a thinking partner on structure before generation. Jumping straight to generation isn’t wrong, just usually slower in the end.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“Bring a template when you have one, and use it deliberately. Build the structure with AI when you don’t — before you generate anything.”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 · 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 were already using this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822960" y="18745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Uncover your goal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4709160" y="187452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Pass Two’s structuring conversation — asking what Dana actually wants before generating anything.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48640" y="297180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822960" y="297180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One step at a 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709160" y="297180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Breaking “write a report” into structure-first, then generate — instead of one giant ask.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822960" y="406908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Don’t outsource your thinking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09160" y="406908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diagnose step — catching AI’s assumptions: 19 vs. 18, the Hendricks rumor, the flattened tone.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“Foundations of AI Communication” — more depth on this in the Prompting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Words for what you just did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68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Example-anchored prompting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868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Using a template deliberately — structure, tone, and what counts as signal vs. noise.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63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583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Structure-first prompting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583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Building the shape of the output with AI as its own step, before asking it to generate anything.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THE PROMPTING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48640" y="4114800"/>
            <a:ext cx="181051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48640" y="411480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Uncover your goal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587752" y="4114800"/>
            <a:ext cx="190195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2587752" y="41148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One step at a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718304" y="4114800"/>
            <a:ext cx="290779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4718304" y="4114800"/>
            <a:ext cx="29077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Don’t outsource your thinking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BRING IT HOME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shows up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outside this room.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Your job. Your recurring tasks. Same two moves.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SENSEMAKING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Where else does this apply?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868680" y="19202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Think of a recurring task in your own work — something you’ve done more than twice.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Does it fit Pass One (you have a previous version to anchor to) or Pass Two (you start from scratch every time)?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EXAMPLES TO SEED THE ROOM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48640" y="3794760"/>
            <a:ext cx="167335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48640" y="3794760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Status updates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423160" y="3794760"/>
            <a:ext cx="1847088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423160" y="379476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Client summaries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4471416" y="3794760"/>
            <a:ext cx="1499616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4471416" y="3794760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Meeting prep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172200" y="3794760"/>
            <a:ext cx="1586484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6172200" y="3794760"/>
            <a:ext cx="15864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Handoff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7959852" y="3794760"/>
            <a:ext cx="210769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959852" y="3794760"/>
            <a:ext cx="2107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Performance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2 min with a partner, then we’ll hear a few out 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Try it on one real thing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48640" y="1783080"/>
            <a:ext cx="11064240" cy="1508760"/>
          </a:xfrm>
          <a:prstGeom prst="roundRect">
            <a:avLst>
              <a:gd fmla="val 5455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868680" y="19202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Pick ONE task </a:t>
            </a:r>
            <a:r>
              <a:rPr b="0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from your own work — or use the safe retail-store fallback in your companion doc if you’d rather not use real data.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868680" y="26060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Sketch (on paper or in your AI tool) which move fits — example-anchored or structure-first — and what your first line of prompt would say.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868680" y="30632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868680" y="30632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822960" y="4023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WANT TO GO FURTHER?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822960" y="434340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fuller version — actually running the prompt on a second task and getting feedback — is a great fit for office hours or an async follow-up. Capture your prompt, AI’s output, and one sentence on what you’d change next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this with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1 · KNOWLEDGE 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48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548640" y="1783080"/>
            <a:ext cx="5349240" cy="5486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777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1 — When you have a 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822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Here’s an example of [output type].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Here’s the new input: [messy inputs].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Use the example for structure and tone, but: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Later messages may correct earlier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Don’t assume sections repeat the example.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Flag anything unconfirmed as unconfirmed.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6263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6263640" y="1783080"/>
            <a:ext cx="5349240" cy="548640"/>
          </a:xfrm>
          <a:prstGeom prst="rect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6492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2 — When you have no 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6537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I need [output type] for [reader — who they are, what they use it for].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Before generating anything, help me figure out what structure would serve that.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Here’s the real input: [messy inputs]. Does this structure hold up against it?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-2743200" y="-3200400"/>
            <a:ext cx="6400800" cy="64008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6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1 COMPLETE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“Bring an example when you have one, and use it deliberately.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 the structure with AI when you don’t — before you generate anything.”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822960" y="5989320"/>
            <a:ext cx="256032" cy="256032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822960" y="59893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118872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