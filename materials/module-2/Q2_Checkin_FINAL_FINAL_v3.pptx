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BD83E2-D303-46A9-93B7-0686AE7CFA2F}">
  <a:tblStyle styleId="{17BD83E2-D303-46A9-93B7-0686AE7CFA2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note: Do NOT share v1 or v2. v2 had HVAC revenue from the OLD tab (gross, pre-refund). The correct Q2 HVAC figure is $151,300. If anyone asks why the number changed, refer them to Sandra's email (Jan 17).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HVAC beat target by 2.8% — strong summer season. Plumbing underperformed (technician availability). Cleaning slightly below target. Net: just under target overall.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Sandra point is worth flagging to Director Chen. There's no documentation for how the spreadsheet works. If anything goes wrong with the data mid-Q3, nobody will know how to fix it.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the one Director Chen will focus on. Make sure the $300,725 number is front and centre. She set the 15% target herself — she knows where it came from.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this slide. If Director Chen asks about the version history, say v3 corrected a data error from the OLD tab. Keep it brief.</a:t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E8631A"/>
          </a:solidFill>
          <a:ln cap="flat" cmpd="sng" w="12700">
            <a:solidFill>
              <a:srgbClr val="E86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Pinnacle Peak Home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 2024 Performance Check-in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Prepared by: Rachel N.  |  </a:t>
            </a:r>
            <a:r>
              <a:rPr b="0" i="1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July 3,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83680" y="35204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FINAL FINAL v3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00"/>
              <a:buFont typeface="Arial"/>
              <a:buNone/>
            </a:pPr>
            <a:r>
              <a:rPr b="1" i="1" lang="en-US" sz="9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⚠  </a:t>
            </a:r>
            <a:r>
              <a:rPr b="0" i="1" lang="en-US" sz="9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Note: v1 had wrong Q2 dates. v2 had wrong HVAC number (used OLD tab by accident). This is the right one.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Q2 2024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100584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$300,200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2057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Q2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0" y="100584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vs Q2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0040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+14.8%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0" y="2057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YoY Growth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035040" y="100584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8F8F8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vs Q2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035040" y="14173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-2.1%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Slightly below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Revenue by Service Line — Q2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200400"/>
            <a:ext cx="8412480" cy="164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Q2 Highlights &amp; Watch-outs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65760" y="914400"/>
            <a:ext cx="3931920" cy="3474720"/>
          </a:xfrm>
          <a:prstGeom prst="roundRect">
            <a:avLst>
              <a:gd fmla="val 2105" name="adj"/>
            </a:avLst>
          </a:prstGeom>
          <a:solidFill>
            <a:srgbClr val="F0FFF4"/>
          </a:solidFill>
          <a:ln cap="flat" cmpd="sng" w="12700">
            <a:solidFill>
              <a:srgbClr val="AAD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✅  What's Working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14630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HVAC North: Marcus Webb team had 0 complaints in Q2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Cleaning NPS now at 58 — well above 35 industry benchmark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24688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West region revenue up 26% YoY (new plumbing hire paying off)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Ottawa pilot showing promise — 47 CAD in Q2 (not in targets)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846320" y="914400"/>
            <a:ext cx="3931920" cy="3474720"/>
          </a:xfrm>
          <a:prstGeom prst="roundRect">
            <a:avLst>
              <a:gd fmla="val 2105" name="adj"/>
            </a:avLst>
          </a:prstGeom>
          <a:solidFill>
            <a:srgbClr val="FFF5F5"/>
          </a:solidFill>
          <a:ln cap="flat" cmpd="sng" w="12700">
            <a:solidFill>
              <a:srgbClr val="DD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937760" y="9601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⚠  Watch-outs for Q3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29200" y="14630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!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Plumbing missed target 2 quarters in a row — scheduling fix needed before Q3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029200" y="19659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!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HVAC North fully booked through Oct — risk of lost tickets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!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Sandra on mat leave from Aug 1 — no handoff doc for spreadsheet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0" y="29718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!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Q3 target is $300,725 — highest ever. Needs all teams firing.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Q3 2024 Targets — What We're Working Toward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Based on 15% growth over Q3 2023 actuals (Source: Director Chen email, Jan 15 2024)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{17BD83E2-D303-46A9-93B7-0686AE7CFA2F}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Line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2023 Actual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2024 Target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2024 Actual (ref)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HVAC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$124,500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$143,175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$151,300 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Plumbing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$81,500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$93,725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$88,700 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$55,500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$63,825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$60,200 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$261,500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$300,725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$300,200 ~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Hit target  </a:t>
            </a:r>
            <a:r>
              <a:rPr b="1" i="0" lang="en-US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Missed target  </a:t>
            </a:r>
            <a:r>
              <a:rPr b="1" i="0" lang="en-US" sz="10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~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Within 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fmla="val 9231" name="adj"/>
            </a:avLst>
          </a:prstGeom>
          <a:solidFill>
            <a:srgbClr val="FFF3EC"/>
          </a:solidFill>
          <a:ln cap="flat" cmpd="sng" w="12700">
            <a:solidFill>
              <a:srgbClr val="E86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594360" y="434340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Q3 2024 is our biggest target yet. HVAC is the swing factor — capacity constraints in North could cap upside. Plumbing must close the gap from Q2.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fmla="val 8333" name="adj"/>
            </a:avLst>
          </a:prstGeom>
          <a:solidFill>
            <a:srgbClr val="2C2C2C"/>
          </a:solidFill>
          <a:ln cap="flat" cmpd="sng" w="12700">
            <a:solidFill>
              <a:srgbClr val="3C3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548640" y="105156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143000" y="10607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Ops 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143000" y="12984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 plumbing scheduling before Q3 peak (July 15 deadline)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1783080"/>
            <a:ext cx="8229600" cy="658368"/>
          </a:xfrm>
          <a:prstGeom prst="roundRect">
            <a:avLst>
              <a:gd fmla="val 8333" name="adj"/>
            </a:avLst>
          </a:prstGeom>
          <a:solidFill>
            <a:srgbClr val="2C2C2C"/>
          </a:solidFill>
          <a:ln cap="flat" cmpd="sng" w="12700">
            <a:solidFill>
              <a:srgbClr val="3C3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548640" y="18288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143000" y="18379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Marcus 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143000" y="20756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Assess HVAC capacity in North — can we take on 10% more volume?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2560320"/>
            <a:ext cx="8229600" cy="658368"/>
          </a:xfrm>
          <a:prstGeom prst="roundRect">
            <a:avLst>
              <a:gd fmla="val 8333" name="adj"/>
            </a:avLst>
          </a:prstGeom>
          <a:solidFill>
            <a:srgbClr val="2C2C2C"/>
          </a:solidFill>
          <a:ln cap="flat" cmpd="sng" w="12700">
            <a:solidFill>
              <a:srgbClr val="3C3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548640" y="260604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143000" y="26151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Rachel 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143000" y="285292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Get spreadsheet handoff doc from Sandra before Aug 1 mat leave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57200" y="3337560"/>
            <a:ext cx="8229600" cy="658368"/>
          </a:xfrm>
          <a:prstGeom prst="roundRect">
            <a:avLst>
              <a:gd fmla="val 8333" name="adj"/>
            </a:avLst>
          </a:prstGeom>
          <a:solidFill>
            <a:srgbClr val="2C2C2C"/>
          </a:solidFill>
          <a:ln cap="flat" cmpd="sng" w="12700">
            <a:solidFill>
              <a:srgbClr val="3C3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548640" y="338328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143000" y="339242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Director Chen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143000" y="363016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 whether Ottawa pilot counts toward Q3 targets (or stays separate)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7200" y="4114800"/>
            <a:ext cx="8229600" cy="658368"/>
          </a:xfrm>
          <a:prstGeom prst="roundRect">
            <a:avLst>
              <a:gd fmla="val 8333" name="adj"/>
            </a:avLst>
          </a:prstGeom>
          <a:solidFill>
            <a:srgbClr val="2C2C2C"/>
          </a:solidFill>
          <a:ln cap="flat" cmpd="sng" w="12700">
            <a:solidFill>
              <a:srgbClr val="3C3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48640" y="416052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3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631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14300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Everyone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143000" y="440740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Q3 check-in scheduled: October 4,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Questions? rachel.n@pinnaklehome.com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