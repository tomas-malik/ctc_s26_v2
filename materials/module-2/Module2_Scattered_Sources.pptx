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48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3"/>
  </p:sldMasterIdLst>
  <p:notesMasterIdLst>
    <p:notesMasterId r:id="rId4"/>
  </p:notesMasterIdLst>
  <p:sldIdLst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  <p:sldId id="293" r:id="rId42"/>
    <p:sldId id="294" r:id="rId43"/>
    <p:sldId id="295" r:id="rId44"/>
    <p:sldId id="296" r:id="rId45"/>
    <p:sldId id="297" r:id="rId46"/>
    <p:sldId id="298" r:id="rId47"/>
    <p:sldId id="299" r:id="rId48"/>
    <p:sldId id="300" r:id="rId49"/>
    <p:sldId id="301" r:id="rId50"/>
    <p:sldId id="302" r:id="rId51"/>
    <p:sldId id="303" r:id="rId52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?>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  <Relationship Id="rId29" Type="http://schemas.openxmlformats.org/officeDocument/2006/relationships/slide" Target="slides/slide25.xml"/>
  <Relationship Id="rId30" Type="http://schemas.openxmlformats.org/officeDocument/2006/relationships/slide" Target="slides/slide26.xml"/>
  <Relationship Id="rId31" Type="http://schemas.openxmlformats.org/officeDocument/2006/relationships/slide" Target="slides/slide27.xml"/>
  <Relationship Id="rId32" Type="http://schemas.openxmlformats.org/officeDocument/2006/relationships/slide" Target="slides/slide28.xml"/>
  <Relationship Id="rId33" Type="http://schemas.openxmlformats.org/officeDocument/2006/relationships/slide" Target="slides/slide29.xml"/>
  <Relationship Id="rId34" Type="http://schemas.openxmlformats.org/officeDocument/2006/relationships/slide" Target="slides/slide30.xml"/>
  <Relationship Id="rId35" Type="http://schemas.openxmlformats.org/officeDocument/2006/relationships/slide" Target="slides/slide31.xml"/>
  <Relationship Id="rId36" Type="http://schemas.openxmlformats.org/officeDocument/2006/relationships/slide" Target="slides/slide32.xml"/>
  <Relationship Id="rId37" Type="http://schemas.openxmlformats.org/officeDocument/2006/relationships/slide" Target="slides/slide33.xml"/>
  <Relationship Id="rId38" Type="http://schemas.openxmlformats.org/officeDocument/2006/relationships/slide" Target="slides/slide34.xml"/>
  <Relationship Id="rId39" Type="http://schemas.openxmlformats.org/officeDocument/2006/relationships/slide" Target="slides/slide35.xml"/>
  <Relationship Id="rId40" Type="http://schemas.openxmlformats.org/officeDocument/2006/relationships/slide" Target="slides/slide36.xml"/>
  <Relationship Id="rId41" Type="http://schemas.openxmlformats.org/officeDocument/2006/relationships/slide" Target="slides/slide37.xml"/>
  <Relationship Id="rId42" Type="http://schemas.openxmlformats.org/officeDocument/2006/relationships/slide" Target="slides/slide38.xml"/>
  <Relationship Id="rId43" Type="http://schemas.openxmlformats.org/officeDocument/2006/relationships/slide" Target="slides/slide39.xml"/>
  <Relationship Id="rId44" Type="http://schemas.openxmlformats.org/officeDocument/2006/relationships/slide" Target="slides/slide40.xml"/>
  <Relationship Id="rId45" Type="http://schemas.openxmlformats.org/officeDocument/2006/relationships/slide" Target="slides/slide41.xml"/>
  <Relationship Id="rId46" Type="http://schemas.openxmlformats.org/officeDocument/2006/relationships/slide" Target="slides/slide42.xml"/>
  <Relationship Id="rId47" Type="http://schemas.openxmlformats.org/officeDocument/2006/relationships/slide" Target="slides/slide43.xml"/>
  <Relationship Id="rId48" Type="http://schemas.openxmlformats.org/officeDocument/2006/relationships/slide" Target="slides/slide44.xml"/>
  <Relationship Id="rId49" Type="http://schemas.openxmlformats.org/officeDocument/2006/relationships/slide" Target="slides/slide45.xml"/>
  <Relationship Id="rId50" Type="http://schemas.openxmlformats.org/officeDocument/2006/relationships/slide" Target="slides/slide46.xml"/>
  <Relationship Id="rId51" Type="http://schemas.openxmlformats.org/officeDocument/2006/relationships/slide" Target="slides/slide47.xml"/>
  <Relationship Id="rId52" Type="http://schemas.openxmlformats.org/officeDocument/2006/relationships/slide" Target="slides/slide48.xml"/>
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25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" name="Shape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" name="Notes Placeholder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Facilitator note — full run sheet lives in speaker notes throughout this deck. Total target: 90 minutes.</a:t>
            </a:r>
            <a:endParaRPr 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" name="Shape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" name="Notes Placeholder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 min.</a:t>
            </a:r>
            <a:endParaRPr 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" name="Shape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" name="Notes Placeholder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 min. Walk the line left to right.</a:t>
            </a:r>
            <a:endParaRPr 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" name="Shape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" name="Notes Placeholder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 min.</a:t>
            </a:r>
            <a:endParaRPr 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" name="Shape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" name="Notes Placeholder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4 min. Read the boss message aloud — deadpan works. Ask: if you had to do this with no AI, what's your first move?</a:t>
            </a:r>
            <a:endParaRPr 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" name="Shape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" name="Notes Placeholder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 min. Let them open the actual file and skim in silence — resist narrating it for them.</a:t>
            </a:r>
            <a:endParaRPr 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" name="Shape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" name="Notes Placeholder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 min. Debrief what they caught before moving into the warm-up.</a:t>
            </a:r>
            <a:endParaRPr 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" name="Shape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" name="Notes Placeholder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4 min total: 2 min pair discussion, ~2 min share-out. Don't let anyone open an AI tool yet.</a:t>
            </a:r>
            <a:endParaRPr lang="en-US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" name="Shape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" name="Notes Placeholder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30 sec transition. Keep energy up.</a:t>
            </a:r>
            <a:endParaRPr lang="en-US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" name="Shape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" name="Notes Placeholder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12 min. Both paths are fine — summarize-everything or explore-first. Circulate and ask what they still don't trust.</a:t>
            </a:r>
            <a:endParaRPr lang="en-US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" name="Shape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" name="Notes Placeholder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6 min. A learner who can name what they'd still verify has succeeded, even without a polished summary.</a:t>
            </a:r>
            <a:endParaRPr lang="en-US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" name="Shape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" name="Notes Placeholder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30 sec transition. Say explicitly: now we let AI do more of the driving.</a:t>
            </a:r>
            <a:endParaRPr lang="en-US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" name="Shape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" name="Notes Placeholder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 min. Point out the version history line — v2's mistake is the exact trap built into this quarter's data too.</a:t>
            </a:r>
            <a:endParaRPr lang="en-US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" name="Shape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" name="Notes Placeholder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9 min. Circulate for tech troubleshooting only — let the traps surface on their own.</a:t>
            </a:r>
            <a:endParaRPr lang="en-US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" name="Shape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" name="Notes Placeholder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8 min. Full trap detail: the OLD tab, 2025 stated as estimates not actuals, CAD/USD mixing, the Sandra risk, TBD targets. Close with: revise your prompt, not the output, and regenerate.</a:t>
            </a:r>
            <a:endParaRPr lang="en-US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" name="Shape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" name="Notes Placeholder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30 sec transition into the concept + vocabulary beat.</a:t>
            </a:r>
            <a:endParaRPr lang="en-US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" name="Shape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" name="Notes Placeholder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5 min. This is the explicit naming moment — say the quote plainly.</a:t>
            </a:r>
            <a:endParaRPr lang="en-US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" name="Shape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" name="Notes Placeholder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5 min. Connects to the Prompting module's foundations content.</a:t>
            </a:r>
            <a:endParaRPr lang="en-US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" name="Shape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" name="Notes Placeholder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3 min. Recap only, nothing new here.</a:t>
            </a:r>
            <a:endParaRPr lang="en-US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" name="Shape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" name="Notes Placeholder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30 sec transition into sensemaking.</a:t>
            </a:r>
            <a:endParaRPr lang="en-US"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" name="Shape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" name="Notes Placeholder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4 min: ~2 min think/pair, ~2 min share out. Push for specific recurring tasks, not abstractions.</a:t>
            </a:r>
            <a:endParaRPr lang="en-US"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" name="Shape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" name="Notes Placeholder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4 min — a sketch, not a full redo. A full hands-on follow-up is a good fit for office hours.</a:t>
            </a:r>
            <a:endParaRPr lang="en-US"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" name="Shape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" name="Notes Placeholder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4 min. Point people to where these skeletons live for later reference.</a:t>
            </a:r>
            <a:endParaRPr lang="en-US"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" name="Shape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" name="Notes Placeholder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Thank the room and point to the companion materials for lasting reference.</a:t>
            </a:r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2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1E62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8046720" y="-2743200"/>
            <a:ext cx="7315200" cy="7315200"/>
          </a:xfrm>
          <a:prstGeom prst="ellipse">
            <a:avLst/>
          </a:prstGeom>
          <a:solidFill>
            <a:srgbClr val="0013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3"/>
          <p:cNvSpPr/>
          <p:nvPr/>
        </p:nvSpPr>
        <p:spPr>
          <a:xfrm>
            <a:off x="822960" y="685800"/>
            <a:ext cx="292608" cy="292608"/>
          </a:xfrm>
          <a:prstGeom prst="ellipse">
            <a:avLst/>
          </a:prstGeom>
          <a:solidFill>
            <a:srgbClr val="A5228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3"/>
          <p:cNvSpPr/>
          <p:nvPr/>
        </p:nvSpPr>
        <p:spPr>
          <a:xfrm>
            <a:off x="822960" y="685800"/>
            <a:ext cx="29260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3"/>
          <p:cNvSpPr/>
          <p:nvPr/>
        </p:nvSpPr>
        <p:spPr>
          <a:xfrm>
            <a:off x="1234440" y="621792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CHICAGO TECH CIRCLE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3"/>
          <p:cNvSpPr/>
          <p:nvPr/>
        </p:nvSpPr>
        <p:spPr>
          <a:xfrm>
            <a:off x="822960" y="2331720"/>
            <a:ext cx="7315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5228E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A5228E"/>
                </a:solidFill>
                <a:latin typeface="Calibri"/>
                <a:ea typeface="Calibri"/>
                <a:cs typeface="Calibri"/>
                <a:sym typeface="Calibri"/>
              </a:rPr>
              <a:t>MODULE 2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3"/>
          <p:cNvSpPr/>
          <p:nvPr/>
        </p:nvSpPr>
        <p:spPr>
          <a:xfrm>
            <a:off x="822960" y="2788920"/>
            <a:ext cx="1005840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Cambria"/>
              <a:buNone/>
            </a:pPr>
            <a:r>
              <a:rPr b="1" i="0" lang="en-US" sz="48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Scattered Sources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3"/>
          <p:cNvSpPr/>
          <p:nvPr/>
        </p:nvSpPr>
        <p:spPr>
          <a:xfrm>
            <a:off x="822960" y="3794760"/>
            <a:ext cx="100584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4EE"/>
              </a:buClr>
              <a:buSzPts val="2600"/>
              <a:buFont typeface="Cambria"/>
              <a:buNone/>
            </a:pPr>
            <a:r>
              <a:rPr b="0" i="1" lang="en-US" sz="2600" u="none" cap="none" strike="noStrike">
                <a:solidFill>
                  <a:srgbClr val="C9D4EE"/>
                </a:solidFill>
                <a:latin typeface="Cambria"/>
                <a:ea typeface="Cambria"/>
                <a:cs typeface="Cambria"/>
                <a:sym typeface="Cambria"/>
              </a:rPr>
              <a:t>From Data Dump to Decision-Ready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3"/>
          <p:cNvSpPr/>
          <p:nvPr/>
        </p:nvSpPr>
        <p:spPr>
          <a:xfrm>
            <a:off x="822960" y="4526280"/>
            <a:ext cx="8686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EB9D6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AEB9D6"/>
                </a:solidFill>
                <a:latin typeface="Calibri"/>
                <a:ea typeface="Calibri"/>
                <a:cs typeface="Calibri"/>
                <a:sym typeface="Calibri"/>
              </a:rPr>
              <a:t>Turning a messy folder of spreadsheets into a report you can defend, with AI as assistant or analyst.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3"/>
          <p:cNvSpPr/>
          <p:nvPr/>
        </p:nvSpPr>
        <p:spPr>
          <a:xfrm>
            <a:off x="822960" y="5806440"/>
            <a:ext cx="1417320" cy="502920"/>
          </a:xfrm>
          <a:prstGeom prst="roundRect">
            <a:avLst>
              <a:gd fmla="val 50909" name="adj"/>
            </a:avLst>
          </a:prstGeom>
          <a:solidFill>
            <a:srgbClr val="A5228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" name="Google Shape;25;p3"/>
          <p:cNvSpPr/>
          <p:nvPr/>
        </p:nvSpPr>
        <p:spPr>
          <a:xfrm>
            <a:off x="822960" y="5806440"/>
            <a:ext cx="14173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90 MINUTES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3"/>
          <p:cNvSpPr/>
          <p:nvPr/>
        </p:nvSpPr>
        <p:spPr>
          <a:xfrm>
            <a:off x="2560320" y="5806440"/>
            <a:ext cx="1463040" cy="502920"/>
          </a:xfrm>
          <a:prstGeom prst="roundRect">
            <a:avLst>
              <a:gd fmla="val 50909" name="adj"/>
            </a:avLst>
          </a:prstGeom>
          <a:noFill/>
          <a:ln cap="flat" cmpd="sng" w="15875">
            <a:solidFill>
              <a:srgbClr val="3B4E8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3"/>
          <p:cNvSpPr/>
          <p:nvPr/>
        </p:nvSpPr>
        <p:spPr>
          <a:xfrm>
            <a:off x="2560320" y="5806440"/>
            <a:ext cx="14630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LEVEL 1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License"/>
          <p:cNvSpPr/>
          <p:nvPr/>
        </p:nvSpPr>
        <p:spPr>
          <a:xfrm>
            <a:off x="9843640" y="6528816"/>
            <a:ext cx="1799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CC BY-NC-SA 4.0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C"/>
        </a:solidFill>
      </p:bgPr>
    </p:bg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4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5228E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A5228E"/>
                </a:solidFill>
                <a:latin typeface="Calibri"/>
                <a:ea typeface="Calibri"/>
                <a:cs typeface="Calibri"/>
                <a:sym typeface="Calibri"/>
              </a:rPr>
              <a:t>KICKOFF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4"/>
          <p:cNvSpPr/>
          <p:nvPr/>
        </p:nvSpPr>
        <p:spPr>
          <a:xfrm>
            <a:off x="548640" y="713232"/>
            <a:ext cx="107899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1E62"/>
              </a:buClr>
              <a:buSzPts val="2800"/>
              <a:buFont typeface="Cambria"/>
              <a:buNone/>
            </a:pPr>
            <a:r>
              <a:rPr b="1" i="0" lang="en-US" sz="2800" u="none" cap="none" strike="noStrike">
                <a:solidFill>
                  <a:srgbClr val="001E62"/>
                </a:solidFill>
                <a:latin typeface="Cambria"/>
                <a:ea typeface="Cambria"/>
                <a:cs typeface="Cambria"/>
                <a:sym typeface="Cambria"/>
              </a:rPr>
              <a:t>By the end of today, you’ll be able to …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4"/>
          <p:cNvSpPr/>
          <p:nvPr/>
        </p:nvSpPr>
        <p:spPr>
          <a:xfrm>
            <a:off x="548640" y="6528816"/>
            <a:ext cx="6400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478"/>
                </a:solidFill>
                <a:latin typeface="Calibri"/>
                <a:ea typeface="Calibri"/>
                <a:cs typeface="Calibri"/>
                <a:sym typeface="Calibri"/>
              </a:rPr>
              <a:t>MODULE 2 · SCATTERED SOURCES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4"/>
          <p:cNvSpPr/>
          <p:nvPr/>
        </p:nvSpPr>
        <p:spPr>
          <a:xfrm>
            <a:off x="640080" y="1783080"/>
            <a:ext cx="566928" cy="566928"/>
          </a:xfrm>
          <a:prstGeom prst="ellipse">
            <a:avLst/>
          </a:prstGeom>
          <a:solidFill>
            <a:srgbClr val="001E6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4"/>
          <p:cNvSpPr/>
          <p:nvPr/>
        </p:nvSpPr>
        <p:spPr>
          <a:xfrm>
            <a:off x="640080" y="1783080"/>
            <a:ext cx="566928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mbria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1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4"/>
          <p:cNvSpPr/>
          <p:nvPr/>
        </p:nvSpPr>
        <p:spPr>
          <a:xfrm>
            <a:off x="1417320" y="1728216"/>
            <a:ext cx="96926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E2B"/>
              </a:buClr>
              <a:buSzPts val="1900"/>
              <a:buFont typeface="Cambria"/>
              <a:buNone/>
            </a:pPr>
            <a:r>
              <a:rPr b="1" i="0" lang="en-US" sz="1900" u="none" cap="none" strike="noStrike">
                <a:solidFill>
                  <a:srgbClr val="1C1E2B"/>
                </a:solidFill>
                <a:latin typeface="Cambria"/>
                <a:ea typeface="Cambria"/>
                <a:cs typeface="Cambria"/>
                <a:sym typeface="Cambria"/>
              </a:rPr>
              <a:t>Get oriented before you generate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4"/>
          <p:cNvSpPr/>
          <p:nvPr/>
        </p:nvSpPr>
        <p:spPr>
          <a:xfrm>
            <a:off x="1417320" y="2148840"/>
            <a:ext cx="96926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B6478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5B6478"/>
                </a:solidFill>
                <a:latin typeface="Calibri"/>
                <a:ea typeface="Calibri"/>
                <a:cs typeface="Calibri"/>
                <a:sym typeface="Calibri"/>
              </a:rPr>
              <a:t>use AI to make sense of messy, undocumented data before asking it to produce anything.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4"/>
          <p:cNvSpPr/>
          <p:nvPr/>
        </p:nvSpPr>
        <p:spPr>
          <a:xfrm>
            <a:off x="640080" y="3200400"/>
            <a:ext cx="566928" cy="566928"/>
          </a:xfrm>
          <a:prstGeom prst="ellipse">
            <a:avLst/>
          </a:prstGeom>
          <a:solidFill>
            <a:srgbClr val="001E6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4"/>
          <p:cNvSpPr/>
          <p:nvPr/>
        </p:nvSpPr>
        <p:spPr>
          <a:xfrm>
            <a:off x="640080" y="3200400"/>
            <a:ext cx="566928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mbria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2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4"/>
          <p:cNvSpPr/>
          <p:nvPr/>
        </p:nvSpPr>
        <p:spPr>
          <a:xfrm>
            <a:off x="1417320" y="3145536"/>
            <a:ext cx="96926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E2B"/>
              </a:buClr>
              <a:buSzPts val="1900"/>
              <a:buFont typeface="Cambria"/>
              <a:buNone/>
            </a:pPr>
            <a:r>
              <a:rPr b="1" i="0" lang="en-US" sz="1900" u="none" cap="none" strike="noStrike">
                <a:solidFill>
                  <a:srgbClr val="1C1E2B"/>
                </a:solidFill>
                <a:latin typeface="Cambria"/>
                <a:ea typeface="Cambria"/>
                <a:cs typeface="Cambria"/>
                <a:sym typeface="Cambria"/>
              </a:rPr>
              <a:t>Hand AI more autonomy, deliberately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4"/>
          <p:cNvSpPr/>
          <p:nvPr/>
        </p:nvSpPr>
        <p:spPr>
          <a:xfrm>
            <a:off x="1417320" y="3566160"/>
            <a:ext cx="96926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B6478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5B6478"/>
                </a:solidFill>
                <a:latin typeface="Calibri"/>
                <a:ea typeface="Calibri"/>
                <a:cs typeface="Calibri"/>
                <a:sym typeface="Calibri"/>
              </a:rPr>
              <a:t>know when you’re asking AI to assist vs. to analyze, and verify accordingly.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4"/>
          <p:cNvSpPr/>
          <p:nvPr/>
        </p:nvSpPr>
        <p:spPr>
          <a:xfrm>
            <a:off x="640080" y="4617720"/>
            <a:ext cx="566928" cy="566928"/>
          </a:xfrm>
          <a:prstGeom prst="ellipse">
            <a:avLst/>
          </a:prstGeom>
          <a:solidFill>
            <a:srgbClr val="001E6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4"/>
          <p:cNvSpPr/>
          <p:nvPr/>
        </p:nvSpPr>
        <p:spPr>
          <a:xfrm>
            <a:off x="640080" y="4617720"/>
            <a:ext cx="566928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mbria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3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4"/>
          <p:cNvSpPr/>
          <p:nvPr/>
        </p:nvSpPr>
        <p:spPr>
          <a:xfrm>
            <a:off x="1417320" y="4562856"/>
            <a:ext cx="96926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E2B"/>
              </a:buClr>
              <a:buSzPts val="1900"/>
              <a:buFont typeface="Cambria"/>
              <a:buNone/>
            </a:pPr>
            <a:r>
              <a:rPr b="1" i="0" lang="en-US" sz="1900" u="none" cap="none" strike="noStrike">
                <a:solidFill>
                  <a:srgbClr val="1C1E2B"/>
                </a:solidFill>
                <a:latin typeface="Cambria"/>
                <a:ea typeface="Cambria"/>
                <a:cs typeface="Cambria"/>
                <a:sym typeface="Cambria"/>
              </a:rPr>
              <a:t>Catch what AI gets wrong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4"/>
          <p:cNvSpPr/>
          <p:nvPr/>
        </p:nvSpPr>
        <p:spPr>
          <a:xfrm>
            <a:off x="1417320" y="4983480"/>
            <a:ext cx="96926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B6478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5B6478"/>
                </a:solidFill>
                <a:latin typeface="Calibri"/>
                <a:ea typeface="Calibri"/>
                <a:cs typeface="Calibri"/>
                <a:sym typeface="Calibri"/>
              </a:rPr>
              <a:t>with real spreadsheets that contradict themselves — the kind your actual job produces.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License"/>
          <p:cNvSpPr/>
          <p:nvPr/>
        </p:nvSpPr>
        <p:spPr>
          <a:xfrm>
            <a:off x="9843640" y="6528816"/>
            <a:ext cx="1799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B6478"/>
                </a:solidFill>
                <a:latin typeface="Calibri"/>
                <a:ea typeface="Calibri"/>
                <a:cs typeface="Calibri"/>
                <a:sym typeface="Calibri"/>
              </a:rPr>
              <a:t>CC BY-NC-SA 4.0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C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5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5228E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A5228E"/>
                </a:solidFill>
                <a:latin typeface="Calibri"/>
                <a:ea typeface="Calibri"/>
                <a:cs typeface="Calibri"/>
                <a:sym typeface="Calibri"/>
              </a:rPr>
              <a:t>KICKOFF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5"/>
          <p:cNvSpPr/>
          <p:nvPr/>
        </p:nvSpPr>
        <p:spPr>
          <a:xfrm>
            <a:off x="548640" y="713232"/>
            <a:ext cx="107899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1E62"/>
              </a:buClr>
              <a:buSzPts val="2800"/>
              <a:buFont typeface="Cambria"/>
              <a:buNone/>
            </a:pPr>
            <a:r>
              <a:rPr b="1" i="0" lang="en-US" sz="2800" u="none" cap="none" strike="noStrike">
                <a:solidFill>
                  <a:srgbClr val="001E62"/>
                </a:solidFill>
                <a:latin typeface="Cambria"/>
                <a:ea typeface="Cambria"/>
                <a:cs typeface="Cambria"/>
                <a:sym typeface="Cambria"/>
              </a:rPr>
              <a:t>How we’ll spend the next 90 minutes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5"/>
          <p:cNvSpPr/>
          <p:nvPr/>
        </p:nvSpPr>
        <p:spPr>
          <a:xfrm>
            <a:off x="548640" y="6528816"/>
            <a:ext cx="6400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478"/>
                </a:solidFill>
                <a:latin typeface="Calibri"/>
                <a:ea typeface="Calibri"/>
                <a:cs typeface="Calibri"/>
                <a:sym typeface="Calibri"/>
              </a:rPr>
              <a:t>MODULE 2 · SCATTERED SOURCES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6" name="Google Shape;56;p5"/>
          <p:cNvCxnSpPr/>
          <p:nvPr/>
        </p:nvCxnSpPr>
        <p:spPr>
          <a:xfrm>
            <a:off x="1440180" y="2720340"/>
            <a:ext cx="9326880" cy="0"/>
          </a:xfrm>
          <a:prstGeom prst="straightConnector1">
            <a:avLst/>
          </a:prstGeom>
          <a:noFill/>
          <a:ln cap="flat" cmpd="sng" w="38100">
            <a:solidFill>
              <a:srgbClr val="E9EDF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7" name="Google Shape;57;p5"/>
          <p:cNvSpPr/>
          <p:nvPr/>
        </p:nvSpPr>
        <p:spPr>
          <a:xfrm>
            <a:off x="1051560" y="2331720"/>
            <a:ext cx="777240" cy="777240"/>
          </a:xfrm>
          <a:prstGeom prst="ellipse">
            <a:avLst/>
          </a:prstGeom>
          <a:solidFill>
            <a:srgbClr val="001E6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5"/>
          <p:cNvSpPr/>
          <p:nvPr/>
        </p:nvSpPr>
        <p:spPr>
          <a:xfrm>
            <a:off x="1051560" y="2331720"/>
            <a:ext cx="7772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mbria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1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5"/>
          <p:cNvSpPr/>
          <p:nvPr/>
        </p:nvSpPr>
        <p:spPr>
          <a:xfrm>
            <a:off x="548640" y="3273552"/>
            <a:ext cx="1783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C1E2B"/>
              </a:buClr>
              <a:buSzPts val="1350"/>
              <a:buFont typeface="Calibri"/>
              <a:buNone/>
            </a:pPr>
            <a:r>
              <a:rPr b="1" lang="en-US" sz="1350">
                <a:solidFill>
                  <a:srgbClr val="1C1E2B"/>
                </a:solidFill>
                <a:latin typeface="Calibri"/>
                <a:ea typeface="Calibri"/>
                <a:cs typeface="Calibri"/>
                <a:sym typeface="Calibri"/>
              </a:rPr>
              <a:t>Overview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5"/>
          <p:cNvSpPr/>
          <p:nvPr/>
        </p:nvSpPr>
        <p:spPr>
          <a:xfrm>
            <a:off x="548640" y="3950208"/>
            <a:ext cx="17830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647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5B6478"/>
                </a:solidFill>
                <a:latin typeface="Calibri"/>
                <a:ea typeface="Calibri"/>
                <a:cs typeface="Calibri"/>
                <a:sym typeface="Calibri"/>
              </a:rPr>
              <a:t>5 min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5"/>
          <p:cNvSpPr/>
          <p:nvPr/>
        </p:nvSpPr>
        <p:spPr>
          <a:xfrm>
            <a:off x="3383280" y="2331720"/>
            <a:ext cx="777240" cy="777240"/>
          </a:xfrm>
          <a:prstGeom prst="ellipse">
            <a:avLst/>
          </a:prstGeom>
          <a:solidFill>
            <a:srgbClr val="001E6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5"/>
          <p:cNvSpPr/>
          <p:nvPr/>
        </p:nvSpPr>
        <p:spPr>
          <a:xfrm>
            <a:off x="3383280" y="2331720"/>
            <a:ext cx="7772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mbria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2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5"/>
          <p:cNvSpPr/>
          <p:nvPr/>
        </p:nvSpPr>
        <p:spPr>
          <a:xfrm>
            <a:off x="2880360" y="3273552"/>
            <a:ext cx="1783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C1E2B"/>
              </a:buClr>
              <a:buSzPts val="1350"/>
              <a:buFont typeface="Calibri"/>
              <a:buNone/>
            </a:pPr>
            <a:r>
              <a:rPr b="1" lang="en-US" sz="1350">
                <a:solidFill>
                  <a:srgbClr val="1C1E2B"/>
                </a:solidFill>
                <a:latin typeface="Calibri"/>
                <a:ea typeface="Calibri"/>
                <a:cs typeface="Calibri"/>
                <a:sym typeface="Calibri"/>
              </a:rPr>
              <a:t>The Scenario</a:t>
            </a:r>
            <a:endParaRPr b="1" sz="1350">
              <a:solidFill>
                <a:srgbClr val="1C1E2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5"/>
          <p:cNvSpPr/>
          <p:nvPr/>
        </p:nvSpPr>
        <p:spPr>
          <a:xfrm>
            <a:off x="2880360" y="3950208"/>
            <a:ext cx="17830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647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5B6478"/>
                </a:solidFill>
                <a:latin typeface="Calibri"/>
                <a:ea typeface="Calibri"/>
                <a:cs typeface="Calibri"/>
                <a:sym typeface="Calibri"/>
              </a:rPr>
              <a:t>12 min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5"/>
          <p:cNvSpPr/>
          <p:nvPr/>
        </p:nvSpPr>
        <p:spPr>
          <a:xfrm>
            <a:off x="5715000" y="2331720"/>
            <a:ext cx="777240" cy="777240"/>
          </a:xfrm>
          <a:prstGeom prst="ellipse">
            <a:avLst/>
          </a:prstGeom>
          <a:solidFill>
            <a:srgbClr val="A5228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5"/>
          <p:cNvSpPr/>
          <p:nvPr/>
        </p:nvSpPr>
        <p:spPr>
          <a:xfrm>
            <a:off x="5715000" y="2331720"/>
            <a:ext cx="7772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mbria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3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5"/>
          <p:cNvSpPr/>
          <p:nvPr/>
        </p:nvSpPr>
        <p:spPr>
          <a:xfrm>
            <a:off x="5212080" y="3273552"/>
            <a:ext cx="1783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C1E2B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1C1E2B"/>
                </a:solidFill>
                <a:latin typeface="Calibri"/>
                <a:ea typeface="Calibri"/>
                <a:cs typeface="Calibri"/>
                <a:sym typeface="Calibri"/>
              </a:rPr>
              <a:t>Two Beats,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C1E2B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1C1E2B"/>
                </a:solidFill>
                <a:latin typeface="Calibri"/>
                <a:ea typeface="Calibri"/>
                <a:cs typeface="Calibri"/>
                <a:sym typeface="Calibri"/>
              </a:rPr>
              <a:t>Same Folder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5"/>
          <p:cNvSpPr/>
          <p:nvPr/>
        </p:nvSpPr>
        <p:spPr>
          <a:xfrm>
            <a:off x="5212080" y="3950208"/>
            <a:ext cx="17830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C1C6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7C1C6B"/>
                </a:solidFill>
                <a:latin typeface="Calibri"/>
                <a:ea typeface="Calibri"/>
                <a:cs typeface="Calibri"/>
                <a:sym typeface="Calibri"/>
              </a:rPr>
              <a:t>44 min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5"/>
          <p:cNvSpPr/>
          <p:nvPr/>
        </p:nvSpPr>
        <p:spPr>
          <a:xfrm>
            <a:off x="8046720" y="2331720"/>
            <a:ext cx="777240" cy="777240"/>
          </a:xfrm>
          <a:prstGeom prst="ellipse">
            <a:avLst/>
          </a:prstGeom>
          <a:solidFill>
            <a:srgbClr val="001E6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5"/>
          <p:cNvSpPr/>
          <p:nvPr/>
        </p:nvSpPr>
        <p:spPr>
          <a:xfrm>
            <a:off x="8046720" y="2331720"/>
            <a:ext cx="7772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mbria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4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5"/>
          <p:cNvSpPr/>
          <p:nvPr/>
        </p:nvSpPr>
        <p:spPr>
          <a:xfrm>
            <a:off x="7543800" y="3273552"/>
            <a:ext cx="1783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C1E2B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1C1E2B"/>
                </a:solidFill>
                <a:latin typeface="Calibri"/>
                <a:ea typeface="Calibri"/>
                <a:cs typeface="Calibri"/>
                <a:sym typeface="Calibri"/>
              </a:rPr>
              <a:t>Naming the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C1E2B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1C1E2B"/>
                </a:solidFill>
                <a:latin typeface="Calibri"/>
                <a:ea typeface="Calibri"/>
                <a:cs typeface="Calibri"/>
                <a:sym typeface="Calibri"/>
              </a:rPr>
              <a:t>Pattern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5"/>
          <p:cNvSpPr/>
          <p:nvPr/>
        </p:nvSpPr>
        <p:spPr>
          <a:xfrm>
            <a:off x="7543800" y="3950208"/>
            <a:ext cx="17830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647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5B6478"/>
                </a:solidFill>
                <a:latin typeface="Calibri"/>
                <a:ea typeface="Calibri"/>
                <a:cs typeface="Calibri"/>
                <a:sym typeface="Calibri"/>
              </a:rPr>
              <a:t>14 min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5"/>
          <p:cNvSpPr/>
          <p:nvPr/>
        </p:nvSpPr>
        <p:spPr>
          <a:xfrm>
            <a:off x="10378440" y="2331720"/>
            <a:ext cx="777240" cy="777240"/>
          </a:xfrm>
          <a:prstGeom prst="ellipse">
            <a:avLst/>
          </a:prstGeom>
          <a:solidFill>
            <a:srgbClr val="001E6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5"/>
          <p:cNvSpPr/>
          <p:nvPr/>
        </p:nvSpPr>
        <p:spPr>
          <a:xfrm>
            <a:off x="10378440" y="2331720"/>
            <a:ext cx="7772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mbria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5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5"/>
          <p:cNvSpPr/>
          <p:nvPr/>
        </p:nvSpPr>
        <p:spPr>
          <a:xfrm>
            <a:off x="9875520" y="3273552"/>
            <a:ext cx="1783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C1E2B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1C1E2B"/>
                </a:solidFill>
                <a:latin typeface="Calibri"/>
                <a:ea typeface="Calibri"/>
                <a:cs typeface="Calibri"/>
                <a:sym typeface="Calibri"/>
              </a:rPr>
              <a:t>Bring It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C1E2B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1C1E2B"/>
                </a:solidFill>
                <a:latin typeface="Calibri"/>
                <a:ea typeface="Calibri"/>
                <a:cs typeface="Calibri"/>
                <a:sym typeface="Calibri"/>
              </a:rPr>
              <a:t>Home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5"/>
          <p:cNvSpPr/>
          <p:nvPr/>
        </p:nvSpPr>
        <p:spPr>
          <a:xfrm>
            <a:off x="9875520" y="3950208"/>
            <a:ext cx="17830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647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5B6478"/>
                </a:solidFill>
                <a:latin typeface="Calibri"/>
                <a:ea typeface="Calibri"/>
                <a:cs typeface="Calibri"/>
                <a:sym typeface="Calibri"/>
              </a:rPr>
              <a:t>15 min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5"/>
          <p:cNvSpPr/>
          <p:nvPr/>
        </p:nvSpPr>
        <p:spPr>
          <a:xfrm>
            <a:off x="548640" y="4892040"/>
            <a:ext cx="11064240" cy="1051560"/>
          </a:xfrm>
          <a:prstGeom prst="roundRect">
            <a:avLst>
              <a:gd fmla="val 8696" name="adj"/>
            </a:avLst>
          </a:prstGeom>
          <a:solidFill>
            <a:srgbClr val="F4E7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5"/>
          <p:cNvSpPr/>
          <p:nvPr/>
        </p:nvSpPr>
        <p:spPr>
          <a:xfrm>
            <a:off x="868680" y="4892040"/>
            <a:ext cx="1042416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7C1C6B"/>
              </a:buClr>
              <a:buSzPts val="1500"/>
              <a:buFont typeface="Cambria"/>
              <a:buNone/>
            </a:pPr>
            <a:r>
              <a:rPr b="0" i="1" lang="en-US" sz="1500" u="none" cap="none" strike="noStrike">
                <a:solidFill>
                  <a:srgbClr val="7C1C6B"/>
                </a:solidFill>
                <a:latin typeface="Cambria"/>
                <a:ea typeface="Cambria"/>
                <a:cs typeface="Cambria"/>
                <a:sym typeface="Cambria"/>
              </a:rPr>
              <a:t>Almost half of today is hands-on: you’ll work the same messy folder twice — once as AI’s assistant, once letting it analyze — before we name what you did.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License"/>
          <p:cNvSpPr/>
          <p:nvPr/>
        </p:nvSpPr>
        <p:spPr>
          <a:xfrm>
            <a:off x="9843640" y="6528816"/>
            <a:ext cx="1799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B6478"/>
                </a:solidFill>
                <a:latin typeface="Calibri"/>
                <a:ea typeface="Calibri"/>
                <a:cs typeface="Calibri"/>
                <a:sym typeface="Calibri"/>
              </a:rPr>
              <a:t>CC BY-NC-SA 4.0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1E62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6"/>
          <p:cNvSpPr/>
          <p:nvPr/>
        </p:nvSpPr>
        <p:spPr>
          <a:xfrm>
            <a:off x="8961120" y="-2011680"/>
            <a:ext cx="5943600" cy="5943600"/>
          </a:xfrm>
          <a:prstGeom prst="ellipse">
            <a:avLst/>
          </a:prstGeom>
          <a:solidFill>
            <a:srgbClr val="0013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6"/>
          <p:cNvSpPr/>
          <p:nvPr/>
        </p:nvSpPr>
        <p:spPr>
          <a:xfrm>
            <a:off x="-2560320" y="4572000"/>
            <a:ext cx="4572000" cy="4572000"/>
          </a:xfrm>
          <a:prstGeom prst="ellipse">
            <a:avLst/>
          </a:prstGeom>
          <a:solidFill>
            <a:srgbClr val="0013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6"/>
          <p:cNvSpPr/>
          <p:nvPr/>
        </p:nvSpPr>
        <p:spPr>
          <a:xfrm>
            <a:off x="822960" y="2331720"/>
            <a:ext cx="10515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5228E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A5228E"/>
                </a:solidFill>
                <a:latin typeface="Calibri"/>
                <a:ea typeface="Calibri"/>
                <a:cs typeface="Calibri"/>
                <a:sym typeface="Calibri"/>
              </a:rPr>
              <a:t>THE SCENARIO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6"/>
          <p:cNvSpPr/>
          <p:nvPr/>
        </p:nvSpPr>
        <p:spPr>
          <a:xfrm>
            <a:off x="822960" y="2743200"/>
            <a:ext cx="10515600" cy="1554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mbria"/>
              <a:buNone/>
            </a:pPr>
            <a:r>
              <a:rPr b="1" i="0" lang="en-US" sz="4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You’ve inherited someone else’s spreadsheet.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mbria"/>
              <a:buNone/>
            </a:pPr>
            <a:r>
              <a:rPr b="1" i="0" lang="en-US" sz="4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The Director wants numbers by 2pm.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6"/>
          <p:cNvSpPr/>
          <p:nvPr/>
        </p:nvSpPr>
        <p:spPr>
          <a:xfrm>
            <a:off x="822960" y="4251960"/>
            <a:ext cx="96012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AEB9D6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AEB9D6"/>
                </a:solidFill>
                <a:latin typeface="Calibri"/>
                <a:ea typeface="Calibri"/>
                <a:cs typeface="Calibri"/>
                <a:sym typeface="Calibri"/>
              </a:rPr>
              <a:t>No documentation. No handoff. Twelve tabs, and you don’t know which ones matter.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6"/>
          <p:cNvSpPr/>
          <p:nvPr/>
        </p:nvSpPr>
        <p:spPr>
          <a:xfrm>
            <a:off x="548640" y="6528816"/>
            <a:ext cx="6400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EB9D6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AEB9D6"/>
                </a:solidFill>
                <a:latin typeface="Calibri"/>
                <a:ea typeface="Calibri"/>
                <a:cs typeface="Calibri"/>
                <a:sym typeface="Calibri"/>
              </a:rPr>
              <a:t>MODULE 2 · SCATTERED SOURCES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License"/>
          <p:cNvSpPr/>
          <p:nvPr/>
        </p:nvSpPr>
        <p:spPr>
          <a:xfrm>
            <a:off x="9843640" y="6528816"/>
            <a:ext cx="1799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CC BY-NC-SA 4.0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C"/>
        </a:solidFill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7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5228E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A5228E"/>
                </a:solidFill>
                <a:latin typeface="Calibri"/>
                <a:ea typeface="Calibri"/>
                <a:cs typeface="Calibri"/>
                <a:sym typeface="Calibri"/>
              </a:rPr>
              <a:t>THE SCENARIO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7"/>
          <p:cNvSpPr/>
          <p:nvPr/>
        </p:nvSpPr>
        <p:spPr>
          <a:xfrm>
            <a:off x="548640" y="713232"/>
            <a:ext cx="107899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1E62"/>
              </a:buClr>
              <a:buSzPts val="2800"/>
              <a:buFont typeface="Cambria"/>
              <a:buNone/>
            </a:pPr>
            <a:r>
              <a:rPr b="1" i="0" lang="en-US" sz="2800" u="none" cap="none" strike="noStrike">
                <a:solidFill>
                  <a:srgbClr val="001E62"/>
                </a:solidFill>
                <a:latin typeface="Cambria"/>
                <a:ea typeface="Cambria"/>
                <a:cs typeface="Cambria"/>
                <a:sym typeface="Cambria"/>
              </a:rPr>
              <a:t>Pinnacle Peak Home Services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7"/>
          <p:cNvSpPr/>
          <p:nvPr/>
        </p:nvSpPr>
        <p:spPr>
          <a:xfrm>
            <a:off x="548640" y="6528816"/>
            <a:ext cx="6400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478"/>
                </a:solidFill>
                <a:latin typeface="Calibri"/>
                <a:ea typeface="Calibri"/>
                <a:cs typeface="Calibri"/>
                <a:sym typeface="Calibri"/>
              </a:rPr>
              <a:t>MODULE 2 · SCATTERED SOURCES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7"/>
          <p:cNvSpPr/>
          <p:nvPr/>
        </p:nvSpPr>
        <p:spPr>
          <a:xfrm>
            <a:off x="548640" y="1737360"/>
            <a:ext cx="6492240" cy="1874520"/>
          </a:xfrm>
          <a:prstGeom prst="roundRect">
            <a:avLst>
              <a:gd fmla="val 3902" name="adj"/>
            </a:avLst>
          </a:prstGeom>
          <a:solidFill>
            <a:srgbClr val="E9ED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7"/>
          <p:cNvSpPr/>
          <p:nvPr/>
        </p:nvSpPr>
        <p:spPr>
          <a:xfrm>
            <a:off x="868680" y="1920240"/>
            <a:ext cx="58521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1E62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01E62"/>
                </a:solidFill>
                <a:latin typeface="Calibri"/>
                <a:ea typeface="Calibri"/>
                <a:cs typeface="Calibri"/>
                <a:sym typeface="Calibri"/>
              </a:rPr>
              <a:t>MESSAGE FROM YOUR BOSS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7"/>
          <p:cNvSpPr/>
          <p:nvPr/>
        </p:nvSpPr>
        <p:spPr>
          <a:xfrm>
            <a:off x="868680" y="2286000"/>
            <a:ext cx="585216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C1E2B"/>
              </a:buClr>
              <a:buSzPts val="1800"/>
              <a:buFont typeface="Cambria"/>
              <a:buNone/>
            </a:pPr>
            <a:r>
              <a:rPr b="0" i="1" lang="en-US" sz="1800" u="none" cap="none" strike="noStrike">
                <a:solidFill>
                  <a:srgbClr val="1C1E2B"/>
                </a:solidFill>
                <a:latin typeface="Cambria"/>
                <a:ea typeface="Cambria"/>
                <a:cs typeface="Cambria"/>
                <a:sym typeface="Cambria"/>
              </a:rPr>
              <a:t>“Hey — I’ve got a meeting with the Director at 4, they want to know how we’re doing this quarter vs. expectations, in numbers. Can you put something together by 2pm? Here’s a folder of data from last year and this year. Figure it out.”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7"/>
          <p:cNvSpPr/>
          <p:nvPr/>
        </p:nvSpPr>
        <p:spPr>
          <a:xfrm>
            <a:off x="7360920" y="1865376"/>
            <a:ext cx="100584" cy="100584"/>
          </a:xfrm>
          <a:prstGeom prst="ellipse">
            <a:avLst/>
          </a:prstGeom>
          <a:solidFill>
            <a:srgbClr val="A5228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7"/>
          <p:cNvSpPr/>
          <p:nvPr/>
        </p:nvSpPr>
        <p:spPr>
          <a:xfrm>
            <a:off x="7589520" y="1709928"/>
            <a:ext cx="40690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C1E2B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1C1E2B"/>
                </a:solidFill>
                <a:latin typeface="Calibri"/>
                <a:ea typeface="Calibri"/>
                <a:cs typeface="Calibri"/>
                <a:sym typeface="Calibri"/>
              </a:rPr>
              <a:t>You’ve never seen this spreadsheet before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7"/>
          <p:cNvSpPr/>
          <p:nvPr/>
        </p:nvSpPr>
        <p:spPr>
          <a:xfrm>
            <a:off x="7360920" y="2523744"/>
            <a:ext cx="100584" cy="100584"/>
          </a:xfrm>
          <a:prstGeom prst="ellipse">
            <a:avLst/>
          </a:prstGeom>
          <a:solidFill>
            <a:srgbClr val="A5228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7"/>
          <p:cNvSpPr/>
          <p:nvPr/>
        </p:nvSpPr>
        <p:spPr>
          <a:xfrm>
            <a:off x="7589520" y="2368296"/>
            <a:ext cx="40690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C1E2B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1C1E2B"/>
                </a:solidFill>
                <a:latin typeface="Calibri"/>
                <a:ea typeface="Calibri"/>
                <a:cs typeface="Calibri"/>
                <a:sym typeface="Calibri"/>
              </a:rPr>
              <a:t>A 12-tab workbook, plus four years of separate revenue files — no map, no owner, the person who built it is on leave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7"/>
          <p:cNvSpPr/>
          <p:nvPr/>
        </p:nvSpPr>
        <p:spPr>
          <a:xfrm>
            <a:off x="7360920" y="3182112"/>
            <a:ext cx="100584" cy="100584"/>
          </a:xfrm>
          <a:prstGeom prst="ellipse">
            <a:avLst/>
          </a:prstGeom>
          <a:solidFill>
            <a:srgbClr val="A5228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7"/>
          <p:cNvSpPr/>
          <p:nvPr/>
        </p:nvSpPr>
        <p:spPr>
          <a:xfrm>
            <a:off x="7589520" y="3026664"/>
            <a:ext cx="40690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C1E2B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1C1E2B"/>
                </a:solidFill>
                <a:latin typeface="Calibri"/>
                <a:ea typeface="Calibri"/>
                <a:cs typeface="Calibri"/>
                <a:sym typeface="Calibri"/>
              </a:rPr>
              <a:t>You don’t know what’s in it, or which numbers to trust.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7"/>
          <p:cNvSpPr/>
          <p:nvPr/>
        </p:nvSpPr>
        <p:spPr>
          <a:xfrm>
            <a:off x="548640" y="3977640"/>
            <a:ext cx="11064240" cy="960120"/>
          </a:xfrm>
          <a:prstGeom prst="roundRect">
            <a:avLst>
              <a:gd fmla="val 9524" name="adj"/>
            </a:avLst>
          </a:prstGeom>
          <a:solidFill>
            <a:srgbClr val="001E6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7"/>
          <p:cNvSpPr/>
          <p:nvPr/>
        </p:nvSpPr>
        <p:spPr>
          <a:xfrm>
            <a:off x="868680" y="3977640"/>
            <a:ext cx="1042416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A5228E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A5228E"/>
                </a:solidFill>
                <a:latin typeface="Calibri"/>
                <a:ea typeface="Calibri"/>
                <a:cs typeface="Calibri"/>
                <a:sym typeface="Calibri"/>
              </a:rPr>
              <a:t>What you’ll do: </a:t>
            </a:r>
            <a:r>
              <a:rPr b="0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explore this data twice — once as AI’s assistant, once letting AI analyze it directly. Same folder. Two very different levels of trust.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7"/>
          <p:cNvSpPr/>
          <p:nvPr/>
        </p:nvSpPr>
        <p:spPr>
          <a:xfrm>
            <a:off x="548640" y="5166360"/>
            <a:ext cx="110642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B6478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5B6478"/>
                </a:solidFill>
                <a:latin typeface="Calibri"/>
                <a:ea typeface="Calibri"/>
                <a:cs typeface="Calibri"/>
                <a:sym typeface="Calibri"/>
              </a:rPr>
              <a:t>Before you open any AI tool: if you had to do this with no AI, what’s your first move?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License"/>
          <p:cNvSpPr/>
          <p:nvPr/>
        </p:nvSpPr>
        <p:spPr>
          <a:xfrm>
            <a:off x="9843640" y="6528816"/>
            <a:ext cx="1799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B6478"/>
                </a:solidFill>
                <a:latin typeface="Calibri"/>
                <a:ea typeface="Calibri"/>
                <a:cs typeface="Calibri"/>
                <a:sym typeface="Calibri"/>
              </a:rPr>
              <a:t>CC BY-NC-SA 4.0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C"/>
        </a:solidFill>
      </p:bgPr>
    </p:bg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8"/>
          <p:cNvSpPr/>
          <p:nvPr/>
        </p:nvSpPr>
        <p:spPr>
          <a:xfrm>
            <a:off x="548640" y="411480"/>
            <a:ext cx="73152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5228E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A5228E"/>
                </a:solidFill>
                <a:latin typeface="Calibri"/>
                <a:ea typeface="Calibri"/>
                <a:cs typeface="Calibri"/>
                <a:sym typeface="Calibri"/>
              </a:rPr>
              <a:t>THE SCENARIO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8"/>
          <p:cNvSpPr/>
          <p:nvPr/>
        </p:nvSpPr>
        <p:spPr>
          <a:xfrm>
            <a:off x="548640" y="713232"/>
            <a:ext cx="107898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1E62"/>
              </a:buClr>
              <a:buSzPts val="2800"/>
              <a:buFont typeface="Cambria"/>
              <a:buNone/>
            </a:pPr>
            <a:r>
              <a:rPr b="1" i="0" lang="en-US" sz="2800" u="none" cap="none" strike="noStrike">
                <a:solidFill>
                  <a:srgbClr val="001E62"/>
                </a:solidFill>
                <a:latin typeface="Cambria"/>
                <a:ea typeface="Cambria"/>
                <a:cs typeface="Cambria"/>
                <a:sym typeface="Cambria"/>
              </a:rPr>
              <a:t>Take 5 minutes. Open the folder yourself.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8"/>
          <p:cNvSpPr/>
          <p:nvPr/>
        </p:nvSpPr>
        <p:spPr>
          <a:xfrm>
            <a:off x="548640" y="6528816"/>
            <a:ext cx="64008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47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478"/>
                </a:solidFill>
                <a:latin typeface="Calibri"/>
                <a:ea typeface="Calibri"/>
                <a:cs typeface="Calibri"/>
                <a:sym typeface="Calibri"/>
              </a:rPr>
              <a:t>MODULE 2 · SCATTERED SOURCES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8"/>
          <p:cNvSpPr/>
          <p:nvPr/>
        </p:nvSpPr>
        <p:spPr>
          <a:xfrm>
            <a:off x="640080" y="1783080"/>
            <a:ext cx="457200" cy="457200"/>
          </a:xfrm>
          <a:prstGeom prst="ellipse">
            <a:avLst/>
          </a:prstGeom>
          <a:solidFill>
            <a:srgbClr val="001E6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8"/>
          <p:cNvSpPr/>
          <p:nvPr/>
        </p:nvSpPr>
        <p:spPr>
          <a:xfrm>
            <a:off x="640080" y="178308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1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8"/>
          <p:cNvSpPr/>
          <p:nvPr/>
        </p:nvSpPr>
        <p:spPr>
          <a:xfrm>
            <a:off x="1280160" y="1737360"/>
            <a:ext cx="99669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C1E2B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1C1E2B"/>
                </a:solidFill>
                <a:latin typeface="Cambria"/>
                <a:ea typeface="Cambria"/>
                <a:cs typeface="Cambria"/>
                <a:sym typeface="Cambria"/>
              </a:rPr>
              <a:t>Dashboard tab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8"/>
          <p:cNvSpPr/>
          <p:nvPr/>
        </p:nvSpPr>
        <p:spPr>
          <a:xfrm>
            <a:off x="1280160" y="2148840"/>
            <a:ext cx="99669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B6478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5B6478"/>
                </a:solidFill>
                <a:latin typeface="Calibri"/>
                <a:ea typeface="Calibri"/>
                <a:cs typeface="Calibri"/>
                <a:sym typeface="Calibri"/>
              </a:rPr>
              <a:t>Says “KEY METRIC PLACEHOLDER.” Formulas need updating. Whoever set this up didn’t finish.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B6478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5B6478"/>
                </a:solidFill>
                <a:latin typeface="Calibri"/>
                <a:ea typeface="Calibri"/>
                <a:cs typeface="Calibri"/>
                <a:sym typeface="Calibri"/>
              </a:rPr>
              <a:t>Skim it anyway — it’s still the first thing anyone opens.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8"/>
          <p:cNvSpPr/>
          <p:nvPr/>
        </p:nvSpPr>
        <p:spPr>
          <a:xfrm>
            <a:off x="640080" y="3200400"/>
            <a:ext cx="457200" cy="457200"/>
          </a:xfrm>
          <a:prstGeom prst="ellipse">
            <a:avLst/>
          </a:prstGeom>
          <a:solidFill>
            <a:srgbClr val="001E6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8"/>
          <p:cNvSpPr/>
          <p:nvPr/>
        </p:nvSpPr>
        <p:spPr>
          <a:xfrm>
            <a:off x="640080" y="32004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2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8"/>
          <p:cNvSpPr/>
          <p:nvPr/>
        </p:nvSpPr>
        <p:spPr>
          <a:xfrm>
            <a:off x="1280160" y="3154680"/>
            <a:ext cx="99669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C1E2B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1C1E2B"/>
                </a:solidFill>
                <a:latin typeface="Cambria"/>
                <a:ea typeface="Cambria"/>
                <a:cs typeface="Cambria"/>
                <a:sym typeface="Cambria"/>
              </a:rPr>
              <a:t>Two different 2023 totals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8"/>
          <p:cNvSpPr/>
          <p:nvPr/>
        </p:nvSpPr>
        <p:spPr>
          <a:xfrm>
            <a:off x="1280160" y="3566160"/>
            <a:ext cx="99669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B6478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5B6478"/>
                </a:solidFill>
                <a:latin typeface="Calibri"/>
                <a:ea typeface="Calibri"/>
                <a:cs typeface="Calibri"/>
                <a:sym typeface="Calibri"/>
              </a:rPr>
              <a:t>A “Q3 2023 Archive” tab and an “OLD — do not use” tab both claim to be last year’s numbers. They don’t match.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8"/>
          <p:cNvSpPr/>
          <p:nvPr/>
        </p:nvSpPr>
        <p:spPr>
          <a:xfrm>
            <a:off x="640080" y="4617720"/>
            <a:ext cx="457200" cy="457200"/>
          </a:xfrm>
          <a:prstGeom prst="ellipse">
            <a:avLst/>
          </a:prstGeom>
          <a:solidFill>
            <a:srgbClr val="001E6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8"/>
          <p:cNvSpPr/>
          <p:nvPr/>
        </p:nvSpPr>
        <p:spPr>
          <a:xfrm>
            <a:off x="640080" y="461772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3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8"/>
          <p:cNvSpPr/>
          <p:nvPr/>
        </p:nvSpPr>
        <p:spPr>
          <a:xfrm>
            <a:off x="1280160" y="4572000"/>
            <a:ext cx="99669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C1E2B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1C1E2B"/>
                </a:solidFill>
                <a:latin typeface="Cambria"/>
                <a:ea typeface="Cambria"/>
                <a:cs typeface="Cambria"/>
                <a:sym typeface="Cambria"/>
              </a:rPr>
              <a:t>Ottawa Pilot (CAD)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8"/>
          <p:cNvSpPr/>
          <p:nvPr/>
        </p:nvSpPr>
        <p:spPr>
          <a:xfrm>
            <a:off x="1280160" y="4983480"/>
            <a:ext cx="99669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B6478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5B6478"/>
                </a:solidFill>
                <a:latin typeface="Calibri"/>
                <a:ea typeface="Calibri"/>
                <a:cs typeface="Calibri"/>
                <a:sym typeface="Calibri"/>
              </a:rPr>
              <a:t>Revenue in Canadian dollars, sitting next to tabs in USD. Easy to miss if you’re skimming.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License"/>
          <p:cNvSpPr/>
          <p:nvPr/>
        </p:nvSpPr>
        <p:spPr>
          <a:xfrm>
            <a:off x="9843640" y="6528816"/>
            <a:ext cx="1799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B6478"/>
                </a:solidFill>
                <a:latin typeface="Calibri"/>
                <a:ea typeface="Calibri"/>
                <a:cs typeface="Calibri"/>
                <a:sym typeface="Calibri"/>
              </a:rPr>
              <a:t>CC BY-NC-SA 4.0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C"/>
        </a:solidFill>
      </p:bgPr>
    </p:bg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9"/>
          <p:cNvSpPr/>
          <p:nvPr/>
        </p:nvSpPr>
        <p:spPr>
          <a:xfrm>
            <a:off x="548640" y="411480"/>
            <a:ext cx="73152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5228E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A5228E"/>
                </a:solidFill>
                <a:latin typeface="Calibri"/>
                <a:ea typeface="Calibri"/>
                <a:cs typeface="Calibri"/>
                <a:sym typeface="Calibri"/>
              </a:rPr>
              <a:t>THE SCENARIO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9"/>
          <p:cNvSpPr/>
          <p:nvPr/>
        </p:nvSpPr>
        <p:spPr>
          <a:xfrm>
            <a:off x="548640" y="713232"/>
            <a:ext cx="107898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1E62"/>
              </a:buClr>
              <a:buSzPts val="2800"/>
              <a:buFont typeface="Cambria"/>
              <a:buNone/>
            </a:pPr>
            <a:r>
              <a:rPr b="1" i="0" lang="en-US" sz="2800" u="none" cap="none" strike="noStrike">
                <a:solidFill>
                  <a:srgbClr val="001E62"/>
                </a:solidFill>
                <a:latin typeface="Cambria"/>
                <a:ea typeface="Cambria"/>
                <a:cs typeface="Cambria"/>
                <a:sym typeface="Cambria"/>
              </a:rPr>
              <a:t>What you might have caught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9"/>
          <p:cNvSpPr/>
          <p:nvPr/>
        </p:nvSpPr>
        <p:spPr>
          <a:xfrm>
            <a:off x="548640" y="6528816"/>
            <a:ext cx="64008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47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478"/>
                </a:solidFill>
                <a:latin typeface="Calibri"/>
                <a:ea typeface="Calibri"/>
                <a:cs typeface="Calibri"/>
                <a:sym typeface="Calibri"/>
              </a:rPr>
              <a:t>MODULE 2 · SCATTERED SOURCES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9"/>
          <p:cNvSpPr/>
          <p:nvPr/>
        </p:nvSpPr>
        <p:spPr>
          <a:xfrm>
            <a:off x="640080" y="1783080"/>
            <a:ext cx="457200" cy="457200"/>
          </a:xfrm>
          <a:prstGeom prst="ellipse">
            <a:avLst/>
          </a:prstGeom>
          <a:solidFill>
            <a:srgbClr val="001E6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9"/>
          <p:cNvSpPr/>
          <p:nvPr/>
        </p:nvSpPr>
        <p:spPr>
          <a:xfrm>
            <a:off x="640080" y="178308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1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9"/>
          <p:cNvSpPr/>
          <p:nvPr/>
        </p:nvSpPr>
        <p:spPr>
          <a:xfrm>
            <a:off x="1280160" y="1737360"/>
            <a:ext cx="99669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C1E2B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1C1E2B"/>
                </a:solidFill>
                <a:latin typeface="Cambria"/>
                <a:ea typeface="Cambria"/>
                <a:cs typeface="Cambria"/>
                <a:sym typeface="Cambria"/>
              </a:rPr>
              <a:t>The trap: “OLD” vs. “Archive”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9"/>
          <p:cNvSpPr/>
          <p:nvPr/>
        </p:nvSpPr>
        <p:spPr>
          <a:xfrm>
            <a:off x="1280160" y="2148840"/>
            <a:ext cx="99669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B6478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5B6478"/>
                </a:solidFill>
                <a:latin typeface="Calibri"/>
                <a:ea typeface="Calibri"/>
                <a:cs typeface="Calibri"/>
                <a:sym typeface="Calibri"/>
              </a:rPr>
              <a:t>The OLD tab is gross revenue before refunds — about 8% higher than the real number. It even says “do not use” at the top.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B6478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5B6478"/>
                </a:solidFill>
                <a:latin typeface="Calibri"/>
                <a:ea typeface="Calibri"/>
                <a:cs typeface="Calibri"/>
                <a:sym typeface="Calibri"/>
              </a:rPr>
              <a:t>A past version of this exact report used the wrong one by mistake. It happened before. It can happen again.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9"/>
          <p:cNvSpPr/>
          <p:nvPr/>
        </p:nvSpPr>
        <p:spPr>
          <a:xfrm>
            <a:off x="640080" y="3200400"/>
            <a:ext cx="457200" cy="457200"/>
          </a:xfrm>
          <a:prstGeom prst="ellipse">
            <a:avLst/>
          </a:prstGeom>
          <a:solidFill>
            <a:srgbClr val="001E6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9"/>
          <p:cNvSpPr/>
          <p:nvPr/>
        </p:nvSpPr>
        <p:spPr>
          <a:xfrm>
            <a:off x="640080" y="32004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2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9"/>
          <p:cNvSpPr/>
          <p:nvPr/>
        </p:nvSpPr>
        <p:spPr>
          <a:xfrm>
            <a:off x="1280160" y="3154680"/>
            <a:ext cx="99669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C1E2B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1C1E2B"/>
                </a:solidFill>
                <a:latin typeface="Cambria"/>
                <a:ea typeface="Cambria"/>
                <a:cs typeface="Cambria"/>
                <a:sym typeface="Cambria"/>
              </a:rPr>
              <a:t>The quiet mismatch: $300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9"/>
          <p:cNvSpPr/>
          <p:nvPr/>
        </p:nvSpPr>
        <p:spPr>
          <a:xfrm>
            <a:off x="1280160" y="3566160"/>
            <a:ext cx="99669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B6478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5B6478"/>
                </a:solidFill>
                <a:latin typeface="Calibri"/>
                <a:ea typeface="Calibri"/>
                <a:cs typeface="Calibri"/>
                <a:sym typeface="Calibri"/>
              </a:rPr>
              <a:t>Two tabs both claim to total Q3 2023 revenue — $261,500 and $261,800. Nothing flags the gap.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9"/>
          <p:cNvSpPr/>
          <p:nvPr/>
        </p:nvSpPr>
        <p:spPr>
          <a:xfrm>
            <a:off x="640080" y="4617720"/>
            <a:ext cx="457200" cy="457200"/>
          </a:xfrm>
          <a:prstGeom prst="ellipse">
            <a:avLst/>
          </a:prstGeom>
          <a:solidFill>
            <a:srgbClr val="001E6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9"/>
          <p:cNvSpPr/>
          <p:nvPr/>
        </p:nvSpPr>
        <p:spPr>
          <a:xfrm>
            <a:off x="640080" y="461772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3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9"/>
          <p:cNvSpPr/>
          <p:nvPr/>
        </p:nvSpPr>
        <p:spPr>
          <a:xfrm>
            <a:off x="1280160" y="4572000"/>
            <a:ext cx="99669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C1E2B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1C1E2B"/>
                </a:solidFill>
                <a:latin typeface="Cambria"/>
                <a:ea typeface="Cambria"/>
                <a:cs typeface="Cambria"/>
                <a:sym typeface="Cambria"/>
              </a:rPr>
              <a:t>The unavailable expert: Sandra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9"/>
          <p:cNvSpPr/>
          <p:nvPr/>
        </p:nvSpPr>
        <p:spPr>
          <a:xfrm>
            <a:off x="1280160" y="4983480"/>
            <a:ext cx="99669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B6478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5B6478"/>
                </a:solidFill>
                <a:latin typeface="Calibri"/>
                <a:ea typeface="Calibri"/>
                <a:cs typeface="Calibri"/>
                <a:sym typeface="Calibri"/>
              </a:rPr>
              <a:t>Sandra built this file and is on leave with no handoff doc. If something looks wrong, there’s no one to ask — you have to verify it yourself.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License"/>
          <p:cNvSpPr/>
          <p:nvPr/>
        </p:nvSpPr>
        <p:spPr>
          <a:xfrm>
            <a:off x="9843640" y="6528816"/>
            <a:ext cx="1799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B6478"/>
                </a:solidFill>
                <a:latin typeface="Calibri"/>
                <a:ea typeface="Calibri"/>
                <a:cs typeface="Calibri"/>
                <a:sym typeface="Calibri"/>
              </a:rPr>
              <a:t>CC BY-NC-SA 4.0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C"/>
        </a:solidFill>
      </p:bgPr>
    </p:bg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5228E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A5228E"/>
                </a:solidFill>
                <a:latin typeface="Calibri"/>
                <a:ea typeface="Calibri"/>
                <a:cs typeface="Calibri"/>
                <a:sym typeface="Calibri"/>
              </a:rPr>
              <a:t>WARM-UP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0"/>
          <p:cNvSpPr/>
          <p:nvPr/>
        </p:nvSpPr>
        <p:spPr>
          <a:xfrm>
            <a:off x="548640" y="713232"/>
            <a:ext cx="107899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1E62"/>
              </a:buClr>
              <a:buSzPts val="2800"/>
              <a:buFont typeface="Cambria"/>
              <a:buNone/>
            </a:pPr>
            <a:r>
              <a:rPr b="1" i="0" lang="en-US" sz="2800" u="none" cap="none" strike="noStrike">
                <a:solidFill>
                  <a:srgbClr val="001E62"/>
                </a:solidFill>
                <a:latin typeface="Cambria"/>
                <a:ea typeface="Cambria"/>
                <a:cs typeface="Cambria"/>
                <a:sym typeface="Cambria"/>
              </a:rPr>
              <a:t>Before you touch AI — what’s your instinct?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0"/>
          <p:cNvSpPr/>
          <p:nvPr/>
        </p:nvSpPr>
        <p:spPr>
          <a:xfrm>
            <a:off x="548640" y="6528816"/>
            <a:ext cx="6400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478"/>
                </a:solidFill>
                <a:latin typeface="Calibri"/>
                <a:ea typeface="Calibri"/>
                <a:cs typeface="Calibri"/>
                <a:sym typeface="Calibri"/>
              </a:rPr>
              <a:t>MODULE 2 · SCATTERED SOURCES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0"/>
          <p:cNvSpPr/>
          <p:nvPr/>
        </p:nvSpPr>
        <p:spPr>
          <a:xfrm>
            <a:off x="640080" y="1920240"/>
            <a:ext cx="502920" cy="502920"/>
          </a:xfrm>
          <a:prstGeom prst="ellipse">
            <a:avLst/>
          </a:prstGeom>
          <a:solidFill>
            <a:srgbClr val="A5228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10"/>
          <p:cNvSpPr/>
          <p:nvPr/>
        </p:nvSpPr>
        <p:spPr>
          <a:xfrm>
            <a:off x="640080" y="192024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0"/>
          <p:cNvSpPr/>
          <p:nvPr/>
        </p:nvSpPr>
        <p:spPr>
          <a:xfrm>
            <a:off x="1325880" y="1783080"/>
            <a:ext cx="9875520" cy="960120"/>
          </a:xfrm>
          <a:prstGeom prst="roundRect">
            <a:avLst>
              <a:gd fmla="val 7619" name="adj"/>
            </a:avLst>
          </a:prstGeom>
          <a:solidFill>
            <a:srgbClr val="FFFFFF"/>
          </a:solidFill>
          <a:ln cap="flat" cmpd="sng" w="12700">
            <a:solidFill>
              <a:srgbClr val="E3E6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10"/>
          <p:cNvSpPr/>
          <p:nvPr/>
        </p:nvSpPr>
        <p:spPr>
          <a:xfrm>
            <a:off x="1600200" y="1783080"/>
            <a:ext cx="932688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C1E2B"/>
              </a:buClr>
              <a:buSzPts val="1800"/>
              <a:buFont typeface="Cambria"/>
              <a:buNone/>
            </a:pPr>
            <a:r>
              <a:rPr b="0" i="1" lang="en-US" sz="1800" u="none" cap="none" strike="noStrike">
                <a:solidFill>
                  <a:srgbClr val="1C1E2B"/>
                </a:solidFill>
                <a:latin typeface="Cambria"/>
                <a:ea typeface="Cambria"/>
                <a:cs typeface="Cambria"/>
                <a:sym typeface="Cambria"/>
              </a:rPr>
              <a:t>If you had to do this with no AI at all — what’s your first move?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10"/>
          <p:cNvSpPr/>
          <p:nvPr/>
        </p:nvSpPr>
        <p:spPr>
          <a:xfrm>
            <a:off x="640080" y="3200400"/>
            <a:ext cx="502920" cy="502920"/>
          </a:xfrm>
          <a:prstGeom prst="ellipse">
            <a:avLst/>
          </a:prstGeom>
          <a:solidFill>
            <a:srgbClr val="A5228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10"/>
          <p:cNvSpPr/>
          <p:nvPr/>
        </p:nvSpPr>
        <p:spPr>
          <a:xfrm>
            <a:off x="640080" y="320040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10"/>
          <p:cNvSpPr/>
          <p:nvPr/>
        </p:nvSpPr>
        <p:spPr>
          <a:xfrm>
            <a:off x="1325880" y="3063240"/>
            <a:ext cx="9875520" cy="960120"/>
          </a:xfrm>
          <a:prstGeom prst="roundRect">
            <a:avLst>
              <a:gd fmla="val 7619" name="adj"/>
            </a:avLst>
          </a:prstGeom>
          <a:solidFill>
            <a:srgbClr val="FFFFFF"/>
          </a:solidFill>
          <a:ln cap="flat" cmpd="sng" w="12700">
            <a:solidFill>
              <a:srgbClr val="E3E6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10"/>
          <p:cNvSpPr/>
          <p:nvPr/>
        </p:nvSpPr>
        <p:spPr>
          <a:xfrm>
            <a:off x="1600200" y="3063240"/>
            <a:ext cx="932688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C1E2B"/>
              </a:buClr>
              <a:buSzPts val="1800"/>
              <a:buFont typeface="Cambria"/>
              <a:buNone/>
            </a:pPr>
            <a:r>
              <a:rPr b="0" i="1" lang="en-US" sz="1800" u="none" cap="none" strike="noStrike">
                <a:solidFill>
                  <a:srgbClr val="1C1E2B"/>
                </a:solidFill>
                <a:latin typeface="Cambria"/>
                <a:ea typeface="Cambria"/>
                <a:cs typeface="Cambria"/>
                <a:sym typeface="Cambria"/>
              </a:rPr>
              <a:t>Which part of this task is most tedious? Which part needs the most judgment?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0"/>
          <p:cNvSpPr/>
          <p:nvPr/>
        </p:nvSpPr>
        <p:spPr>
          <a:xfrm>
            <a:off x="685800" y="4709160"/>
            <a:ext cx="457200" cy="457200"/>
          </a:xfrm>
          <a:prstGeom prst="ellipse">
            <a:avLst/>
          </a:prstGeom>
          <a:solidFill>
            <a:srgbClr val="E9ED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10"/>
          <p:cNvSpPr/>
          <p:nvPr/>
        </p:nvSpPr>
        <p:spPr>
          <a:xfrm>
            <a:off x="960120" y="4709160"/>
            <a:ext cx="457200" cy="457200"/>
          </a:xfrm>
          <a:prstGeom prst="ellipse">
            <a:avLst/>
          </a:prstGeom>
          <a:solidFill>
            <a:srgbClr val="F4E7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10"/>
          <p:cNvSpPr/>
          <p:nvPr/>
        </p:nvSpPr>
        <p:spPr>
          <a:xfrm>
            <a:off x="1600200" y="4681728"/>
            <a:ext cx="93268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1E62"/>
              </a:buClr>
              <a:buSzPts val="1450"/>
              <a:buFont typeface="Calibri"/>
              <a:buNone/>
            </a:pPr>
            <a:r>
              <a:rPr b="1" i="0" lang="en-US" sz="1450" u="none" cap="none" strike="noStrike">
                <a:solidFill>
                  <a:srgbClr val="001E62"/>
                </a:solidFill>
                <a:latin typeface="Calibri"/>
                <a:ea typeface="Calibri"/>
                <a:cs typeface="Calibri"/>
                <a:sym typeface="Calibri"/>
              </a:rPr>
              <a:t>Turn to a partner — 2 minutes. We’ll share a few out before we bring AI into it.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License"/>
          <p:cNvSpPr/>
          <p:nvPr/>
        </p:nvSpPr>
        <p:spPr>
          <a:xfrm>
            <a:off x="9843640" y="6528816"/>
            <a:ext cx="1799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B6478"/>
                </a:solidFill>
                <a:latin typeface="Calibri"/>
                <a:ea typeface="Calibri"/>
                <a:cs typeface="Calibri"/>
                <a:sym typeface="Calibri"/>
              </a:rPr>
              <a:t>CC BY-NC-SA 4.0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1E62"/>
        </a:solidFill>
      </p:bgPr>
    </p:bg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1"/>
          <p:cNvSpPr/>
          <p:nvPr/>
        </p:nvSpPr>
        <p:spPr>
          <a:xfrm>
            <a:off x="8961120" y="-2011680"/>
            <a:ext cx="5943600" cy="5943600"/>
          </a:xfrm>
          <a:prstGeom prst="ellipse">
            <a:avLst/>
          </a:prstGeom>
          <a:solidFill>
            <a:srgbClr val="0013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11"/>
          <p:cNvSpPr/>
          <p:nvPr/>
        </p:nvSpPr>
        <p:spPr>
          <a:xfrm>
            <a:off x="-2560320" y="4572000"/>
            <a:ext cx="4572000" cy="4572000"/>
          </a:xfrm>
          <a:prstGeom prst="ellipse">
            <a:avLst/>
          </a:prstGeom>
          <a:solidFill>
            <a:srgbClr val="0013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11"/>
          <p:cNvSpPr/>
          <p:nvPr/>
        </p:nvSpPr>
        <p:spPr>
          <a:xfrm>
            <a:off x="822960" y="2331720"/>
            <a:ext cx="10515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5228E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A5228E"/>
                </a:solidFill>
                <a:latin typeface="Calibri"/>
                <a:ea typeface="Calibri"/>
                <a:cs typeface="Calibri"/>
                <a:sym typeface="Calibri"/>
              </a:rPr>
              <a:t>BEAT ONE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1"/>
          <p:cNvSpPr/>
          <p:nvPr/>
        </p:nvSpPr>
        <p:spPr>
          <a:xfrm>
            <a:off x="822960" y="2743200"/>
            <a:ext cx="10515600" cy="1554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mbria"/>
              <a:buNone/>
            </a:pPr>
            <a:r>
              <a:rPr b="1" i="0" lang="en-US" sz="4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AI as an assistant.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11"/>
          <p:cNvSpPr/>
          <p:nvPr/>
        </p:nvSpPr>
        <p:spPr>
          <a:xfrm>
            <a:off x="822960" y="4251960"/>
            <a:ext cx="96012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AEB9D6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AEB9D6"/>
                </a:solidFill>
                <a:latin typeface="Calibri"/>
                <a:ea typeface="Calibri"/>
                <a:cs typeface="Calibri"/>
                <a:sym typeface="Calibri"/>
              </a:rPr>
              <a:t>You’re not handing this off. You’re getting oriented, with help.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1"/>
          <p:cNvSpPr/>
          <p:nvPr/>
        </p:nvSpPr>
        <p:spPr>
          <a:xfrm>
            <a:off x="548640" y="6528816"/>
            <a:ext cx="6400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EB9D6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AEB9D6"/>
                </a:solidFill>
                <a:latin typeface="Calibri"/>
                <a:ea typeface="Calibri"/>
                <a:cs typeface="Calibri"/>
                <a:sym typeface="Calibri"/>
              </a:rPr>
              <a:t>MODULE 2 · SCATTERED SOURCES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License"/>
          <p:cNvSpPr/>
          <p:nvPr/>
        </p:nvSpPr>
        <p:spPr>
          <a:xfrm>
            <a:off x="9843640" y="6528816"/>
            <a:ext cx="1799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CC BY-NC-SA 4.0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C"/>
        </a:solidFill>
      </p:bgPr>
    </p:bg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16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5228E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A5228E"/>
                </a:solidFill>
                <a:latin typeface="Calibri"/>
                <a:ea typeface="Calibri"/>
                <a:cs typeface="Calibri"/>
                <a:sym typeface="Calibri"/>
              </a:rPr>
              <a:t>BEAT ONE · ACTIVITY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16"/>
          <p:cNvSpPr/>
          <p:nvPr/>
        </p:nvSpPr>
        <p:spPr>
          <a:xfrm>
            <a:off x="548640" y="713232"/>
            <a:ext cx="107899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1E62"/>
              </a:buClr>
              <a:buSzPts val="2800"/>
              <a:buFont typeface="Cambria"/>
              <a:buNone/>
            </a:pPr>
            <a:r>
              <a:rPr b="1" i="0" lang="en-US" sz="2800" u="none" cap="none" strike="noStrike">
                <a:solidFill>
                  <a:srgbClr val="001E62"/>
                </a:solidFill>
                <a:latin typeface="Cambria"/>
                <a:ea typeface="Cambria"/>
                <a:cs typeface="Cambria"/>
                <a:sym typeface="Cambria"/>
              </a:rPr>
              <a:t>Get oriented before you generate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16"/>
          <p:cNvSpPr/>
          <p:nvPr/>
        </p:nvSpPr>
        <p:spPr>
          <a:xfrm>
            <a:off x="548640" y="6528816"/>
            <a:ext cx="6400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478"/>
                </a:solidFill>
                <a:latin typeface="Calibri"/>
                <a:ea typeface="Calibri"/>
                <a:cs typeface="Calibri"/>
                <a:sym typeface="Calibri"/>
              </a:rPr>
              <a:t>MODULE 2 · SCATTERED SOURCES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16"/>
          <p:cNvSpPr/>
          <p:nvPr/>
        </p:nvSpPr>
        <p:spPr>
          <a:xfrm>
            <a:off x="9052560" y="1783080"/>
            <a:ext cx="1417320" cy="502920"/>
          </a:xfrm>
          <a:prstGeom prst="roundRect">
            <a:avLst>
              <a:gd fmla="val 50909" name="adj"/>
            </a:avLst>
          </a:prstGeom>
          <a:solidFill>
            <a:srgbClr val="A5228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16"/>
          <p:cNvSpPr/>
          <p:nvPr/>
        </p:nvSpPr>
        <p:spPr>
          <a:xfrm>
            <a:off x="9052560" y="1783080"/>
            <a:ext cx="14173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12 MIN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16"/>
          <p:cNvSpPr/>
          <p:nvPr/>
        </p:nvSpPr>
        <p:spPr>
          <a:xfrm>
            <a:off x="548640" y="1828800"/>
            <a:ext cx="8138160" cy="1234440"/>
          </a:xfrm>
          <a:prstGeom prst="roundRect">
            <a:avLst>
              <a:gd fmla="val 6667" name="adj"/>
            </a:avLst>
          </a:prstGeom>
          <a:solidFill>
            <a:srgbClr val="F4E7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16"/>
          <p:cNvSpPr/>
          <p:nvPr/>
        </p:nvSpPr>
        <p:spPr>
          <a:xfrm>
            <a:off x="868680" y="1965960"/>
            <a:ext cx="749808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7C1C6B"/>
              </a:buClr>
              <a:buSzPts val="1650"/>
              <a:buFont typeface="Cambria"/>
              <a:buNone/>
            </a:pPr>
            <a:r>
              <a:rPr b="1" i="0" lang="en-US" sz="1650" u="none" cap="none" strike="noStrike">
                <a:solidFill>
                  <a:srgbClr val="7C1C6B"/>
                </a:solidFill>
                <a:latin typeface="Cambria"/>
                <a:ea typeface="Cambria"/>
                <a:cs typeface="Cambria"/>
                <a:sym typeface="Cambria"/>
              </a:rPr>
              <a:t>Open the 12-tab file. Before asking AI to build anything, have an orientation conversation: what’s actually in here, and what can you trust?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16"/>
          <p:cNvSpPr/>
          <p:nvPr/>
        </p:nvSpPr>
        <p:spPr>
          <a:xfrm>
            <a:off x="548640" y="329184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1E62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01E62"/>
                </a:solidFill>
                <a:latin typeface="Calibri"/>
                <a:ea typeface="Calibri"/>
                <a:cs typeface="Calibri"/>
                <a:sym typeface="Calibri"/>
              </a:rPr>
              <a:t>QUESTIONS TO EXPLORE FIRST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16"/>
          <p:cNvSpPr/>
          <p:nvPr/>
        </p:nvSpPr>
        <p:spPr>
          <a:xfrm>
            <a:off x="548640" y="3657600"/>
            <a:ext cx="813816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C1E2B"/>
              </a:buClr>
              <a:buSzPts val="1500"/>
              <a:buFont typeface="Calibri"/>
              <a:buChar char="•"/>
            </a:pPr>
            <a:r>
              <a:rPr b="0" i="0" lang="en-US" sz="1500" u="none" cap="none" strike="noStrike">
                <a:solidFill>
                  <a:srgbClr val="1C1E2B"/>
                </a:solidFill>
                <a:latin typeface="Calibri"/>
                <a:ea typeface="Calibri"/>
                <a:cs typeface="Calibri"/>
                <a:sym typeface="Calibri"/>
              </a:rPr>
              <a:t>What does each tab actually contain, and which ones contradict each other?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1C1E2B"/>
              </a:buClr>
              <a:buSzPts val="1500"/>
              <a:buFont typeface="Calibri"/>
              <a:buChar char="•"/>
            </a:pPr>
            <a:r>
              <a:rPr b="0" i="0" lang="en-US" sz="1500" u="none" cap="none" strike="noStrike">
                <a:solidFill>
                  <a:srgbClr val="1C1E2B"/>
                </a:solidFill>
                <a:latin typeface="Calibri"/>
                <a:ea typeface="Calibri"/>
                <a:cs typeface="Calibri"/>
                <a:sym typeface="Calibri"/>
              </a:rPr>
              <a:t>What should the “key metric” even be — the Dashboard doesn’t say?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1C1E2B"/>
              </a:buClr>
              <a:buSzPts val="1500"/>
              <a:buFont typeface="Calibri"/>
              <a:buChar char="•"/>
            </a:pPr>
            <a:r>
              <a:rPr b="0" i="0" lang="en-US" sz="1500" u="none" cap="none" strike="noStrike">
                <a:solidFill>
                  <a:srgbClr val="1C1E2B"/>
                </a:solidFill>
                <a:latin typeface="Calibri"/>
                <a:ea typeface="Calibri"/>
                <a:cs typeface="Calibri"/>
                <a:sym typeface="Calibri"/>
              </a:rPr>
              <a:t>What do you need to verify before you’d put a number in front of the Director?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16"/>
          <p:cNvSpPr/>
          <p:nvPr/>
        </p:nvSpPr>
        <p:spPr>
          <a:xfrm>
            <a:off x="548640" y="5349240"/>
            <a:ext cx="110642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B6478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5B6478"/>
                </a:solidFill>
                <a:latin typeface="Calibri"/>
                <a:ea typeface="Calibri"/>
                <a:cs typeface="Calibri"/>
                <a:sym typeface="Calibri"/>
              </a:rPr>
              <a:t>Two fine starting points: ask AI to summarize every tab and flag oddities — or explore it yourself first, then bring AI in to check your read.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License"/>
          <p:cNvSpPr/>
          <p:nvPr/>
        </p:nvSpPr>
        <p:spPr>
          <a:xfrm>
            <a:off x="9843640" y="6528816"/>
            <a:ext cx="1799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B6478"/>
                </a:solidFill>
                <a:latin typeface="Calibri"/>
                <a:ea typeface="Calibri"/>
                <a:cs typeface="Calibri"/>
                <a:sym typeface="Calibri"/>
              </a:rPr>
              <a:t>CC BY-NC-SA 4.0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C"/>
        </a:solidFill>
      </p:bgPr>
    </p:bg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17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5228E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A5228E"/>
                </a:solidFill>
                <a:latin typeface="Calibri"/>
                <a:ea typeface="Calibri"/>
                <a:cs typeface="Calibri"/>
                <a:sym typeface="Calibri"/>
              </a:rPr>
              <a:t>BEAT ONE · DIAGNOSE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17"/>
          <p:cNvSpPr/>
          <p:nvPr/>
        </p:nvSpPr>
        <p:spPr>
          <a:xfrm>
            <a:off x="548640" y="713232"/>
            <a:ext cx="107899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1E62"/>
              </a:buClr>
              <a:buSzPts val="2800"/>
              <a:buFont typeface="Cambria"/>
              <a:buNone/>
            </a:pPr>
            <a:r>
              <a:rPr b="1" i="0" lang="en-US" sz="2800" u="none" cap="none" strike="noStrike">
                <a:solidFill>
                  <a:srgbClr val="001E62"/>
                </a:solidFill>
                <a:latin typeface="Cambria"/>
                <a:ea typeface="Cambria"/>
                <a:cs typeface="Cambria"/>
                <a:sym typeface="Cambria"/>
              </a:rPr>
              <a:t>Three checks — no single right answer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17"/>
          <p:cNvSpPr/>
          <p:nvPr/>
        </p:nvSpPr>
        <p:spPr>
          <a:xfrm>
            <a:off x="548640" y="6528816"/>
            <a:ext cx="6400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478"/>
                </a:solidFill>
                <a:latin typeface="Calibri"/>
                <a:ea typeface="Calibri"/>
                <a:cs typeface="Calibri"/>
                <a:sym typeface="Calibri"/>
              </a:rPr>
              <a:t>MODULE 2 · SCATTERED SOURCES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17"/>
          <p:cNvSpPr/>
          <p:nvPr/>
        </p:nvSpPr>
        <p:spPr>
          <a:xfrm>
            <a:off x="640080" y="1783080"/>
            <a:ext cx="457200" cy="457200"/>
          </a:xfrm>
          <a:prstGeom prst="ellipse">
            <a:avLst/>
          </a:prstGeom>
          <a:solidFill>
            <a:srgbClr val="001E6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17"/>
          <p:cNvSpPr/>
          <p:nvPr/>
        </p:nvSpPr>
        <p:spPr>
          <a:xfrm>
            <a:off x="640080" y="178308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1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17"/>
          <p:cNvSpPr/>
          <p:nvPr/>
        </p:nvSpPr>
        <p:spPr>
          <a:xfrm>
            <a:off x="1280160" y="1737360"/>
            <a:ext cx="99669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E2B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1C1E2B"/>
                </a:solidFill>
                <a:latin typeface="Cambria"/>
                <a:ea typeface="Cambria"/>
                <a:cs typeface="Cambria"/>
                <a:sym typeface="Cambria"/>
              </a:rPr>
              <a:t>Did you catch both 2023 totals?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17"/>
          <p:cNvSpPr/>
          <p:nvPr/>
        </p:nvSpPr>
        <p:spPr>
          <a:xfrm>
            <a:off x="1280160" y="2148840"/>
            <a:ext cx="996696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B6478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5B6478"/>
                </a:solidFill>
                <a:latin typeface="Calibri"/>
                <a:ea typeface="Calibri"/>
                <a:cs typeface="Calibri"/>
                <a:sym typeface="Calibri"/>
              </a:rPr>
              <a:t>Generic: “What’s the Q3 revenue?”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B6478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5B6478"/>
                </a:solidFill>
                <a:latin typeface="Calibri"/>
                <a:ea typeface="Calibri"/>
                <a:cs typeface="Calibri"/>
                <a:sym typeface="Calibri"/>
              </a:rPr>
              <a:t>Context-rich: “There are two tabs claiming to be last year’s total — which one is right, and why?”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17"/>
          <p:cNvSpPr/>
          <p:nvPr/>
        </p:nvSpPr>
        <p:spPr>
          <a:xfrm>
            <a:off x="640080" y="3200400"/>
            <a:ext cx="457200" cy="457200"/>
          </a:xfrm>
          <a:prstGeom prst="ellipse">
            <a:avLst/>
          </a:prstGeom>
          <a:solidFill>
            <a:srgbClr val="001E6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17"/>
          <p:cNvSpPr/>
          <p:nvPr/>
        </p:nvSpPr>
        <p:spPr>
          <a:xfrm>
            <a:off x="640080" y="32004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2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17"/>
          <p:cNvSpPr/>
          <p:nvPr/>
        </p:nvSpPr>
        <p:spPr>
          <a:xfrm>
            <a:off x="1280160" y="3154680"/>
            <a:ext cx="99669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E2B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1C1E2B"/>
                </a:solidFill>
                <a:latin typeface="Cambria"/>
                <a:ea typeface="Cambria"/>
                <a:cs typeface="Cambria"/>
                <a:sym typeface="Cambria"/>
              </a:rPr>
              <a:t>Did you flag what needs verifying, not just what looks clean?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17"/>
          <p:cNvSpPr/>
          <p:nvPr/>
        </p:nvSpPr>
        <p:spPr>
          <a:xfrm>
            <a:off x="1280160" y="3566160"/>
            <a:ext cx="996696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B6478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5B6478"/>
                </a:solidFill>
                <a:latin typeface="Calibri"/>
                <a:ea typeface="Calibri"/>
                <a:cs typeface="Calibri"/>
                <a:sym typeface="Calibri"/>
              </a:rPr>
              <a:t>The Dashboard’s placeholder metric, the manually-entered ratings, and the CAD figures all need a human decision before they go in a report.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17"/>
          <p:cNvSpPr/>
          <p:nvPr/>
        </p:nvSpPr>
        <p:spPr>
          <a:xfrm>
            <a:off x="640080" y="4617720"/>
            <a:ext cx="457200" cy="457200"/>
          </a:xfrm>
          <a:prstGeom prst="ellipse">
            <a:avLst/>
          </a:prstGeom>
          <a:solidFill>
            <a:srgbClr val="001E6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17"/>
          <p:cNvSpPr/>
          <p:nvPr/>
        </p:nvSpPr>
        <p:spPr>
          <a:xfrm>
            <a:off x="640080" y="461772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3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17"/>
          <p:cNvSpPr/>
          <p:nvPr/>
        </p:nvSpPr>
        <p:spPr>
          <a:xfrm>
            <a:off x="1280160" y="4572000"/>
            <a:ext cx="99669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E2B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1C1E2B"/>
                </a:solidFill>
                <a:latin typeface="Cambria"/>
                <a:ea typeface="Cambria"/>
                <a:cs typeface="Cambria"/>
                <a:sym typeface="Cambria"/>
              </a:rPr>
              <a:t>Did you treat “TBD” as data?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17"/>
          <p:cNvSpPr/>
          <p:nvPr/>
        </p:nvSpPr>
        <p:spPr>
          <a:xfrm>
            <a:off x="1280160" y="4983480"/>
            <a:ext cx="996696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B6478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5B6478"/>
                </a:solidFill>
                <a:latin typeface="Calibri"/>
                <a:ea typeface="Calibri"/>
                <a:cs typeface="Calibri"/>
                <a:sym typeface="Calibri"/>
              </a:rPr>
              <a:t>Q4 targets are marked TBD in the source file. If AI’s summary states them as numbers, that’s a fabrication, not an oversight.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License"/>
          <p:cNvSpPr/>
          <p:nvPr/>
        </p:nvSpPr>
        <p:spPr>
          <a:xfrm>
            <a:off x="9843640" y="6528816"/>
            <a:ext cx="1799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B6478"/>
                </a:solidFill>
                <a:latin typeface="Calibri"/>
                <a:ea typeface="Calibri"/>
                <a:cs typeface="Calibri"/>
                <a:sym typeface="Calibri"/>
              </a:rPr>
              <a:t>CC BY-NC-SA 4.0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1E62"/>
        </a:solidFill>
      </p:bgPr>
    </p:bg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15"/>
          <p:cNvSpPr/>
          <p:nvPr/>
        </p:nvSpPr>
        <p:spPr>
          <a:xfrm>
            <a:off x="8961120" y="-2011680"/>
            <a:ext cx="5943600" cy="5943600"/>
          </a:xfrm>
          <a:prstGeom prst="ellipse">
            <a:avLst/>
          </a:prstGeom>
          <a:solidFill>
            <a:srgbClr val="0013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15"/>
          <p:cNvSpPr/>
          <p:nvPr/>
        </p:nvSpPr>
        <p:spPr>
          <a:xfrm>
            <a:off x="-2560320" y="4572000"/>
            <a:ext cx="4572000" cy="4572000"/>
          </a:xfrm>
          <a:prstGeom prst="ellipse">
            <a:avLst/>
          </a:prstGeom>
          <a:solidFill>
            <a:srgbClr val="0013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15"/>
          <p:cNvSpPr/>
          <p:nvPr/>
        </p:nvSpPr>
        <p:spPr>
          <a:xfrm>
            <a:off x="822960" y="2331720"/>
            <a:ext cx="10515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5228E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A5228E"/>
                </a:solidFill>
                <a:latin typeface="Calibri"/>
                <a:ea typeface="Calibri"/>
                <a:cs typeface="Calibri"/>
                <a:sym typeface="Calibri"/>
              </a:rPr>
              <a:t>BEAT TWO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15"/>
          <p:cNvSpPr/>
          <p:nvPr/>
        </p:nvSpPr>
        <p:spPr>
          <a:xfrm>
            <a:off x="822960" y="2743200"/>
            <a:ext cx="10515600" cy="1554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mbria"/>
              <a:buNone/>
            </a:pPr>
            <a:r>
              <a:rPr b="1" i="0" lang="en-US" sz="4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AI as an analyst.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15"/>
          <p:cNvSpPr/>
          <p:nvPr/>
        </p:nvSpPr>
        <p:spPr>
          <a:xfrm>
            <a:off x="822960" y="4251960"/>
            <a:ext cx="96012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AEB9D6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AEB9D6"/>
                </a:solidFill>
                <a:latin typeface="Calibri"/>
                <a:ea typeface="Calibri"/>
                <a:cs typeface="Calibri"/>
                <a:sym typeface="Calibri"/>
              </a:rPr>
              <a:t>Same folder. Now AI drives more — which means verification is your job.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15"/>
          <p:cNvSpPr/>
          <p:nvPr/>
        </p:nvSpPr>
        <p:spPr>
          <a:xfrm>
            <a:off x="548640" y="6528816"/>
            <a:ext cx="6400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EB9D6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AEB9D6"/>
                </a:solidFill>
                <a:latin typeface="Calibri"/>
                <a:ea typeface="Calibri"/>
                <a:cs typeface="Calibri"/>
                <a:sym typeface="Calibri"/>
              </a:rPr>
              <a:t>MODULE 2 · SCATTERED SOURCES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License"/>
          <p:cNvSpPr/>
          <p:nvPr/>
        </p:nvSpPr>
        <p:spPr>
          <a:xfrm>
            <a:off x="9843640" y="6528816"/>
            <a:ext cx="1799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CC BY-NC-SA 4.0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C"/>
        </a:solidFill>
      </p:bgPr>
    </p:bg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2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5228E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A5228E"/>
                </a:solidFill>
                <a:latin typeface="Calibri"/>
                <a:ea typeface="Calibri"/>
                <a:cs typeface="Calibri"/>
                <a:sym typeface="Calibri"/>
              </a:rPr>
              <a:t>BEAT TWO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2"/>
          <p:cNvSpPr/>
          <p:nvPr/>
        </p:nvSpPr>
        <p:spPr>
          <a:xfrm>
            <a:off x="548640" y="713232"/>
            <a:ext cx="107899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1E62"/>
              </a:buClr>
              <a:buSzPts val="2800"/>
              <a:buFont typeface="Cambria"/>
              <a:buNone/>
            </a:pPr>
            <a:r>
              <a:rPr b="1" i="0" lang="en-US" sz="2800" u="none" cap="none" strike="noStrike">
                <a:solidFill>
                  <a:srgbClr val="001E62"/>
                </a:solidFill>
                <a:latin typeface="Cambria"/>
                <a:ea typeface="Cambria"/>
                <a:cs typeface="Cambria"/>
                <a:sym typeface="Cambria"/>
              </a:rPr>
              <a:t>Last quarter’s report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12"/>
          <p:cNvSpPr/>
          <p:nvPr/>
        </p:nvSpPr>
        <p:spPr>
          <a:xfrm>
            <a:off x="548640" y="6528816"/>
            <a:ext cx="6400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478"/>
                </a:solidFill>
                <a:latin typeface="Calibri"/>
                <a:ea typeface="Calibri"/>
                <a:cs typeface="Calibri"/>
                <a:sym typeface="Calibri"/>
              </a:rPr>
              <a:t>MODULE 2 · SCATTERED SOURCES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12"/>
          <p:cNvSpPr/>
          <p:nvPr/>
        </p:nvSpPr>
        <p:spPr>
          <a:xfrm>
            <a:off x="2194560" y="1691640"/>
            <a:ext cx="7818120" cy="4343400"/>
          </a:xfrm>
          <a:prstGeom prst="roundRect">
            <a:avLst>
              <a:gd fmla="val 1263" name="adj"/>
            </a:avLst>
          </a:prstGeom>
          <a:solidFill>
            <a:srgbClr val="FFFFFF"/>
          </a:solidFill>
          <a:ln cap="flat" cmpd="sng" w="15875">
            <a:solidFill>
              <a:srgbClr val="DADF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12"/>
          <p:cNvSpPr/>
          <p:nvPr/>
        </p:nvSpPr>
        <p:spPr>
          <a:xfrm>
            <a:off x="2194560" y="1691640"/>
            <a:ext cx="7818120" cy="566928"/>
          </a:xfrm>
          <a:prstGeom prst="rect">
            <a:avLst/>
          </a:prstGeom>
          <a:solidFill>
            <a:srgbClr val="E9ED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12"/>
          <p:cNvSpPr/>
          <p:nvPr/>
        </p:nvSpPr>
        <p:spPr>
          <a:xfrm>
            <a:off x="2423160" y="1691640"/>
            <a:ext cx="73609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1E62"/>
              </a:buClr>
              <a:buSzPts val="1450"/>
              <a:buFont typeface="Cambria"/>
              <a:buNone/>
            </a:pPr>
            <a:r>
              <a:rPr b="1" i="0" lang="en-US" sz="1450" u="none" cap="none" strike="noStrike">
                <a:solidFill>
                  <a:srgbClr val="001E62"/>
                </a:solidFill>
                <a:latin typeface="Cambria"/>
                <a:ea typeface="Cambria"/>
                <a:cs typeface="Cambria"/>
                <a:sym typeface="Cambria"/>
              </a:rPr>
              <a:t>Q2 2024 PERFORMANCE CHECK-IN — Pinnacle Peak Home Services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12"/>
          <p:cNvSpPr/>
          <p:nvPr/>
        </p:nvSpPr>
        <p:spPr>
          <a:xfrm>
            <a:off x="2542032" y="2377440"/>
            <a:ext cx="7269480" cy="3520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1E62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001E62"/>
                </a:solidFill>
                <a:latin typeface="Calibri"/>
                <a:ea typeface="Calibri"/>
                <a:cs typeface="Calibri"/>
                <a:sym typeface="Calibri"/>
              </a:rPr>
              <a:t>AT A GLANCE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rgbClr val="1C1E2B"/>
              </a:buClr>
              <a:buSzPts val="1250"/>
              <a:buFont typeface="Calibri"/>
              <a:buChar char="●"/>
            </a:pPr>
            <a:r>
              <a:rPr b="0" i="0" lang="en-US" sz="1250" u="none" cap="none" strike="noStrike">
                <a:solidFill>
                  <a:srgbClr val="1C1E2B"/>
                </a:solidFill>
                <a:latin typeface="Calibri"/>
                <a:ea typeface="Calibri"/>
                <a:cs typeface="Calibri"/>
                <a:sym typeface="Calibri"/>
              </a:rPr>
              <a:t>Total revenue: $300,200 · +14.8% YoY · -2.1% vs. target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lnSpc>
                <a:spcPct val="120000"/>
              </a:lnSpc>
              <a:spcBef>
                <a:spcPts val="1300"/>
              </a:spcBef>
              <a:spcAft>
                <a:spcPts val="0"/>
              </a:spcAft>
              <a:buClr>
                <a:srgbClr val="1C1E2B"/>
              </a:buClr>
              <a:buSzPts val="1250"/>
              <a:buFont typeface="Calibri"/>
              <a:buChar char="●"/>
            </a:pPr>
            <a:r>
              <a:rPr b="0" i="0" lang="en-US" sz="1250" u="none" cap="none" strike="noStrike">
                <a:solidFill>
                  <a:srgbClr val="1C1E2B"/>
                </a:solidFill>
                <a:latin typeface="Calibri"/>
                <a:ea typeface="Calibri"/>
                <a:cs typeface="Calibri"/>
                <a:sym typeface="Calibri"/>
              </a:rPr>
              <a:t>HVAC beat target by 2.8% — strong summer season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lnSpc>
                <a:spcPct val="120000"/>
              </a:lnSpc>
              <a:spcBef>
                <a:spcPts val="1300"/>
              </a:spcBef>
              <a:spcAft>
                <a:spcPts val="0"/>
              </a:spcAft>
              <a:buClr>
                <a:srgbClr val="1C1E2B"/>
              </a:buClr>
              <a:buSzPts val="1250"/>
              <a:buFont typeface="Calibri"/>
              <a:buChar char="●"/>
            </a:pPr>
            <a:r>
              <a:rPr b="0" i="0" lang="en-US" sz="1250" u="none" cap="none" strike="noStrike">
                <a:solidFill>
                  <a:srgbClr val="1C1E2B"/>
                </a:solidFill>
                <a:latin typeface="Calibri"/>
                <a:ea typeface="Calibri"/>
                <a:cs typeface="Calibri"/>
                <a:sym typeface="Calibri"/>
              </a:rPr>
              <a:t>Plumbing and Cleaning both slightly under target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1800"/>
              </a:spcBef>
              <a:spcAft>
                <a:spcPts val="0"/>
              </a:spcAft>
              <a:buClr>
                <a:srgbClr val="001E62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001E62"/>
                </a:solidFill>
                <a:latin typeface="Calibri"/>
                <a:ea typeface="Calibri"/>
                <a:cs typeface="Calibri"/>
                <a:sym typeface="Calibri"/>
              </a:rPr>
              <a:t>WATCH LIST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rgbClr val="1C1E2B"/>
              </a:buClr>
              <a:buSzPts val="1250"/>
              <a:buFont typeface="Calibri"/>
              <a:buChar char="●"/>
            </a:pPr>
            <a:r>
              <a:rPr b="0" i="0" lang="en-US" sz="1250" u="none" cap="none" strike="noStrike">
                <a:solidFill>
                  <a:srgbClr val="1C1E2B"/>
                </a:solidFill>
                <a:latin typeface="Calibri"/>
                <a:ea typeface="Calibri"/>
                <a:cs typeface="Calibri"/>
                <a:sym typeface="Calibri"/>
              </a:rPr>
              <a:t>Plumbing missed target two quarters running; Sandra on leave from Aug 1 with no handoff doc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1800"/>
              </a:spcBef>
              <a:spcAft>
                <a:spcPts val="0"/>
              </a:spcAft>
              <a:buClr>
                <a:srgbClr val="001E62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001E62"/>
                </a:solidFill>
                <a:latin typeface="Calibri"/>
                <a:ea typeface="Calibri"/>
                <a:cs typeface="Calibri"/>
                <a:sym typeface="Calibri"/>
              </a:rPr>
              <a:t>NEEDS A DECISION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rgbClr val="1C1E2B"/>
              </a:buClr>
              <a:buSzPts val="1250"/>
              <a:buFont typeface="Calibri"/>
              <a:buChar char="●"/>
            </a:pPr>
            <a:r>
              <a:rPr b="0" i="0" lang="en-US" sz="1250" u="none" cap="none" strike="noStrike">
                <a:solidFill>
                  <a:srgbClr val="1C1E2B"/>
                </a:solidFill>
                <a:latin typeface="Calibri"/>
                <a:ea typeface="Calibri"/>
                <a:cs typeface="Calibri"/>
                <a:sym typeface="Calibri"/>
              </a:rPr>
              <a:t>Does the Ottawa pilot count toward Q3 targets, or stay separate?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1800"/>
              </a:spcBef>
              <a:spcAft>
                <a:spcPts val="0"/>
              </a:spcAft>
              <a:buClr>
                <a:srgbClr val="001E62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001E62"/>
                </a:solidFill>
                <a:latin typeface="Calibri"/>
                <a:ea typeface="Calibri"/>
                <a:cs typeface="Calibri"/>
                <a:sym typeface="Calibri"/>
              </a:rPr>
              <a:t>VERSION HISTORY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rgbClr val="1C1E2B"/>
              </a:buClr>
              <a:buSzPts val="1250"/>
              <a:buFont typeface="Calibri"/>
              <a:buChar char="●"/>
            </a:pPr>
            <a:r>
              <a:rPr b="0" i="0" lang="en-US" sz="1250" u="none" cap="none" strike="noStrike">
                <a:solidFill>
                  <a:srgbClr val="1C1E2B"/>
                </a:solidFill>
                <a:latin typeface="Calibri"/>
                <a:ea typeface="Calibri"/>
                <a:cs typeface="Calibri"/>
                <a:sym typeface="Calibri"/>
              </a:rPr>
              <a:t>v1 had wrong dates. v2 used the OLD tab by accident. This is v3 — the corrected one.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License"/>
          <p:cNvSpPr/>
          <p:nvPr/>
        </p:nvSpPr>
        <p:spPr>
          <a:xfrm>
            <a:off x="9843640" y="6528816"/>
            <a:ext cx="1799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B6478"/>
                </a:solidFill>
                <a:latin typeface="Calibri"/>
                <a:ea typeface="Calibri"/>
                <a:cs typeface="Calibri"/>
                <a:sym typeface="Calibri"/>
              </a:rPr>
              <a:t>CC BY-NC-SA 4.0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C"/>
        </a:solidFill>
      </p:bgPr>
    </p:bg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13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5228E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A5228E"/>
                </a:solidFill>
                <a:latin typeface="Calibri"/>
                <a:ea typeface="Calibri"/>
                <a:cs typeface="Calibri"/>
                <a:sym typeface="Calibri"/>
              </a:rPr>
              <a:t>BEAT TWO · ACTIVITY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13"/>
          <p:cNvSpPr/>
          <p:nvPr/>
        </p:nvSpPr>
        <p:spPr>
          <a:xfrm>
            <a:off x="548640" y="713232"/>
            <a:ext cx="107899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1E62"/>
              </a:buClr>
              <a:buSzPts val="2800"/>
              <a:buFont typeface="Cambria"/>
              <a:buNone/>
            </a:pPr>
            <a:r>
              <a:rPr b="1" i="0" lang="en-US" sz="2800" u="none" cap="none" strike="noStrike">
                <a:solidFill>
                  <a:srgbClr val="001E62"/>
                </a:solidFill>
                <a:latin typeface="Cambria"/>
                <a:ea typeface="Cambria"/>
                <a:cs typeface="Cambria"/>
                <a:sym typeface="Cambria"/>
              </a:rPr>
              <a:t>Your first prompt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13"/>
          <p:cNvSpPr/>
          <p:nvPr/>
        </p:nvSpPr>
        <p:spPr>
          <a:xfrm>
            <a:off x="548640" y="6528816"/>
            <a:ext cx="6400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478"/>
                </a:solidFill>
                <a:latin typeface="Calibri"/>
                <a:ea typeface="Calibri"/>
                <a:cs typeface="Calibri"/>
                <a:sym typeface="Calibri"/>
              </a:rPr>
              <a:t>MODULE 2 · SCATTERED SOURCES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13"/>
          <p:cNvSpPr/>
          <p:nvPr/>
        </p:nvSpPr>
        <p:spPr>
          <a:xfrm>
            <a:off x="9052560" y="1783080"/>
            <a:ext cx="1417320" cy="502920"/>
          </a:xfrm>
          <a:prstGeom prst="roundRect">
            <a:avLst>
              <a:gd fmla="val 50909" name="adj"/>
            </a:avLst>
          </a:prstGeom>
          <a:solidFill>
            <a:srgbClr val="A5228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13"/>
          <p:cNvSpPr/>
          <p:nvPr/>
        </p:nvSpPr>
        <p:spPr>
          <a:xfrm>
            <a:off x="9052560" y="1783080"/>
            <a:ext cx="14173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9 MIN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13"/>
          <p:cNvSpPr/>
          <p:nvPr/>
        </p:nvSpPr>
        <p:spPr>
          <a:xfrm>
            <a:off x="548640" y="1828800"/>
            <a:ext cx="8138160" cy="2286000"/>
          </a:xfrm>
          <a:prstGeom prst="roundRect">
            <a:avLst>
              <a:gd fmla="val 3600" name="adj"/>
            </a:avLst>
          </a:prstGeom>
          <a:solidFill>
            <a:srgbClr val="F4E7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13"/>
          <p:cNvSpPr/>
          <p:nvPr/>
        </p:nvSpPr>
        <p:spPr>
          <a:xfrm>
            <a:off x="868680" y="2011680"/>
            <a:ext cx="74980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7C1C6B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rgbClr val="7C1C6B"/>
                </a:solidFill>
                <a:latin typeface="Cambria"/>
                <a:ea typeface="Cambria"/>
                <a:cs typeface="Cambria"/>
                <a:sym typeface="Cambria"/>
              </a:rPr>
              <a:t>Use your AI assistant to produce the Q3 report, using the Q2 check-in as your guide for structure and tone.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13"/>
          <p:cNvSpPr/>
          <p:nvPr/>
        </p:nvSpPr>
        <p:spPr>
          <a:xfrm>
            <a:off x="868680" y="2971800"/>
            <a:ext cx="74980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C1E2B"/>
              </a:buClr>
              <a:buSzPts val="1500"/>
              <a:buFont typeface="Calibri"/>
              <a:buNone/>
            </a:pPr>
            <a:r>
              <a:rPr b="0" i="1" lang="en-US" sz="1500" u="none" cap="none" strike="noStrike">
                <a:solidFill>
                  <a:srgbClr val="1C1E2B"/>
                </a:solidFill>
                <a:latin typeface="Calibri"/>
                <a:ea typeface="Calibri"/>
                <a:cs typeface="Calibri"/>
                <a:sym typeface="Calibri"/>
              </a:rPr>
              <a:t>Try your first prompt now — don’t overthink it. Use whatever feels natural.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13"/>
          <p:cNvSpPr/>
          <p:nvPr/>
        </p:nvSpPr>
        <p:spPr>
          <a:xfrm>
            <a:off x="548640" y="4343400"/>
            <a:ext cx="110642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B6478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5B6478"/>
                </a:solidFill>
                <a:latin typeface="Calibri"/>
                <a:ea typeface="Calibri"/>
                <a:cs typeface="Calibri"/>
                <a:sym typeface="Calibri"/>
              </a:rPr>
              <a:t>Once you have output: don’t edit it by hand. Read it carefully — you’ll check it against five specific things next.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13"/>
          <p:cNvSpPr/>
          <p:nvPr/>
        </p:nvSpPr>
        <p:spPr>
          <a:xfrm>
            <a:off x="548640" y="5120640"/>
            <a:ext cx="11064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8"/>
              </a:buClr>
              <a:buSzPts val="1250"/>
              <a:buFont typeface="Calibri"/>
              <a:buNone/>
            </a:pPr>
            <a:r>
              <a:rPr b="0" i="1" lang="en-US" sz="1250" u="none" cap="none" strike="noStrike">
                <a:solidFill>
                  <a:srgbClr val="5B6478"/>
                </a:solidFill>
                <a:latin typeface="Calibri"/>
                <a:ea typeface="Calibri"/>
                <a:cs typeface="Calibri"/>
                <a:sym typeface="Calibri"/>
              </a:rPr>
              <a:t>Inputs: the 12-tab Q3 file, plus the four years of revenue files for trend context.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License"/>
          <p:cNvSpPr/>
          <p:nvPr/>
        </p:nvSpPr>
        <p:spPr>
          <a:xfrm>
            <a:off x="9843640" y="6528816"/>
            <a:ext cx="1799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B6478"/>
                </a:solidFill>
                <a:latin typeface="Calibri"/>
                <a:ea typeface="Calibri"/>
                <a:cs typeface="Calibri"/>
                <a:sym typeface="Calibri"/>
              </a:rPr>
              <a:t>CC BY-NC-SA 4.0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C"/>
        </a:solidFill>
      </p:bgPr>
    </p:bg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4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5228E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A5228E"/>
                </a:solidFill>
                <a:latin typeface="Calibri"/>
                <a:ea typeface="Calibri"/>
                <a:cs typeface="Calibri"/>
                <a:sym typeface="Calibri"/>
              </a:rPr>
              <a:t>BEAT TWO · DIAGNOSE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14"/>
          <p:cNvSpPr/>
          <p:nvPr/>
        </p:nvSpPr>
        <p:spPr>
          <a:xfrm>
            <a:off x="548640" y="713232"/>
            <a:ext cx="107899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1E62"/>
              </a:buClr>
              <a:buSzPts val="2600"/>
              <a:buFont typeface="Cambria"/>
              <a:buNone/>
            </a:pPr>
            <a:r>
              <a:rPr b="1" i="0" lang="en-US" sz="2600" u="none" cap="none" strike="noStrike">
                <a:solidFill>
                  <a:srgbClr val="001E62"/>
                </a:solidFill>
                <a:latin typeface="Cambria"/>
                <a:ea typeface="Cambria"/>
                <a:cs typeface="Cambria"/>
                <a:sym typeface="Cambria"/>
              </a:rPr>
              <a:t>Check your output against these five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14"/>
          <p:cNvSpPr/>
          <p:nvPr/>
        </p:nvSpPr>
        <p:spPr>
          <a:xfrm>
            <a:off x="548640" y="6528816"/>
            <a:ext cx="6400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478"/>
                </a:solidFill>
                <a:latin typeface="Calibri"/>
                <a:ea typeface="Calibri"/>
                <a:cs typeface="Calibri"/>
                <a:sym typeface="Calibri"/>
              </a:rPr>
              <a:t>MODULE 2 · SCATTERED SOURCES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14"/>
          <p:cNvSpPr/>
          <p:nvPr/>
        </p:nvSpPr>
        <p:spPr>
          <a:xfrm>
            <a:off x="640080" y="1783080"/>
            <a:ext cx="457200" cy="457200"/>
          </a:xfrm>
          <a:prstGeom prst="ellipse">
            <a:avLst/>
          </a:prstGeom>
          <a:solidFill>
            <a:srgbClr val="001E6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14"/>
          <p:cNvSpPr/>
          <p:nvPr/>
        </p:nvSpPr>
        <p:spPr>
          <a:xfrm>
            <a:off x="640080" y="178308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1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14"/>
          <p:cNvSpPr/>
          <p:nvPr/>
        </p:nvSpPr>
        <p:spPr>
          <a:xfrm>
            <a:off x="1280160" y="1783080"/>
            <a:ext cx="32918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E2B"/>
              </a:buClr>
              <a:buSzPts val="1550"/>
              <a:buFont typeface="Cambria"/>
              <a:buNone/>
            </a:pPr>
            <a:r>
              <a:rPr b="1" i="0" lang="en-US" sz="1550" u="none" cap="none" strike="noStrike">
                <a:solidFill>
                  <a:srgbClr val="1C1E2B"/>
                </a:solidFill>
                <a:latin typeface="Cambria"/>
                <a:ea typeface="Cambria"/>
                <a:cs typeface="Cambria"/>
                <a:sym typeface="Cambria"/>
              </a:rPr>
              <a:t>OLD tab, again?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14"/>
          <p:cNvSpPr/>
          <p:nvPr/>
        </p:nvSpPr>
        <p:spPr>
          <a:xfrm>
            <a:off x="4709160" y="1783080"/>
            <a:ext cx="67208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5B6478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5B6478"/>
                </a:solidFill>
                <a:latin typeface="Calibri"/>
                <a:ea typeface="Calibri"/>
                <a:cs typeface="Calibri"/>
                <a:sym typeface="Calibri"/>
              </a:rPr>
              <a:t>Check the exact mistake v2 made: did AI accidentally pull 2023 revenue from the gross “OLD” tab instead of the Archive?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14"/>
          <p:cNvSpPr/>
          <p:nvPr/>
        </p:nvSpPr>
        <p:spPr>
          <a:xfrm>
            <a:off x="640080" y="2386584"/>
            <a:ext cx="457200" cy="457200"/>
          </a:xfrm>
          <a:prstGeom prst="ellipse">
            <a:avLst/>
          </a:prstGeom>
          <a:solidFill>
            <a:srgbClr val="001E6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14"/>
          <p:cNvSpPr/>
          <p:nvPr/>
        </p:nvSpPr>
        <p:spPr>
          <a:xfrm>
            <a:off x="640080" y="2386584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2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14"/>
          <p:cNvSpPr/>
          <p:nvPr/>
        </p:nvSpPr>
        <p:spPr>
          <a:xfrm>
            <a:off x="1280160" y="2386584"/>
            <a:ext cx="32918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E2B"/>
              </a:buClr>
              <a:buSzPts val="1550"/>
              <a:buFont typeface="Cambria"/>
              <a:buNone/>
            </a:pPr>
            <a:r>
              <a:rPr b="1" i="0" lang="en-US" sz="1550" u="none" cap="none" strike="noStrike">
                <a:solidFill>
                  <a:srgbClr val="1C1E2B"/>
                </a:solidFill>
                <a:latin typeface="Cambria"/>
                <a:ea typeface="Cambria"/>
                <a:cs typeface="Cambria"/>
                <a:sym typeface="Cambria"/>
              </a:rPr>
              <a:t>2025 stated as actuals?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14"/>
          <p:cNvSpPr/>
          <p:nvPr/>
        </p:nvSpPr>
        <p:spPr>
          <a:xfrm>
            <a:off x="4709160" y="2386584"/>
            <a:ext cx="67208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5B6478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5B6478"/>
                </a:solidFill>
                <a:latin typeface="Calibri"/>
                <a:ea typeface="Calibri"/>
                <a:cs typeface="Calibri"/>
                <a:sym typeface="Calibri"/>
              </a:rPr>
              <a:t>The 2025 file’s own notes say all figures are management estimates, not actuals. Did the report say otherwise?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14"/>
          <p:cNvSpPr/>
          <p:nvPr/>
        </p:nvSpPr>
        <p:spPr>
          <a:xfrm>
            <a:off x="640080" y="2990088"/>
            <a:ext cx="457200" cy="457200"/>
          </a:xfrm>
          <a:prstGeom prst="ellipse">
            <a:avLst/>
          </a:prstGeom>
          <a:solidFill>
            <a:srgbClr val="001E6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14"/>
          <p:cNvSpPr/>
          <p:nvPr/>
        </p:nvSpPr>
        <p:spPr>
          <a:xfrm>
            <a:off x="640080" y="2990088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3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14"/>
          <p:cNvSpPr/>
          <p:nvPr/>
        </p:nvSpPr>
        <p:spPr>
          <a:xfrm>
            <a:off x="1280160" y="2990088"/>
            <a:ext cx="32918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E2B"/>
              </a:buClr>
              <a:buSzPts val="1550"/>
              <a:buFont typeface="Cambria"/>
              <a:buNone/>
            </a:pPr>
            <a:r>
              <a:rPr b="1" i="0" lang="en-US" sz="1550" u="none" cap="none" strike="noStrike">
                <a:solidFill>
                  <a:srgbClr val="1C1E2B"/>
                </a:solidFill>
                <a:latin typeface="Cambria"/>
                <a:ea typeface="Cambria"/>
                <a:cs typeface="Cambria"/>
                <a:sym typeface="Cambria"/>
              </a:rPr>
              <a:t>CAD counted as USD?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14"/>
          <p:cNvSpPr/>
          <p:nvPr/>
        </p:nvSpPr>
        <p:spPr>
          <a:xfrm>
            <a:off x="4709160" y="2990088"/>
            <a:ext cx="67208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5B6478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5B6478"/>
                </a:solidFill>
                <a:latin typeface="Calibri"/>
                <a:ea typeface="Calibri"/>
                <a:cs typeface="Calibri"/>
                <a:sym typeface="Calibri"/>
              </a:rPr>
              <a:t>Ottawa pilot revenue is in Canadian dollars. Did it get added into USD totals without conversion?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14"/>
          <p:cNvSpPr/>
          <p:nvPr/>
        </p:nvSpPr>
        <p:spPr>
          <a:xfrm>
            <a:off x="640080" y="3593592"/>
            <a:ext cx="457200" cy="457200"/>
          </a:xfrm>
          <a:prstGeom prst="ellipse">
            <a:avLst/>
          </a:prstGeom>
          <a:solidFill>
            <a:srgbClr val="001E6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14"/>
          <p:cNvSpPr/>
          <p:nvPr/>
        </p:nvSpPr>
        <p:spPr>
          <a:xfrm>
            <a:off x="640080" y="3593592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4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14"/>
          <p:cNvSpPr/>
          <p:nvPr/>
        </p:nvSpPr>
        <p:spPr>
          <a:xfrm>
            <a:off x="1280160" y="3593592"/>
            <a:ext cx="32918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E2B"/>
              </a:buClr>
              <a:buSzPts val="1550"/>
              <a:buFont typeface="Cambria"/>
              <a:buNone/>
            </a:pPr>
            <a:r>
              <a:rPr b="1" i="0" lang="en-US" sz="1550" u="none" cap="none" strike="noStrike">
                <a:solidFill>
                  <a:srgbClr val="1C1E2B"/>
                </a:solidFill>
                <a:latin typeface="Cambria"/>
                <a:ea typeface="Cambria"/>
                <a:cs typeface="Cambria"/>
                <a:sym typeface="Cambria"/>
              </a:rPr>
              <a:t>Sandra’s situation, flattened?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14"/>
          <p:cNvSpPr/>
          <p:nvPr/>
        </p:nvSpPr>
        <p:spPr>
          <a:xfrm>
            <a:off x="4709160" y="3593592"/>
            <a:ext cx="67208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5B6478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5B6478"/>
                </a:solidFill>
                <a:latin typeface="Calibri"/>
                <a:ea typeface="Calibri"/>
                <a:cs typeface="Calibri"/>
                <a:sym typeface="Calibri"/>
              </a:rPr>
              <a:t>No handoff doc for the spreadsheet is a real operational risk, not routine news. Does the report preserve that, or smooth it over?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14"/>
          <p:cNvSpPr/>
          <p:nvPr/>
        </p:nvSpPr>
        <p:spPr>
          <a:xfrm>
            <a:off x="640080" y="4197096"/>
            <a:ext cx="457200" cy="457200"/>
          </a:xfrm>
          <a:prstGeom prst="ellipse">
            <a:avLst/>
          </a:prstGeom>
          <a:solidFill>
            <a:srgbClr val="AEB9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14"/>
          <p:cNvSpPr/>
          <p:nvPr/>
        </p:nvSpPr>
        <p:spPr>
          <a:xfrm>
            <a:off x="640080" y="4197096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5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14"/>
          <p:cNvSpPr/>
          <p:nvPr/>
        </p:nvSpPr>
        <p:spPr>
          <a:xfrm>
            <a:off x="1280160" y="4197096"/>
            <a:ext cx="32918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E2B"/>
              </a:buClr>
              <a:buSzPts val="1550"/>
              <a:buFont typeface="Cambria"/>
              <a:buNone/>
            </a:pPr>
            <a:r>
              <a:rPr b="1" i="0" lang="en-US" sz="1550" u="none" cap="none" strike="noStrike">
                <a:solidFill>
                  <a:srgbClr val="1C1E2B"/>
                </a:solidFill>
                <a:latin typeface="Cambria"/>
                <a:ea typeface="Cambria"/>
                <a:cs typeface="Cambria"/>
                <a:sym typeface="Cambria"/>
              </a:rPr>
              <a:t>TBD reported as final?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14"/>
          <p:cNvSpPr/>
          <p:nvPr/>
        </p:nvSpPr>
        <p:spPr>
          <a:xfrm>
            <a:off x="4709160" y="4197096"/>
            <a:ext cx="67208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5B6478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5B6478"/>
                </a:solidFill>
                <a:latin typeface="Calibri"/>
                <a:ea typeface="Calibri"/>
                <a:cs typeface="Calibri"/>
                <a:sym typeface="Calibri"/>
              </a:rPr>
              <a:t>Most prompts catch this fine — a small win if yours flagged Q4 targets as not-yet-actual instead of stating them outright.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14"/>
          <p:cNvSpPr/>
          <p:nvPr/>
        </p:nvSpPr>
        <p:spPr>
          <a:xfrm>
            <a:off x="548640" y="5029200"/>
            <a:ext cx="11064240" cy="777240"/>
          </a:xfrm>
          <a:prstGeom prst="roundRect">
            <a:avLst>
              <a:gd fmla="val 10588" name="adj"/>
            </a:avLst>
          </a:prstGeom>
          <a:solidFill>
            <a:srgbClr val="001E6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14"/>
          <p:cNvSpPr/>
          <p:nvPr/>
        </p:nvSpPr>
        <p:spPr>
          <a:xfrm>
            <a:off x="822960" y="5029200"/>
            <a:ext cx="105156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A5228E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A5228E"/>
                </a:solidFill>
                <a:latin typeface="Calibri"/>
                <a:ea typeface="Calibri"/>
                <a:cs typeface="Calibri"/>
                <a:sym typeface="Calibri"/>
              </a:rPr>
              <a:t>Now revise: </a:t>
            </a: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edit your prompt — not the output — and regenerate. The learning is in rewriting the instruction.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License"/>
          <p:cNvSpPr/>
          <p:nvPr/>
        </p:nvSpPr>
        <p:spPr>
          <a:xfrm>
            <a:off x="9843640" y="6528816"/>
            <a:ext cx="1799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B6478"/>
                </a:solidFill>
                <a:latin typeface="Calibri"/>
                <a:ea typeface="Calibri"/>
                <a:cs typeface="Calibri"/>
                <a:sym typeface="Calibri"/>
              </a:rPr>
              <a:t>CC BY-NC-SA 4.0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1E62"/>
        </a:solidFill>
      </p:bgPr>
    </p:bg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18"/>
          <p:cNvSpPr/>
          <p:nvPr/>
        </p:nvSpPr>
        <p:spPr>
          <a:xfrm>
            <a:off x="8961120" y="-2011680"/>
            <a:ext cx="5943600" cy="5943600"/>
          </a:xfrm>
          <a:prstGeom prst="ellipse">
            <a:avLst/>
          </a:prstGeom>
          <a:solidFill>
            <a:srgbClr val="0013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18"/>
          <p:cNvSpPr/>
          <p:nvPr/>
        </p:nvSpPr>
        <p:spPr>
          <a:xfrm>
            <a:off x="-2560320" y="4572000"/>
            <a:ext cx="4572000" cy="4572000"/>
          </a:xfrm>
          <a:prstGeom prst="ellipse">
            <a:avLst/>
          </a:prstGeom>
          <a:solidFill>
            <a:srgbClr val="0013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18"/>
          <p:cNvSpPr/>
          <p:nvPr/>
        </p:nvSpPr>
        <p:spPr>
          <a:xfrm>
            <a:off x="822960" y="2331720"/>
            <a:ext cx="10515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5228E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A5228E"/>
                </a:solidFill>
                <a:latin typeface="Calibri"/>
                <a:ea typeface="Calibri"/>
                <a:cs typeface="Calibri"/>
                <a:sym typeface="Calibri"/>
              </a:rPr>
              <a:t>NAMING THE PATTERN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18"/>
          <p:cNvSpPr/>
          <p:nvPr/>
        </p:nvSpPr>
        <p:spPr>
          <a:xfrm>
            <a:off x="822960" y="2743200"/>
            <a:ext cx="10515600" cy="1554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mbria"/>
              <a:buNone/>
            </a:pPr>
            <a:r>
              <a:rPr b="1" i="0" lang="en-US" sz="4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Two beats. Same folder.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mbria"/>
              <a:buNone/>
            </a:pPr>
            <a:r>
              <a:rPr b="1" i="0" lang="en-US" sz="4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Very different levels of trust.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18"/>
          <p:cNvSpPr/>
          <p:nvPr/>
        </p:nvSpPr>
        <p:spPr>
          <a:xfrm>
            <a:off x="822960" y="4251960"/>
            <a:ext cx="96012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AEB9D6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AEB9D6"/>
                </a:solidFill>
                <a:latin typeface="Calibri"/>
                <a:ea typeface="Calibri"/>
                <a:cs typeface="Calibri"/>
                <a:sym typeface="Calibri"/>
              </a:rPr>
              <a:t>Now we pull back and name the two moves you just used.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18"/>
          <p:cNvSpPr/>
          <p:nvPr/>
        </p:nvSpPr>
        <p:spPr>
          <a:xfrm>
            <a:off x="548640" y="6528816"/>
            <a:ext cx="6400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EB9D6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AEB9D6"/>
                </a:solidFill>
                <a:latin typeface="Calibri"/>
                <a:ea typeface="Calibri"/>
                <a:cs typeface="Calibri"/>
                <a:sym typeface="Calibri"/>
              </a:rPr>
              <a:t>MODULE 2 · SCATTERED SOURCES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License"/>
          <p:cNvSpPr/>
          <p:nvPr/>
        </p:nvSpPr>
        <p:spPr>
          <a:xfrm>
            <a:off x="9843640" y="6528816"/>
            <a:ext cx="1799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CC BY-NC-SA 4.0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C"/>
        </a:solidFill>
      </p:bgPr>
    </p:bg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19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5228E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A5228E"/>
                </a:solidFill>
                <a:latin typeface="Calibri"/>
                <a:ea typeface="Calibri"/>
                <a:cs typeface="Calibri"/>
                <a:sym typeface="Calibri"/>
              </a:rPr>
              <a:t>THE PATTERN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19"/>
          <p:cNvSpPr/>
          <p:nvPr/>
        </p:nvSpPr>
        <p:spPr>
          <a:xfrm>
            <a:off x="548640" y="713232"/>
            <a:ext cx="107899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1E62"/>
              </a:buClr>
              <a:buSzPts val="2800"/>
              <a:buFont typeface="Cambria"/>
              <a:buNone/>
            </a:pPr>
            <a:r>
              <a:rPr b="1" i="0" lang="en-US" sz="2800" u="none" cap="none" strike="noStrike">
                <a:solidFill>
                  <a:srgbClr val="001E62"/>
                </a:solidFill>
                <a:latin typeface="Cambria"/>
                <a:ea typeface="Cambria"/>
                <a:cs typeface="Cambria"/>
                <a:sym typeface="Cambria"/>
              </a:rPr>
              <a:t>The two moves you’ll use constantly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19"/>
          <p:cNvSpPr/>
          <p:nvPr/>
        </p:nvSpPr>
        <p:spPr>
          <a:xfrm>
            <a:off x="548640" y="6528816"/>
            <a:ext cx="6400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478"/>
                </a:solidFill>
                <a:latin typeface="Calibri"/>
                <a:ea typeface="Calibri"/>
                <a:cs typeface="Calibri"/>
                <a:sym typeface="Calibri"/>
              </a:rPr>
              <a:t>MODULE 2 · SCATTERED SOURCES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19"/>
          <p:cNvSpPr/>
          <p:nvPr/>
        </p:nvSpPr>
        <p:spPr>
          <a:xfrm>
            <a:off x="548640" y="1783080"/>
            <a:ext cx="5349240" cy="2514600"/>
          </a:xfrm>
          <a:prstGeom prst="roundRect">
            <a:avLst>
              <a:gd fmla="val 3273" name="adj"/>
            </a:avLst>
          </a:prstGeom>
          <a:solidFill>
            <a:srgbClr val="FFFFFF"/>
          </a:solidFill>
          <a:ln cap="flat" cmpd="sng" w="12700">
            <a:solidFill>
              <a:srgbClr val="E3E6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p19"/>
          <p:cNvSpPr/>
          <p:nvPr/>
        </p:nvSpPr>
        <p:spPr>
          <a:xfrm>
            <a:off x="868680" y="2103120"/>
            <a:ext cx="502920" cy="502920"/>
          </a:xfrm>
          <a:prstGeom prst="ellipse">
            <a:avLst/>
          </a:prstGeom>
          <a:solidFill>
            <a:srgbClr val="001E6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p19"/>
          <p:cNvSpPr/>
          <p:nvPr/>
        </p:nvSpPr>
        <p:spPr>
          <a:xfrm>
            <a:off x="868680" y="210312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19"/>
          <p:cNvSpPr/>
          <p:nvPr/>
        </p:nvSpPr>
        <p:spPr>
          <a:xfrm>
            <a:off x="1554480" y="2075688"/>
            <a:ext cx="40690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E2B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rgbClr val="1C1E2B"/>
                </a:solidFill>
                <a:latin typeface="Cambria"/>
                <a:ea typeface="Cambria"/>
                <a:cs typeface="Cambria"/>
                <a:sym typeface="Cambria"/>
              </a:rPr>
              <a:t>Beat One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19"/>
          <p:cNvSpPr/>
          <p:nvPr/>
        </p:nvSpPr>
        <p:spPr>
          <a:xfrm>
            <a:off x="1554480" y="2404872"/>
            <a:ext cx="4069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1E62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01E62"/>
                </a:solidFill>
                <a:latin typeface="Calibri"/>
                <a:ea typeface="Calibri"/>
                <a:cs typeface="Calibri"/>
                <a:sym typeface="Calibri"/>
              </a:rPr>
              <a:t>AI AS ASSISTANT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19"/>
          <p:cNvSpPr/>
          <p:nvPr/>
        </p:nvSpPr>
        <p:spPr>
          <a:xfrm>
            <a:off x="868680" y="2834640"/>
            <a:ext cx="4709160" cy="1234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B6478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5B6478"/>
                </a:solidFill>
                <a:latin typeface="Calibri"/>
                <a:ea typeface="Calibri"/>
                <a:cs typeface="Calibri"/>
                <a:sym typeface="Calibri"/>
              </a:rPr>
              <a:t>You stay in the driver’s seat. AI suggests, orients, and executes on your instructions — you decide what’s true and what goes in.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19"/>
          <p:cNvSpPr/>
          <p:nvPr/>
        </p:nvSpPr>
        <p:spPr>
          <a:xfrm>
            <a:off x="6263640" y="1783080"/>
            <a:ext cx="5349240" cy="2514600"/>
          </a:xfrm>
          <a:prstGeom prst="roundRect">
            <a:avLst>
              <a:gd fmla="val 3273" name="adj"/>
            </a:avLst>
          </a:prstGeom>
          <a:solidFill>
            <a:srgbClr val="FFFFFF"/>
          </a:solidFill>
          <a:ln cap="flat" cmpd="sng" w="12700">
            <a:solidFill>
              <a:srgbClr val="E3E6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19"/>
          <p:cNvSpPr/>
          <p:nvPr/>
        </p:nvSpPr>
        <p:spPr>
          <a:xfrm>
            <a:off x="6583680" y="2103120"/>
            <a:ext cx="502920" cy="502920"/>
          </a:xfrm>
          <a:prstGeom prst="ellipse">
            <a:avLst/>
          </a:prstGeom>
          <a:solidFill>
            <a:srgbClr val="A5228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p19"/>
          <p:cNvSpPr/>
          <p:nvPr/>
        </p:nvSpPr>
        <p:spPr>
          <a:xfrm>
            <a:off x="6583680" y="210312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19"/>
          <p:cNvSpPr/>
          <p:nvPr/>
        </p:nvSpPr>
        <p:spPr>
          <a:xfrm>
            <a:off x="7269480" y="2075688"/>
            <a:ext cx="40690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E2B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rgbClr val="1C1E2B"/>
                </a:solidFill>
                <a:latin typeface="Cambria"/>
                <a:ea typeface="Cambria"/>
                <a:cs typeface="Cambria"/>
                <a:sym typeface="Cambria"/>
              </a:rPr>
              <a:t>Beat Two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19"/>
          <p:cNvSpPr/>
          <p:nvPr/>
        </p:nvSpPr>
        <p:spPr>
          <a:xfrm>
            <a:off x="7269480" y="2404872"/>
            <a:ext cx="4069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5228E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A5228E"/>
                </a:solidFill>
                <a:latin typeface="Calibri"/>
                <a:ea typeface="Calibri"/>
                <a:cs typeface="Calibri"/>
                <a:sym typeface="Calibri"/>
              </a:rPr>
              <a:t>AI AS ANALYST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19"/>
          <p:cNvSpPr/>
          <p:nvPr/>
        </p:nvSpPr>
        <p:spPr>
          <a:xfrm>
            <a:off x="6583680" y="2834640"/>
            <a:ext cx="4709160" cy="1234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B6478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5B6478"/>
                </a:solidFill>
                <a:latin typeface="Calibri"/>
                <a:ea typeface="Calibri"/>
                <a:cs typeface="Calibri"/>
                <a:sym typeface="Calibri"/>
              </a:rPr>
              <a:t>AI drives more of the work directly — which means the verification burden shifts onto you. More output, more to check.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19"/>
          <p:cNvSpPr/>
          <p:nvPr/>
        </p:nvSpPr>
        <p:spPr>
          <a:xfrm>
            <a:off x="548640" y="4572000"/>
            <a:ext cx="11064240" cy="1234440"/>
          </a:xfrm>
          <a:prstGeom prst="roundRect">
            <a:avLst>
              <a:gd fmla="val 7407" name="adj"/>
            </a:avLst>
          </a:prstGeom>
          <a:solidFill>
            <a:srgbClr val="001E6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19"/>
          <p:cNvSpPr/>
          <p:nvPr/>
        </p:nvSpPr>
        <p:spPr>
          <a:xfrm>
            <a:off x="914400" y="4572000"/>
            <a:ext cx="10332720" cy="1234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ambria"/>
              <a:buNone/>
            </a:pPr>
            <a:r>
              <a:rPr b="0" i="1" lang="en-US" sz="17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“The more autonomy you hand AI, the more deliberate your verification has to be. Neither mode is safer by default — they just fail differently.”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License"/>
          <p:cNvSpPr/>
          <p:nvPr/>
        </p:nvSpPr>
        <p:spPr>
          <a:xfrm>
            <a:off x="9843640" y="6528816"/>
            <a:ext cx="1799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B6478"/>
                </a:solidFill>
                <a:latin typeface="Calibri"/>
                <a:ea typeface="Calibri"/>
                <a:cs typeface="Calibri"/>
                <a:sym typeface="Calibri"/>
              </a:rPr>
              <a:t>CC BY-NC-SA 4.0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C"/>
        </a:solidFill>
      </p:bgPr>
    </p:bg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2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5228E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A5228E"/>
                </a:solidFill>
                <a:latin typeface="Calibri"/>
                <a:ea typeface="Calibri"/>
                <a:cs typeface="Calibri"/>
                <a:sym typeface="Calibri"/>
              </a:rPr>
              <a:t>THE PATTERN · WHY IT WORKS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20"/>
          <p:cNvSpPr/>
          <p:nvPr/>
        </p:nvSpPr>
        <p:spPr>
          <a:xfrm>
            <a:off x="548640" y="713232"/>
            <a:ext cx="107899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1E62"/>
              </a:buClr>
              <a:buSzPts val="2800"/>
              <a:buFont typeface="Cambria"/>
              <a:buNone/>
            </a:pPr>
            <a:r>
              <a:rPr b="1" i="0" lang="en-US" sz="2800" u="none" cap="none" strike="noStrike">
                <a:solidFill>
                  <a:srgbClr val="001E62"/>
                </a:solidFill>
                <a:latin typeface="Cambria"/>
                <a:ea typeface="Cambria"/>
                <a:cs typeface="Cambria"/>
                <a:sym typeface="Cambria"/>
              </a:rPr>
              <a:t>You were already using this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20"/>
          <p:cNvSpPr/>
          <p:nvPr/>
        </p:nvSpPr>
        <p:spPr>
          <a:xfrm>
            <a:off x="548640" y="6528816"/>
            <a:ext cx="6400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478"/>
                </a:solidFill>
                <a:latin typeface="Calibri"/>
                <a:ea typeface="Calibri"/>
                <a:cs typeface="Calibri"/>
                <a:sym typeface="Calibri"/>
              </a:rPr>
              <a:t>MODULE 2 · SCATTERED SOURCES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20"/>
          <p:cNvSpPr/>
          <p:nvPr/>
        </p:nvSpPr>
        <p:spPr>
          <a:xfrm>
            <a:off x="548640" y="1874520"/>
            <a:ext cx="11064240" cy="914400"/>
          </a:xfrm>
          <a:prstGeom prst="roundRect">
            <a:avLst>
              <a:gd fmla="val 8000" name="adj"/>
            </a:avLst>
          </a:prstGeom>
          <a:solidFill>
            <a:srgbClr val="E9ED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" name="Google Shape;323;p20"/>
          <p:cNvSpPr/>
          <p:nvPr/>
        </p:nvSpPr>
        <p:spPr>
          <a:xfrm>
            <a:off x="822960" y="1874520"/>
            <a:ext cx="37490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1E62"/>
              </a:buClr>
              <a:buSzPts val="1650"/>
              <a:buFont typeface="Cambria"/>
              <a:buNone/>
            </a:pPr>
            <a:r>
              <a:rPr b="1" i="0" lang="en-US" sz="1650" u="none" cap="none" strike="noStrike">
                <a:solidFill>
                  <a:srgbClr val="001E62"/>
                </a:solidFill>
                <a:latin typeface="Cambria"/>
                <a:ea typeface="Cambria"/>
                <a:cs typeface="Cambria"/>
                <a:sym typeface="Cambria"/>
              </a:rPr>
              <a:t>Uncover your goal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20"/>
          <p:cNvSpPr/>
          <p:nvPr/>
        </p:nvSpPr>
        <p:spPr>
          <a:xfrm>
            <a:off x="4709160" y="1874520"/>
            <a:ext cx="67208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C1E2B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1C1E2B"/>
                </a:solidFill>
                <a:latin typeface="Calibri"/>
                <a:ea typeface="Calibri"/>
                <a:cs typeface="Calibri"/>
                <a:sym typeface="Calibri"/>
              </a:rPr>
              <a:t>Beat One’s orientation questions — figuring out what the Director actually needs before asking AI to build anything.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20"/>
          <p:cNvSpPr/>
          <p:nvPr/>
        </p:nvSpPr>
        <p:spPr>
          <a:xfrm>
            <a:off x="548640" y="2971800"/>
            <a:ext cx="11064240" cy="914400"/>
          </a:xfrm>
          <a:prstGeom prst="roundRect">
            <a:avLst>
              <a:gd fmla="val 8000" name="adj"/>
            </a:avLst>
          </a:prstGeom>
          <a:solidFill>
            <a:srgbClr val="E9ED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p20"/>
          <p:cNvSpPr/>
          <p:nvPr/>
        </p:nvSpPr>
        <p:spPr>
          <a:xfrm>
            <a:off x="822960" y="2971800"/>
            <a:ext cx="37490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1E62"/>
              </a:buClr>
              <a:buSzPts val="1650"/>
              <a:buFont typeface="Cambria"/>
              <a:buNone/>
            </a:pPr>
            <a:r>
              <a:rPr b="1" i="0" lang="en-US" sz="1650" u="none" cap="none" strike="noStrike">
                <a:solidFill>
                  <a:srgbClr val="001E62"/>
                </a:solidFill>
                <a:latin typeface="Cambria"/>
                <a:ea typeface="Cambria"/>
                <a:cs typeface="Cambria"/>
                <a:sym typeface="Cambria"/>
              </a:rPr>
              <a:t>One step at a time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20"/>
          <p:cNvSpPr/>
          <p:nvPr/>
        </p:nvSpPr>
        <p:spPr>
          <a:xfrm>
            <a:off x="4709160" y="2971800"/>
            <a:ext cx="67208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C1E2B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1C1E2B"/>
                </a:solidFill>
                <a:latin typeface="Calibri"/>
                <a:ea typeface="Calibri"/>
                <a:cs typeface="Calibri"/>
                <a:sym typeface="Calibri"/>
              </a:rPr>
              <a:t>Asking AI to summarize one tab at a time instead of “make sense of this folder” in one shot.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20"/>
          <p:cNvSpPr/>
          <p:nvPr/>
        </p:nvSpPr>
        <p:spPr>
          <a:xfrm>
            <a:off x="548640" y="4069080"/>
            <a:ext cx="11064240" cy="914400"/>
          </a:xfrm>
          <a:prstGeom prst="roundRect">
            <a:avLst>
              <a:gd fmla="val 8000" name="adj"/>
            </a:avLst>
          </a:prstGeom>
          <a:solidFill>
            <a:srgbClr val="E9ED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" name="Google Shape;329;p20"/>
          <p:cNvSpPr/>
          <p:nvPr/>
        </p:nvSpPr>
        <p:spPr>
          <a:xfrm>
            <a:off x="822960" y="4069080"/>
            <a:ext cx="37490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1E62"/>
              </a:buClr>
              <a:buSzPts val="1650"/>
              <a:buFont typeface="Cambria"/>
              <a:buNone/>
            </a:pPr>
            <a:r>
              <a:rPr b="1" i="0" lang="en-US" sz="1650" u="none" cap="none" strike="noStrike">
                <a:solidFill>
                  <a:srgbClr val="001E62"/>
                </a:solidFill>
                <a:latin typeface="Cambria"/>
                <a:ea typeface="Cambria"/>
                <a:cs typeface="Cambria"/>
                <a:sym typeface="Cambria"/>
              </a:rPr>
              <a:t>Don’t outsource your thinking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20"/>
          <p:cNvSpPr/>
          <p:nvPr/>
        </p:nvSpPr>
        <p:spPr>
          <a:xfrm>
            <a:off x="4709160" y="4069080"/>
            <a:ext cx="67208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C1E2B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1C1E2B"/>
                </a:solidFill>
                <a:latin typeface="Calibri"/>
                <a:ea typeface="Calibri"/>
                <a:cs typeface="Calibri"/>
                <a:sym typeface="Calibri"/>
              </a:rPr>
              <a:t>The diagnose step — catching AI’s assumptions: the OLD tab, 2025 estimates, CAD figures, the flattened Sandra risk.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20"/>
          <p:cNvSpPr/>
          <p:nvPr/>
        </p:nvSpPr>
        <p:spPr>
          <a:xfrm>
            <a:off x="548640" y="5257800"/>
            <a:ext cx="11064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8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5B6478"/>
                </a:solidFill>
                <a:latin typeface="Calibri"/>
                <a:ea typeface="Calibri"/>
                <a:cs typeface="Calibri"/>
                <a:sym typeface="Calibri"/>
              </a:rPr>
              <a:t>From “Foundations of AI Communication” — more depth on this in the Prompting module.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" name="License"/>
          <p:cNvSpPr/>
          <p:nvPr/>
        </p:nvSpPr>
        <p:spPr>
          <a:xfrm>
            <a:off x="9843640" y="6528816"/>
            <a:ext cx="1799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B6478"/>
                </a:solidFill>
                <a:latin typeface="Calibri"/>
                <a:ea typeface="Calibri"/>
                <a:cs typeface="Calibri"/>
                <a:sym typeface="Calibri"/>
              </a:rPr>
              <a:t>CC BY-NC-SA 4.0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C"/>
        </a:solidFill>
      </p:bgPr>
    </p:bg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21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5228E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A5228E"/>
                </a:solidFill>
                <a:latin typeface="Calibri"/>
                <a:ea typeface="Calibri"/>
                <a:cs typeface="Calibri"/>
                <a:sym typeface="Calibri"/>
              </a:rPr>
              <a:t>VOCABULARY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21"/>
          <p:cNvSpPr/>
          <p:nvPr/>
        </p:nvSpPr>
        <p:spPr>
          <a:xfrm>
            <a:off x="548640" y="713232"/>
            <a:ext cx="107899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1E62"/>
              </a:buClr>
              <a:buSzPts val="2800"/>
              <a:buFont typeface="Cambria"/>
              <a:buNone/>
            </a:pPr>
            <a:r>
              <a:rPr b="1" i="0" lang="en-US" sz="2800" u="none" cap="none" strike="noStrike">
                <a:solidFill>
                  <a:srgbClr val="001E62"/>
                </a:solidFill>
                <a:latin typeface="Cambria"/>
                <a:ea typeface="Cambria"/>
                <a:cs typeface="Cambria"/>
                <a:sym typeface="Cambria"/>
              </a:rPr>
              <a:t>Words for what you just did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21"/>
          <p:cNvSpPr/>
          <p:nvPr/>
        </p:nvSpPr>
        <p:spPr>
          <a:xfrm>
            <a:off x="548640" y="6528816"/>
            <a:ext cx="6400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478"/>
                </a:solidFill>
                <a:latin typeface="Calibri"/>
                <a:ea typeface="Calibri"/>
                <a:cs typeface="Calibri"/>
                <a:sym typeface="Calibri"/>
              </a:rPr>
              <a:t>MODULE 2 · SCATTERED SOURCES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21"/>
          <p:cNvSpPr/>
          <p:nvPr/>
        </p:nvSpPr>
        <p:spPr>
          <a:xfrm>
            <a:off x="548640" y="1828800"/>
            <a:ext cx="5349240" cy="1600200"/>
          </a:xfrm>
          <a:prstGeom prst="roundRect">
            <a:avLst>
              <a:gd fmla="val 5143" name="adj"/>
            </a:avLst>
          </a:prstGeom>
          <a:solidFill>
            <a:srgbClr val="001E6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" name="Google Shape;341;p21"/>
          <p:cNvSpPr/>
          <p:nvPr/>
        </p:nvSpPr>
        <p:spPr>
          <a:xfrm>
            <a:off x="868680" y="2029968"/>
            <a:ext cx="47091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ambria"/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AI as assistant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21"/>
          <p:cNvSpPr/>
          <p:nvPr/>
        </p:nvSpPr>
        <p:spPr>
          <a:xfrm>
            <a:off x="868680" y="2606040"/>
            <a:ext cx="47091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9E9F2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E9E9F2"/>
                </a:solidFill>
                <a:latin typeface="Calibri"/>
                <a:ea typeface="Calibri"/>
                <a:cs typeface="Calibri"/>
                <a:sym typeface="Calibri"/>
              </a:rPr>
              <a:t>Using AI to orient, suggest, and execute on your instructions — you stay the decision-maker.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21"/>
          <p:cNvSpPr/>
          <p:nvPr/>
        </p:nvSpPr>
        <p:spPr>
          <a:xfrm>
            <a:off x="6263640" y="1828800"/>
            <a:ext cx="5349240" cy="1600200"/>
          </a:xfrm>
          <a:prstGeom prst="roundRect">
            <a:avLst>
              <a:gd fmla="val 5143" name="adj"/>
            </a:avLst>
          </a:prstGeom>
          <a:solidFill>
            <a:srgbClr val="A5228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4" name="Google Shape;344;p21"/>
          <p:cNvSpPr/>
          <p:nvPr/>
        </p:nvSpPr>
        <p:spPr>
          <a:xfrm>
            <a:off x="6583680" y="2029968"/>
            <a:ext cx="47091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ambria"/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AI as analyst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21"/>
          <p:cNvSpPr/>
          <p:nvPr/>
        </p:nvSpPr>
        <p:spPr>
          <a:xfrm>
            <a:off x="6583680" y="2606040"/>
            <a:ext cx="47091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9E9F2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E9E9F2"/>
                </a:solidFill>
                <a:latin typeface="Calibri"/>
                <a:ea typeface="Calibri"/>
                <a:cs typeface="Calibri"/>
                <a:sym typeface="Calibri"/>
              </a:rPr>
              <a:t>Handing AI more of the work directly, and treating verification as part of the job, not an afterthought.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21"/>
          <p:cNvSpPr/>
          <p:nvPr/>
        </p:nvSpPr>
        <p:spPr>
          <a:xfrm>
            <a:off x="548640" y="374904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8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5B6478"/>
                </a:solidFill>
                <a:latin typeface="Calibri"/>
                <a:ea typeface="Calibri"/>
                <a:cs typeface="Calibri"/>
                <a:sym typeface="Calibri"/>
              </a:rPr>
              <a:t>FROM THE PROMPTING MODULE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21"/>
          <p:cNvSpPr/>
          <p:nvPr/>
        </p:nvSpPr>
        <p:spPr>
          <a:xfrm>
            <a:off x="548640" y="4114800"/>
            <a:ext cx="1810512" cy="502920"/>
          </a:xfrm>
          <a:prstGeom prst="roundRect">
            <a:avLst>
              <a:gd fmla="val 50909" name="adj"/>
            </a:avLst>
          </a:prstGeom>
          <a:solidFill>
            <a:srgbClr val="FFFFFF"/>
          </a:solidFill>
          <a:ln cap="flat" cmpd="sng" w="15875">
            <a:solidFill>
              <a:srgbClr val="001E6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" name="Google Shape;348;p21"/>
          <p:cNvSpPr/>
          <p:nvPr/>
        </p:nvSpPr>
        <p:spPr>
          <a:xfrm>
            <a:off x="548640" y="4114800"/>
            <a:ext cx="1810512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1E62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001E62"/>
                </a:solidFill>
                <a:latin typeface="Calibri"/>
                <a:ea typeface="Calibri"/>
                <a:cs typeface="Calibri"/>
                <a:sym typeface="Calibri"/>
              </a:rPr>
              <a:t>Uncover your goal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21"/>
          <p:cNvSpPr/>
          <p:nvPr/>
        </p:nvSpPr>
        <p:spPr>
          <a:xfrm>
            <a:off x="2587752" y="4114800"/>
            <a:ext cx="1901952" cy="502920"/>
          </a:xfrm>
          <a:prstGeom prst="roundRect">
            <a:avLst>
              <a:gd fmla="val 50909" name="adj"/>
            </a:avLst>
          </a:prstGeom>
          <a:solidFill>
            <a:srgbClr val="FFFFFF"/>
          </a:solidFill>
          <a:ln cap="flat" cmpd="sng" w="15875">
            <a:solidFill>
              <a:srgbClr val="001E6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0" name="Google Shape;350;p21"/>
          <p:cNvSpPr/>
          <p:nvPr/>
        </p:nvSpPr>
        <p:spPr>
          <a:xfrm>
            <a:off x="2587752" y="4114800"/>
            <a:ext cx="1901952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1E62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001E62"/>
                </a:solidFill>
                <a:latin typeface="Calibri"/>
                <a:ea typeface="Calibri"/>
                <a:cs typeface="Calibri"/>
                <a:sym typeface="Calibri"/>
              </a:rPr>
              <a:t>One step at a time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21"/>
          <p:cNvSpPr/>
          <p:nvPr/>
        </p:nvSpPr>
        <p:spPr>
          <a:xfrm>
            <a:off x="4718304" y="4114800"/>
            <a:ext cx="2907792" cy="502920"/>
          </a:xfrm>
          <a:prstGeom prst="roundRect">
            <a:avLst>
              <a:gd fmla="val 50909" name="adj"/>
            </a:avLst>
          </a:prstGeom>
          <a:solidFill>
            <a:srgbClr val="FFFFFF"/>
          </a:solidFill>
          <a:ln cap="flat" cmpd="sng" w="15875">
            <a:solidFill>
              <a:srgbClr val="001E6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2" name="Google Shape;352;p21"/>
          <p:cNvSpPr/>
          <p:nvPr/>
        </p:nvSpPr>
        <p:spPr>
          <a:xfrm>
            <a:off x="4718304" y="4114800"/>
            <a:ext cx="2907792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1E62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001E62"/>
                </a:solidFill>
                <a:latin typeface="Calibri"/>
                <a:ea typeface="Calibri"/>
                <a:cs typeface="Calibri"/>
                <a:sym typeface="Calibri"/>
              </a:rPr>
              <a:t>Don’t outsource your thinking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2" name="License"/>
          <p:cNvSpPr/>
          <p:nvPr/>
        </p:nvSpPr>
        <p:spPr>
          <a:xfrm>
            <a:off x="9843640" y="6528816"/>
            <a:ext cx="1799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B6478"/>
                </a:solidFill>
                <a:latin typeface="Calibri"/>
                <a:ea typeface="Calibri"/>
                <a:cs typeface="Calibri"/>
                <a:sym typeface="Calibri"/>
              </a:rPr>
              <a:t>CC BY-NC-SA 4.0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1E62"/>
        </a:solidFill>
      </p:bgPr>
    </p:bg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22"/>
          <p:cNvSpPr/>
          <p:nvPr/>
        </p:nvSpPr>
        <p:spPr>
          <a:xfrm>
            <a:off x="8961120" y="-2011680"/>
            <a:ext cx="5943600" cy="5943600"/>
          </a:xfrm>
          <a:prstGeom prst="ellipse">
            <a:avLst/>
          </a:prstGeom>
          <a:solidFill>
            <a:srgbClr val="0013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9" name="Google Shape;359;p22"/>
          <p:cNvSpPr/>
          <p:nvPr/>
        </p:nvSpPr>
        <p:spPr>
          <a:xfrm>
            <a:off x="-2560320" y="4572000"/>
            <a:ext cx="4572000" cy="4572000"/>
          </a:xfrm>
          <a:prstGeom prst="ellipse">
            <a:avLst/>
          </a:prstGeom>
          <a:solidFill>
            <a:srgbClr val="0013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" name="Google Shape;360;p22"/>
          <p:cNvSpPr/>
          <p:nvPr/>
        </p:nvSpPr>
        <p:spPr>
          <a:xfrm>
            <a:off x="822960" y="2331720"/>
            <a:ext cx="10515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5228E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A5228E"/>
                </a:solidFill>
                <a:latin typeface="Calibri"/>
                <a:ea typeface="Calibri"/>
                <a:cs typeface="Calibri"/>
                <a:sym typeface="Calibri"/>
              </a:rPr>
              <a:t>BRING IT HOME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22"/>
          <p:cNvSpPr/>
          <p:nvPr/>
        </p:nvSpPr>
        <p:spPr>
          <a:xfrm>
            <a:off x="822960" y="2743200"/>
            <a:ext cx="10515600" cy="1554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mbria"/>
              <a:buNone/>
            </a:pPr>
            <a:r>
              <a:rPr b="1" i="0" lang="en-US" sz="4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Where this shows up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mbria"/>
              <a:buNone/>
            </a:pPr>
            <a:r>
              <a:rPr b="1" i="0" lang="en-US" sz="4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outside this room.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22"/>
          <p:cNvSpPr/>
          <p:nvPr/>
        </p:nvSpPr>
        <p:spPr>
          <a:xfrm>
            <a:off x="822960" y="4251960"/>
            <a:ext cx="96012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AEB9D6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AEB9D6"/>
                </a:solidFill>
                <a:latin typeface="Calibri"/>
                <a:ea typeface="Calibri"/>
                <a:cs typeface="Calibri"/>
                <a:sym typeface="Calibri"/>
              </a:rPr>
              <a:t>Your job. Every inherited spreadsheet. Same two moves.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22"/>
          <p:cNvSpPr/>
          <p:nvPr/>
        </p:nvSpPr>
        <p:spPr>
          <a:xfrm>
            <a:off x="548640" y="6528816"/>
            <a:ext cx="6400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EB9D6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AEB9D6"/>
                </a:solidFill>
                <a:latin typeface="Calibri"/>
                <a:ea typeface="Calibri"/>
                <a:cs typeface="Calibri"/>
                <a:sym typeface="Calibri"/>
              </a:rPr>
              <a:t>MODULE 2 · SCATTERED SOURCES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3" name="License"/>
          <p:cNvSpPr/>
          <p:nvPr/>
        </p:nvSpPr>
        <p:spPr>
          <a:xfrm>
            <a:off x="9843640" y="6528816"/>
            <a:ext cx="1799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CC BY-NC-SA 4.0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C"/>
        </a:solidFill>
      </p:bgPr>
    </p:bg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23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5228E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A5228E"/>
                </a:solidFill>
                <a:latin typeface="Calibri"/>
                <a:ea typeface="Calibri"/>
                <a:cs typeface="Calibri"/>
                <a:sym typeface="Calibri"/>
              </a:rPr>
              <a:t>SENSEMAKING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23"/>
          <p:cNvSpPr/>
          <p:nvPr/>
        </p:nvSpPr>
        <p:spPr>
          <a:xfrm>
            <a:off x="548640" y="713232"/>
            <a:ext cx="107899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1E62"/>
              </a:buClr>
              <a:buSzPts val="2800"/>
              <a:buFont typeface="Cambria"/>
              <a:buNone/>
            </a:pPr>
            <a:r>
              <a:rPr b="1" i="0" lang="en-US" sz="2800" u="none" cap="none" strike="noStrike">
                <a:solidFill>
                  <a:srgbClr val="001E62"/>
                </a:solidFill>
                <a:latin typeface="Cambria"/>
                <a:ea typeface="Cambria"/>
                <a:cs typeface="Cambria"/>
                <a:sym typeface="Cambria"/>
              </a:rPr>
              <a:t>Where else does this apply?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23"/>
          <p:cNvSpPr/>
          <p:nvPr/>
        </p:nvSpPr>
        <p:spPr>
          <a:xfrm>
            <a:off x="548640" y="6528816"/>
            <a:ext cx="6400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478"/>
                </a:solidFill>
                <a:latin typeface="Calibri"/>
                <a:ea typeface="Calibri"/>
                <a:cs typeface="Calibri"/>
                <a:sym typeface="Calibri"/>
              </a:rPr>
              <a:t>MODULE 2 · SCATTERED SOURCES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23"/>
          <p:cNvSpPr/>
          <p:nvPr/>
        </p:nvSpPr>
        <p:spPr>
          <a:xfrm>
            <a:off x="548640" y="1783080"/>
            <a:ext cx="11064240" cy="1371600"/>
          </a:xfrm>
          <a:prstGeom prst="roundRect">
            <a:avLst>
              <a:gd fmla="val 6000" name="adj"/>
            </a:avLst>
          </a:prstGeom>
          <a:solidFill>
            <a:srgbClr val="F4E7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3" name="Google Shape;373;p23"/>
          <p:cNvSpPr/>
          <p:nvPr/>
        </p:nvSpPr>
        <p:spPr>
          <a:xfrm>
            <a:off x="868680" y="1920240"/>
            <a:ext cx="104241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1C6B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rgbClr val="7C1C6B"/>
                </a:solidFill>
                <a:latin typeface="Cambria"/>
                <a:ea typeface="Cambria"/>
                <a:cs typeface="Cambria"/>
                <a:sym typeface="Cambria"/>
              </a:rPr>
              <a:t>Think of a recurring task in your own work — something you’ve done more than twice.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23"/>
          <p:cNvSpPr/>
          <p:nvPr/>
        </p:nvSpPr>
        <p:spPr>
          <a:xfrm>
            <a:off x="868680" y="2514600"/>
            <a:ext cx="104241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C1E2B"/>
              </a:buClr>
              <a:buSzPts val="1450"/>
              <a:buFont typeface="Calibri"/>
              <a:buNone/>
            </a:pPr>
            <a:r>
              <a:rPr b="0" i="1" lang="en-US" sz="1450" u="none" cap="none" strike="noStrike">
                <a:solidFill>
                  <a:srgbClr val="1C1E2B"/>
                </a:solidFill>
                <a:latin typeface="Calibri"/>
                <a:ea typeface="Calibri"/>
                <a:cs typeface="Calibri"/>
                <a:sym typeface="Calibri"/>
              </a:rPr>
              <a:t>Does it call for AI as an assistant (you stay hands-on) or AI as an analyst (you hand off more, and verify harder)?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23"/>
          <p:cNvSpPr/>
          <p:nvPr/>
        </p:nvSpPr>
        <p:spPr>
          <a:xfrm>
            <a:off x="548640" y="342900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1E62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01E62"/>
                </a:solidFill>
                <a:latin typeface="Calibri"/>
                <a:ea typeface="Calibri"/>
                <a:cs typeface="Calibri"/>
                <a:sym typeface="Calibri"/>
              </a:rPr>
              <a:t>EXAMPLES TO SEED THE ROOM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23"/>
          <p:cNvSpPr/>
          <p:nvPr/>
        </p:nvSpPr>
        <p:spPr>
          <a:xfrm>
            <a:off x="548640" y="3794760"/>
            <a:ext cx="1673352" cy="4572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12700">
            <a:solidFill>
              <a:srgbClr val="D7DC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7" name="Google Shape;377;p23"/>
          <p:cNvSpPr/>
          <p:nvPr/>
        </p:nvSpPr>
        <p:spPr>
          <a:xfrm>
            <a:off x="548640" y="3794760"/>
            <a:ext cx="167335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C1E2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C1E2B"/>
                </a:solidFill>
                <a:latin typeface="Calibri"/>
                <a:ea typeface="Calibri"/>
                <a:cs typeface="Calibri"/>
                <a:sym typeface="Calibri"/>
              </a:rPr>
              <a:t>Inherited spreadsheets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23"/>
          <p:cNvSpPr/>
          <p:nvPr/>
        </p:nvSpPr>
        <p:spPr>
          <a:xfrm>
            <a:off x="2423160" y="3794760"/>
            <a:ext cx="1847088" cy="4572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12700">
            <a:solidFill>
              <a:srgbClr val="D7DC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9" name="Google Shape;379;p23"/>
          <p:cNvSpPr/>
          <p:nvPr/>
        </p:nvSpPr>
        <p:spPr>
          <a:xfrm>
            <a:off x="2423160" y="3794760"/>
            <a:ext cx="184708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C1E2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C1E2B"/>
                </a:solidFill>
                <a:latin typeface="Calibri"/>
                <a:ea typeface="Calibri"/>
                <a:cs typeface="Calibri"/>
                <a:sym typeface="Calibri"/>
              </a:rPr>
              <a:t>Budget reconciliation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23"/>
          <p:cNvSpPr/>
          <p:nvPr/>
        </p:nvSpPr>
        <p:spPr>
          <a:xfrm>
            <a:off x="4471416" y="3794760"/>
            <a:ext cx="1499616" cy="4572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12700">
            <a:solidFill>
              <a:srgbClr val="D7DC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1" name="Google Shape;381;p23"/>
          <p:cNvSpPr/>
          <p:nvPr/>
        </p:nvSpPr>
        <p:spPr>
          <a:xfrm>
            <a:off x="4471416" y="3794760"/>
            <a:ext cx="1499616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C1E2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C1E2B"/>
                </a:solidFill>
                <a:latin typeface="Calibri"/>
                <a:ea typeface="Calibri"/>
                <a:cs typeface="Calibri"/>
                <a:sym typeface="Calibri"/>
              </a:rPr>
              <a:t>Data cleanup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23"/>
          <p:cNvSpPr/>
          <p:nvPr/>
        </p:nvSpPr>
        <p:spPr>
          <a:xfrm>
            <a:off x="6172200" y="3794760"/>
            <a:ext cx="1586484" cy="4572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12700">
            <a:solidFill>
              <a:srgbClr val="D7DC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p23"/>
          <p:cNvSpPr/>
          <p:nvPr/>
        </p:nvSpPr>
        <p:spPr>
          <a:xfrm>
            <a:off x="6172200" y="3794760"/>
            <a:ext cx="1586484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C1E2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C1E2B"/>
                </a:solidFill>
                <a:latin typeface="Calibri"/>
                <a:ea typeface="Calibri"/>
                <a:cs typeface="Calibri"/>
                <a:sym typeface="Calibri"/>
              </a:rPr>
              <a:t>Handoff notes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23"/>
          <p:cNvSpPr/>
          <p:nvPr/>
        </p:nvSpPr>
        <p:spPr>
          <a:xfrm>
            <a:off x="7959852" y="3794760"/>
            <a:ext cx="2107692" cy="4572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12700">
            <a:solidFill>
              <a:srgbClr val="D7DC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5" name="Google Shape;385;p23"/>
          <p:cNvSpPr/>
          <p:nvPr/>
        </p:nvSpPr>
        <p:spPr>
          <a:xfrm>
            <a:off x="7959852" y="3794760"/>
            <a:ext cx="210769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C1E2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C1E2B"/>
                </a:solidFill>
                <a:latin typeface="Calibri"/>
                <a:ea typeface="Calibri"/>
                <a:cs typeface="Calibri"/>
                <a:sym typeface="Calibri"/>
              </a:rPr>
              <a:t>Trend reports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23"/>
          <p:cNvSpPr/>
          <p:nvPr/>
        </p:nvSpPr>
        <p:spPr>
          <a:xfrm>
            <a:off x="548640" y="4663440"/>
            <a:ext cx="11064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1E62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01E62"/>
                </a:solidFill>
                <a:latin typeface="Calibri"/>
                <a:ea typeface="Calibri"/>
                <a:cs typeface="Calibri"/>
                <a:sym typeface="Calibri"/>
              </a:rPr>
              <a:t>2 min with a partner, then we’ll hear a few out loud.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6" name="License"/>
          <p:cNvSpPr/>
          <p:nvPr/>
        </p:nvSpPr>
        <p:spPr>
          <a:xfrm>
            <a:off x="9843640" y="6528816"/>
            <a:ext cx="1799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B6478"/>
                </a:solidFill>
                <a:latin typeface="Calibri"/>
                <a:ea typeface="Calibri"/>
                <a:cs typeface="Calibri"/>
                <a:sym typeface="Calibri"/>
              </a:rPr>
              <a:t>CC BY-NC-SA 4.0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C"/>
        </a:solidFill>
      </p:bgPr>
    </p:bg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24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5228E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A5228E"/>
                </a:solidFill>
                <a:latin typeface="Calibri"/>
                <a:ea typeface="Calibri"/>
                <a:cs typeface="Calibri"/>
                <a:sym typeface="Calibri"/>
              </a:rPr>
              <a:t>PRACTICE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24"/>
          <p:cNvSpPr/>
          <p:nvPr/>
        </p:nvSpPr>
        <p:spPr>
          <a:xfrm>
            <a:off x="548640" y="713232"/>
            <a:ext cx="107899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1E62"/>
              </a:buClr>
              <a:buSzPts val="2800"/>
              <a:buFont typeface="Cambria"/>
              <a:buNone/>
            </a:pPr>
            <a:r>
              <a:rPr b="1" i="0" lang="en-US" sz="2800" u="none" cap="none" strike="noStrike">
                <a:solidFill>
                  <a:srgbClr val="001E62"/>
                </a:solidFill>
                <a:latin typeface="Cambria"/>
                <a:ea typeface="Cambria"/>
                <a:cs typeface="Cambria"/>
                <a:sym typeface="Cambria"/>
              </a:rPr>
              <a:t>Try it on one real thing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24"/>
          <p:cNvSpPr/>
          <p:nvPr/>
        </p:nvSpPr>
        <p:spPr>
          <a:xfrm>
            <a:off x="548640" y="6528816"/>
            <a:ext cx="6400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478"/>
                </a:solidFill>
                <a:latin typeface="Calibri"/>
                <a:ea typeface="Calibri"/>
                <a:cs typeface="Calibri"/>
                <a:sym typeface="Calibri"/>
              </a:rPr>
              <a:t>MODULE 2 · SCATTERED SOURCES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24"/>
          <p:cNvSpPr/>
          <p:nvPr/>
        </p:nvSpPr>
        <p:spPr>
          <a:xfrm>
            <a:off x="548640" y="1783080"/>
            <a:ext cx="11064240" cy="1508760"/>
          </a:xfrm>
          <a:prstGeom prst="roundRect">
            <a:avLst>
              <a:gd fmla="val 5455" name="adj"/>
            </a:avLst>
          </a:prstGeom>
          <a:solidFill>
            <a:srgbClr val="E9ED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6" name="Google Shape;396;p24"/>
          <p:cNvSpPr/>
          <p:nvPr/>
        </p:nvSpPr>
        <p:spPr>
          <a:xfrm>
            <a:off x="868680" y="1920240"/>
            <a:ext cx="104241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1E62"/>
              </a:buClr>
              <a:buSzPts val="1650"/>
              <a:buFont typeface="Cambria"/>
              <a:buNone/>
            </a:pPr>
            <a:r>
              <a:rPr b="1" i="0" lang="en-US" sz="1650" u="none" cap="none" strike="noStrike">
                <a:solidFill>
                  <a:srgbClr val="001E62"/>
                </a:solidFill>
                <a:latin typeface="Cambria"/>
                <a:ea typeface="Cambria"/>
                <a:cs typeface="Cambria"/>
                <a:sym typeface="Cambria"/>
              </a:rPr>
              <a:t>Pick ONE task </a:t>
            </a:r>
            <a:r>
              <a:rPr b="0" i="0" lang="en-US" sz="1650" u="none" cap="none" strike="noStrike">
                <a:solidFill>
                  <a:srgbClr val="001E62"/>
                </a:solidFill>
                <a:latin typeface="Cambria"/>
                <a:ea typeface="Cambria"/>
                <a:cs typeface="Cambria"/>
                <a:sym typeface="Cambria"/>
              </a:rPr>
              <a:t>from your own work — or use the safe Pinnacle Peak folder if you’d rather not use real data.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24"/>
          <p:cNvSpPr/>
          <p:nvPr/>
        </p:nvSpPr>
        <p:spPr>
          <a:xfrm>
            <a:off x="868680" y="2606040"/>
            <a:ext cx="104241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C1E2B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1C1E2B"/>
                </a:solidFill>
                <a:latin typeface="Calibri"/>
                <a:ea typeface="Calibri"/>
                <a:cs typeface="Calibri"/>
                <a:sym typeface="Calibri"/>
              </a:rPr>
              <a:t>Sketch (on paper or in your AI tool) which mode fits — assistant or analyst — and what your first line of prompt would say.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24"/>
          <p:cNvSpPr/>
          <p:nvPr/>
        </p:nvSpPr>
        <p:spPr>
          <a:xfrm>
            <a:off x="868680" y="3063240"/>
            <a:ext cx="1417320" cy="502920"/>
          </a:xfrm>
          <a:prstGeom prst="roundRect">
            <a:avLst>
              <a:gd fmla="val 50909" name="adj"/>
            </a:avLst>
          </a:prstGeom>
          <a:solidFill>
            <a:srgbClr val="A5228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9" name="Google Shape;399;p24"/>
          <p:cNvSpPr/>
          <p:nvPr/>
        </p:nvSpPr>
        <p:spPr>
          <a:xfrm>
            <a:off x="868680" y="3063240"/>
            <a:ext cx="14173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 MIN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24"/>
          <p:cNvSpPr/>
          <p:nvPr/>
        </p:nvSpPr>
        <p:spPr>
          <a:xfrm>
            <a:off x="548640" y="3840480"/>
            <a:ext cx="11064240" cy="1371600"/>
          </a:xfrm>
          <a:prstGeom prst="roundRect">
            <a:avLst>
              <a:gd fmla="val 6000" name="adj"/>
            </a:avLst>
          </a:prstGeom>
          <a:solidFill>
            <a:srgbClr val="FFFFFF"/>
          </a:solidFill>
          <a:ln cap="flat" cmpd="sng" w="12700">
            <a:solidFill>
              <a:srgbClr val="E3E6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1" name="Google Shape;401;p24"/>
          <p:cNvSpPr/>
          <p:nvPr/>
        </p:nvSpPr>
        <p:spPr>
          <a:xfrm>
            <a:off x="822960" y="402336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5228E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A5228E"/>
                </a:solidFill>
                <a:latin typeface="Calibri"/>
                <a:ea typeface="Calibri"/>
                <a:cs typeface="Calibri"/>
                <a:sym typeface="Calibri"/>
              </a:rPr>
              <a:t>WANT TO GO FURTHER?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24"/>
          <p:cNvSpPr/>
          <p:nvPr/>
        </p:nvSpPr>
        <p:spPr>
          <a:xfrm>
            <a:off x="822960" y="4343400"/>
            <a:ext cx="1033272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B6478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5B6478"/>
                </a:solidFill>
                <a:latin typeface="Calibri"/>
                <a:ea typeface="Calibri"/>
                <a:cs typeface="Calibri"/>
                <a:sym typeface="Calibri"/>
              </a:rPr>
              <a:t>A fuller version — actually running the prompt and getting feedback — is a great fit for office hours or an async follow-up. Capture your prompt, AI’s output, and one thing you’d verify before trusting it.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2" name="License"/>
          <p:cNvSpPr/>
          <p:nvPr/>
        </p:nvSpPr>
        <p:spPr>
          <a:xfrm>
            <a:off x="9843640" y="6528816"/>
            <a:ext cx="1799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B6478"/>
                </a:solidFill>
                <a:latin typeface="Calibri"/>
                <a:ea typeface="Calibri"/>
                <a:cs typeface="Calibri"/>
                <a:sym typeface="Calibri"/>
              </a:rPr>
              <a:t>CC BY-NC-SA 4.0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C"/>
        </a:solidFill>
      </p:bgPr>
    </p:bg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25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5228E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A5228E"/>
                </a:solidFill>
                <a:latin typeface="Calibri"/>
                <a:ea typeface="Calibri"/>
                <a:cs typeface="Calibri"/>
                <a:sym typeface="Calibri"/>
              </a:rPr>
              <a:t>WRAP-UP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25"/>
          <p:cNvSpPr/>
          <p:nvPr/>
        </p:nvSpPr>
        <p:spPr>
          <a:xfrm>
            <a:off x="548640" y="713232"/>
            <a:ext cx="107899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1E62"/>
              </a:buClr>
              <a:buSzPts val="2800"/>
              <a:buFont typeface="Cambria"/>
              <a:buNone/>
            </a:pPr>
            <a:r>
              <a:rPr b="1" i="0" lang="en-US" sz="2800" u="none" cap="none" strike="noStrike">
                <a:solidFill>
                  <a:srgbClr val="001E62"/>
                </a:solidFill>
                <a:latin typeface="Cambria"/>
                <a:ea typeface="Cambria"/>
                <a:cs typeface="Cambria"/>
                <a:sym typeface="Cambria"/>
              </a:rPr>
              <a:t>Take this with you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25"/>
          <p:cNvSpPr/>
          <p:nvPr/>
        </p:nvSpPr>
        <p:spPr>
          <a:xfrm>
            <a:off x="548640" y="6528816"/>
            <a:ext cx="6400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478"/>
                </a:solidFill>
                <a:latin typeface="Calibri"/>
                <a:ea typeface="Calibri"/>
                <a:cs typeface="Calibri"/>
                <a:sym typeface="Calibri"/>
              </a:rPr>
              <a:t>MODULE 2 · SCATTERED SOURCES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25"/>
          <p:cNvSpPr/>
          <p:nvPr/>
        </p:nvSpPr>
        <p:spPr>
          <a:xfrm>
            <a:off x="548640" y="1783080"/>
            <a:ext cx="5349240" cy="3794760"/>
          </a:xfrm>
          <a:prstGeom prst="roundRect">
            <a:avLst>
              <a:gd fmla="val 1928" name="adj"/>
            </a:avLst>
          </a:prstGeom>
          <a:solidFill>
            <a:srgbClr val="F4F5FA"/>
          </a:solidFill>
          <a:ln cap="flat" cmpd="sng" w="12700">
            <a:solidFill>
              <a:srgbClr val="E3E6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2" name="Google Shape;412;p25"/>
          <p:cNvSpPr/>
          <p:nvPr/>
        </p:nvSpPr>
        <p:spPr>
          <a:xfrm>
            <a:off x="548640" y="1783080"/>
            <a:ext cx="5349240" cy="548640"/>
          </a:xfrm>
          <a:prstGeom prst="rect">
            <a:avLst/>
          </a:prstGeom>
          <a:solidFill>
            <a:srgbClr val="001E6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3" name="Google Shape;413;p25"/>
          <p:cNvSpPr/>
          <p:nvPr/>
        </p:nvSpPr>
        <p:spPr>
          <a:xfrm>
            <a:off x="777240" y="1783080"/>
            <a:ext cx="48920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SKELETON 1 — When AI is your assistant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25"/>
          <p:cNvSpPr/>
          <p:nvPr/>
        </p:nvSpPr>
        <p:spPr>
          <a:xfrm>
            <a:off x="822960" y="2514600"/>
            <a:ext cx="4800600" cy="2834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C1E2B"/>
              </a:buClr>
              <a:buSzPts val="1150"/>
              <a:buFont typeface="Consolas"/>
              <a:buNone/>
            </a:pPr>
            <a:r>
              <a:rPr b="0" i="0" lang="en-US" sz="1150" u="none" cap="none" strike="noStrike">
                <a:solidFill>
                  <a:srgbClr val="1C1E2B"/>
                </a:solidFill>
                <a:latin typeface="Consolas"/>
                <a:ea typeface="Consolas"/>
                <a:cs typeface="Consolas"/>
                <a:sym typeface="Consolas"/>
              </a:rPr>
              <a:t>Here’s what I’m looking at: [messy data/folder].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C1E2B"/>
              </a:buClr>
              <a:buSzPts val="1150"/>
              <a:buFont typeface="Consolas"/>
              <a:buNone/>
            </a:pPr>
            <a:r>
              <a:rPr b="0" i="0" lang="en-US" sz="1150" u="none" cap="none" strike="noStrike">
                <a:solidFill>
                  <a:srgbClr val="1C1E2B"/>
                </a:solidFill>
                <a:latin typeface="Consolas"/>
                <a:ea typeface="Consolas"/>
                <a:cs typeface="Consolas"/>
                <a:sym typeface="Consolas"/>
              </a:rPr>
              <a:t>Summarize what’s here, and flag anything that looks inconsistent or unverified before I use it.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50"/>
              <a:buFont typeface="Calibri"/>
              <a:buNone/>
            </a:pPr>
            <a:r>
              <a:t/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C1E2B"/>
              </a:buClr>
              <a:buSzPts val="1150"/>
              <a:buFont typeface="Consolas"/>
              <a:buNone/>
            </a:pPr>
            <a:r>
              <a:rPr b="0" i="0" lang="en-US" sz="1150" u="none" cap="none" strike="noStrike">
                <a:solidFill>
                  <a:srgbClr val="1C1E2B"/>
                </a:solidFill>
                <a:latin typeface="Consolas"/>
                <a:ea typeface="Consolas"/>
                <a:cs typeface="Consolas"/>
                <a:sym typeface="Consolas"/>
              </a:rPr>
              <a:t>Then, before generating anything: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C1E2B"/>
              </a:buClr>
              <a:buSzPts val="1150"/>
              <a:buFont typeface="Consolas"/>
              <a:buNone/>
            </a:pPr>
            <a:r>
              <a:rPr b="0" i="0" lang="en-US" sz="1150" u="none" cap="none" strike="noStrike">
                <a:solidFill>
                  <a:srgbClr val="1C1E2B"/>
                </a:solidFill>
                <a:latin typeface="Consolas"/>
                <a:ea typeface="Consolas"/>
                <a:cs typeface="Consolas"/>
                <a:sym typeface="Consolas"/>
              </a:rPr>
              <a:t>• Tell me which sources conflict, not just what they say.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C1E2B"/>
              </a:buClr>
              <a:buSzPts val="1150"/>
              <a:buFont typeface="Consolas"/>
              <a:buNone/>
            </a:pPr>
            <a:r>
              <a:rPr b="0" i="0" lang="en-US" sz="1150" u="none" cap="none" strike="noStrike">
                <a:solidFill>
                  <a:srgbClr val="1C1E2B"/>
                </a:solidFill>
                <a:latin typeface="Consolas"/>
                <a:ea typeface="Consolas"/>
                <a:cs typeface="Consolas"/>
                <a:sym typeface="Consolas"/>
              </a:rPr>
              <a:t>• Flag anything you can’t verify instead of guessing.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C1E2B"/>
              </a:buClr>
              <a:buSzPts val="1150"/>
              <a:buFont typeface="Consolas"/>
              <a:buNone/>
            </a:pPr>
            <a:r>
              <a:rPr b="0" i="0" lang="en-US" sz="1150" u="none" cap="none" strike="noStrike">
                <a:solidFill>
                  <a:srgbClr val="1C1E2B"/>
                </a:solidFill>
                <a:latin typeface="Consolas"/>
                <a:ea typeface="Consolas"/>
                <a:cs typeface="Consolas"/>
                <a:sym typeface="Consolas"/>
              </a:rPr>
              <a:t>• Don’t fill placeholders — ask me.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25"/>
          <p:cNvSpPr/>
          <p:nvPr/>
        </p:nvSpPr>
        <p:spPr>
          <a:xfrm>
            <a:off x="6263640" y="1783080"/>
            <a:ext cx="5349240" cy="3794760"/>
          </a:xfrm>
          <a:prstGeom prst="roundRect">
            <a:avLst>
              <a:gd fmla="val 1928" name="adj"/>
            </a:avLst>
          </a:prstGeom>
          <a:solidFill>
            <a:srgbClr val="F4F5FA"/>
          </a:solidFill>
          <a:ln cap="flat" cmpd="sng" w="12700">
            <a:solidFill>
              <a:srgbClr val="E3E6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6" name="Google Shape;416;p25"/>
          <p:cNvSpPr/>
          <p:nvPr/>
        </p:nvSpPr>
        <p:spPr>
          <a:xfrm>
            <a:off x="6263640" y="1783080"/>
            <a:ext cx="5349240" cy="548640"/>
          </a:xfrm>
          <a:prstGeom prst="rect">
            <a:avLst/>
          </a:prstGeom>
          <a:solidFill>
            <a:srgbClr val="A5228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7" name="Google Shape;417;p25"/>
          <p:cNvSpPr/>
          <p:nvPr/>
        </p:nvSpPr>
        <p:spPr>
          <a:xfrm>
            <a:off x="6492240" y="1783080"/>
            <a:ext cx="48920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SKELETON 2 — When AI is your analyst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25"/>
          <p:cNvSpPr/>
          <p:nvPr/>
        </p:nvSpPr>
        <p:spPr>
          <a:xfrm>
            <a:off x="6537960" y="2514600"/>
            <a:ext cx="4800600" cy="2834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C1E2B"/>
              </a:buClr>
              <a:buSzPts val="1150"/>
              <a:buFont typeface="Consolas"/>
              <a:buNone/>
            </a:pPr>
            <a:r>
              <a:rPr b="0" i="0" lang="en-US" sz="1150" u="none" cap="none" strike="noStrike">
                <a:solidFill>
                  <a:srgbClr val="1C1E2B"/>
                </a:solidFill>
                <a:latin typeface="Consolas"/>
                <a:ea typeface="Consolas"/>
                <a:cs typeface="Consolas"/>
                <a:sym typeface="Consolas"/>
              </a:rPr>
              <a:t>I need [output type] for [reader]. Here’s the data: [dataset].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50"/>
              <a:buFont typeface="Calibri"/>
              <a:buNone/>
            </a:pPr>
            <a:r>
              <a:t/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C1E2B"/>
              </a:buClr>
              <a:buSzPts val="1150"/>
              <a:buFont typeface="Consolas"/>
              <a:buNone/>
            </a:pPr>
            <a:r>
              <a:rPr b="0" i="0" lang="en-US" sz="1150" u="none" cap="none" strike="noStrike">
                <a:solidFill>
                  <a:srgbClr val="1C1E2B"/>
                </a:solidFill>
                <a:latin typeface="Consolas"/>
                <a:ea typeface="Consolas"/>
                <a:cs typeface="Consolas"/>
                <a:sym typeface="Consolas"/>
              </a:rPr>
              <a:t>Generate it, but show your work: which numbers came from which source, and where you had to make a judgment call.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50"/>
              <a:buFont typeface="Calibri"/>
              <a:buNone/>
            </a:pPr>
            <a:r>
              <a:t/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C1E2B"/>
              </a:buClr>
              <a:buSzPts val="1150"/>
              <a:buFont typeface="Consolas"/>
              <a:buNone/>
            </a:pPr>
            <a:r>
              <a:rPr b="0" i="0" lang="en-US" sz="1150" u="none" cap="none" strike="noStrike">
                <a:solidFill>
                  <a:srgbClr val="1C1E2B"/>
                </a:solidFill>
                <a:latin typeface="Consolas"/>
                <a:ea typeface="Consolas"/>
                <a:cs typeface="Consolas"/>
                <a:sym typeface="Consolas"/>
              </a:rPr>
              <a:t>I’ll verify before this goes anywhere near the Director.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8" name="License"/>
          <p:cNvSpPr/>
          <p:nvPr/>
        </p:nvSpPr>
        <p:spPr>
          <a:xfrm>
            <a:off x="9843640" y="6528816"/>
            <a:ext cx="1799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B6478"/>
                </a:solidFill>
                <a:latin typeface="Calibri"/>
                <a:ea typeface="Calibri"/>
                <a:cs typeface="Calibri"/>
                <a:sym typeface="Calibri"/>
              </a:rPr>
              <a:t>CC BY-NC-SA 4.0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1E62"/>
        </a:solidFill>
      </p:bgPr>
    </p:bg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26"/>
          <p:cNvSpPr/>
          <p:nvPr/>
        </p:nvSpPr>
        <p:spPr>
          <a:xfrm>
            <a:off x="-2743200" y="-3200400"/>
            <a:ext cx="6400800" cy="6400800"/>
          </a:xfrm>
          <a:prstGeom prst="ellipse">
            <a:avLst/>
          </a:prstGeom>
          <a:solidFill>
            <a:srgbClr val="0013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5" name="Google Shape;425;p26"/>
          <p:cNvSpPr/>
          <p:nvPr/>
        </p:nvSpPr>
        <p:spPr>
          <a:xfrm>
            <a:off x="822960" y="1371600"/>
            <a:ext cx="10058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5228E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A5228E"/>
                </a:solidFill>
                <a:latin typeface="Calibri"/>
                <a:ea typeface="Calibri"/>
                <a:cs typeface="Calibri"/>
                <a:sym typeface="Calibri"/>
              </a:rPr>
              <a:t>MODULE 2 COMPLETE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p26"/>
          <p:cNvSpPr/>
          <p:nvPr/>
        </p:nvSpPr>
        <p:spPr>
          <a:xfrm>
            <a:off x="822960" y="1965960"/>
            <a:ext cx="105156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mbria"/>
              <a:buNone/>
            </a:pPr>
            <a:r>
              <a:rPr b="0" i="1" lang="en-US" sz="26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“Know whether you’re asking AI to assist or to analyze —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mbria"/>
              <a:buNone/>
            </a:pPr>
            <a:r>
              <a:rPr b="0" i="1" lang="en-US" sz="26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and verify like the difference matters, because it does.”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p26"/>
          <p:cNvSpPr/>
          <p:nvPr/>
        </p:nvSpPr>
        <p:spPr>
          <a:xfrm>
            <a:off x="822960" y="5989320"/>
            <a:ext cx="256032" cy="256032"/>
          </a:xfrm>
          <a:prstGeom prst="ellipse">
            <a:avLst/>
          </a:prstGeom>
          <a:solidFill>
            <a:srgbClr val="A5228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8" name="Google Shape;428;p26"/>
          <p:cNvSpPr/>
          <p:nvPr/>
        </p:nvSpPr>
        <p:spPr>
          <a:xfrm>
            <a:off x="822960" y="5989320"/>
            <a:ext cx="25603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p26"/>
          <p:cNvSpPr/>
          <p:nvPr/>
        </p:nvSpPr>
        <p:spPr>
          <a:xfrm>
            <a:off x="1188720" y="5943600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CHICAGO TECH CIRCLE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9" name="License"/>
          <p:cNvSpPr/>
          <p:nvPr/>
        </p:nvSpPr>
        <p:spPr>
          <a:xfrm>
            <a:off x="9843640" y="6528816"/>
            <a:ext cx="1799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CC BY-NC-SA 4.0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