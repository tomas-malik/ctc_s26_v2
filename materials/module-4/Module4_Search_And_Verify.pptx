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note — full run sheet lives in the Facilitator Manual and in speaker notes throughout this deck. Total target: ~100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Read these plainly — they're the spine of the whole session. Three outcomes, three beats — keep that mapping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Walk the agenda left to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Read the message aloud. Take a few answers before moving on — don't let anyone open an AI tool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The throughline quote is the spine of the whole module — consider reading it aloud slowly. Same shape as Module 1's throughline (judgment lives in the human step), applied here to retrieval instead of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Learners should be able to tell these three apart afterward, because each one fails differently. This sets up why 'grounding' is a specific, checkable thing you do — not a vague quality an AI tool either has or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Bridges into the activity — keep it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Either outcome (honest 'I don't know' or a confident fabrication) proves the point — the fictional setting guarantees this step works regardless of which AI tool the room is using. Don't let anyone skip straight to grounding.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core Beat One moment — the before/after contrast is the whole lesson. Circulate to make sure everyone actually grounded successfully (documents attached or pasted) before time runs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Bridge explicitly into Beat Two — grounding is necessary but not sufficient, which is what verbatim checking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This is the single most reusable technique in the whole module — say it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Sets up the activity — three modalities, one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Answer key: vote quote in minutes §5; 16 affordable units (25%) in the revised fact sheet + chart; 64 total units in the chart. Full text in the Facilitator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core diagnostic beat. The draft cites the superseded February figures (80 units / 8 affordable / six stories) but has correct parking (40) and correctly mentions the retail commitment — a realistic partial failure. Sharpest catch: the draft contradicts itself (states 80 units, then quotes Kapoor saying "sixty-four units"). Full answer key in the Facilitator Manual — do not give away the mechanism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Name explicitly: this is what partially-grounded research looks like in the real world — not an AI that's uniformly unreliable, one that's unreliable in a specific, checkable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Sets up why Beat Three needs a different verification technique than Beat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This is the Beat Three equivalent of Beat Two's quote-then-interpret technique — say it just as deliberately.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min. Answer key and diagnostic notes (what a strong vs. weak summary looks like) are in the Facilitator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This is the emotional peak of the module — land it before moving to wrap-up.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transition into wrap-up.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This is the explicit naming moment — say the reframe plainly, then the structural-blindness point. This is the highest-leverage idea in the module; don't rush it even though it's near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~3 min pair discussion, ~2 min share-out.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Point people to the Lab Guide for the full reference versions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and point to the companion materials (Lab Guide, Facilitator Manual, starter kit) for lasting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62"/>
        </a:solidFill>
      </p:bgPr>
    </p:bg>
    <p:spTree>
      <p:nvGrpSpPr>
        <p:cNvPr id="1" name=""/>
        <p:cNvGrpSpPr/>
        <p:nvPr/>
      </p:nvGrpSpPr>
      <p:grpSpPr>
        <a:xfrm>
          <a:off x="0" y="0"/>
          <a:ext cx="0" cy="0"/>
          <a:chOff x="0" y="0"/>
          <a:chExt cx="0" cy="0"/>
        </a:xfrm>
      </p:grpSpPr>
      <p:sp>
        <p:nvSpPr>
          <p:cNvPr id="2" name="Shape 0"/>
          <p:cNvSpPr/>
          <p:nvPr/>
        </p:nvSpPr>
        <p:spPr>
          <a:xfrm>
            <a:off x="9265615" y="4114800"/>
            <a:ext cx="4937760" cy="4937760"/>
          </a:xfrm>
          <a:prstGeom prst="ellipse">
            <a:avLst/>
          </a:prstGeom>
          <a:solidFill>
            <a:srgbClr val="001A54"/>
          </a:solidFill>
          <a:ln/>
        </p:spPr>
      </p:sp>
      <p:sp>
        <p:nvSpPr>
          <p:cNvPr id="3" name="Text 1"/>
          <p:cNvSpPr/>
          <p:nvPr/>
        </p:nvSpPr>
        <p:spPr>
          <a:xfrm>
            <a:off x="658368" y="502920"/>
            <a:ext cx="5486400" cy="320040"/>
          </a:xfrm>
          <a:prstGeom prst="rect">
            <a:avLst/>
          </a:prstGeom>
          <a:noFill/>
          <a:ln/>
        </p:spPr>
        <p:txBody>
          <a:bodyPr wrap="square" rtlCol="0" anchor="ctr"/>
          <a:lstStyle/>
          <a:p>
            <a:pPr indent="0" marL="0">
              <a:buNone/>
            </a:pPr>
            <a:r>
              <a:rPr lang="en-US" sz="1100" b="1" dirty="0">
                <a:solidFill>
                  <a:srgbClr val="A5228E"/>
                </a:solidFill>
                <a:latin typeface="Calibri" pitchFamily="34" charset="0"/>
                <a:ea typeface="Calibri" pitchFamily="34" charset="-122"/>
                <a:cs typeface="Calibri" pitchFamily="34" charset="-120"/>
              </a:rPr>
              <a:t>● CHICAGO TECH CIRCLE</a:t>
            </a:r>
            <a:endParaRPr lang="en-US" sz="1100" dirty="0"/>
          </a:p>
        </p:txBody>
      </p:sp>
      <p:sp>
        <p:nvSpPr>
          <p:cNvPr id="4" name="Text 2"/>
          <p:cNvSpPr/>
          <p:nvPr/>
        </p:nvSpPr>
        <p:spPr>
          <a:xfrm>
            <a:off x="658368" y="1965960"/>
            <a:ext cx="8229600" cy="320040"/>
          </a:xfrm>
          <a:prstGeom prst="rect">
            <a:avLst/>
          </a:prstGeom>
          <a:noFill/>
          <a:ln/>
        </p:spPr>
        <p:txBody>
          <a:bodyPr wrap="square" rtlCol="0" anchor="ctr"/>
          <a:lstStyle/>
          <a:p>
            <a:pPr indent="0" marL="0">
              <a:buNone/>
            </a:pPr>
            <a:r>
              <a:rPr lang="en-US" sz="1300" b="1" spc="150" kern="0" dirty="0">
                <a:solidFill>
                  <a:srgbClr val="A5228E"/>
                </a:solidFill>
                <a:latin typeface="Calibri" pitchFamily="34" charset="0"/>
                <a:ea typeface="Calibri" pitchFamily="34" charset="-122"/>
                <a:cs typeface="Calibri" pitchFamily="34" charset="-120"/>
              </a:rPr>
              <a:t>MODULE 4</a:t>
            </a:r>
            <a:endParaRPr lang="en-US" sz="1300" dirty="0"/>
          </a:p>
        </p:txBody>
      </p:sp>
      <p:sp>
        <p:nvSpPr>
          <p:cNvPr id="5" name="Text 3"/>
          <p:cNvSpPr/>
          <p:nvPr/>
        </p:nvSpPr>
        <p:spPr>
          <a:xfrm>
            <a:off x="658368" y="2331720"/>
            <a:ext cx="9601200" cy="1554480"/>
          </a:xfrm>
          <a:prstGeom prst="rect">
            <a:avLst/>
          </a:prstGeom>
          <a:noFill/>
          <a:ln/>
        </p:spPr>
        <p:txBody>
          <a:bodyPr wrap="square" rtlCol="0" anchor="ctr"/>
          <a:lstStyle/>
          <a:p>
            <a:pPr indent="0" marL="0">
              <a:lnSpc>
                <a:spcPts val="4600"/>
              </a:lnSpc>
              <a:buNone/>
            </a:pPr>
            <a:r>
              <a:rPr lang="en-US" sz="4400" b="1" dirty="0">
                <a:solidFill>
                  <a:srgbClr val="FFFFFF"/>
                </a:solidFill>
                <a:latin typeface="Calibri" pitchFamily="34" charset="0"/>
                <a:ea typeface="Calibri" pitchFamily="34" charset="-122"/>
                <a:cs typeface="Calibri" pitchFamily="34" charset="-120"/>
              </a:rPr>
              <a:t>Search &amp; Verify</a:t>
            </a:r>
            <a:endParaRPr lang="en-US" sz="4400" dirty="0"/>
          </a:p>
        </p:txBody>
      </p:sp>
      <p:sp>
        <p:nvSpPr>
          <p:cNvPr id="6" name="Text 4"/>
          <p:cNvSpPr/>
          <p:nvPr/>
        </p:nvSpPr>
        <p:spPr>
          <a:xfrm>
            <a:off x="658368" y="3794760"/>
            <a:ext cx="8503920" cy="914400"/>
          </a:xfrm>
          <a:prstGeom prst="rect">
            <a:avLst/>
          </a:prstGeom>
          <a:noFill/>
          <a:ln/>
        </p:spPr>
        <p:txBody>
          <a:bodyPr wrap="square" rtlCol="0" anchor="ctr"/>
          <a:lstStyle/>
          <a:p>
            <a:pPr indent="0" marL="0">
              <a:lnSpc>
                <a:spcPts val="2200"/>
              </a:lnSpc>
              <a:buNone/>
            </a:pPr>
            <a:r>
              <a:rPr lang="en-US" sz="1600" dirty="0">
                <a:solidFill>
                  <a:srgbClr val="C7CEE8"/>
                </a:solidFill>
                <a:latin typeface="Calibri" pitchFamily="34" charset="0"/>
                <a:ea typeface="Calibri" pitchFamily="34" charset="-122"/>
                <a:cs typeface="Calibri" pitchFamily="34" charset="-120"/>
              </a:rPr>
              <a:t>AI search and document grounding, hands-on: ground an assistant in real documents, pull out exact facts, then find out why the summary is the part you actually have to check.</a:t>
            </a:r>
            <a:endParaRPr lang="en-US" sz="1600" dirty="0"/>
          </a:p>
        </p:txBody>
      </p:sp>
      <p:sp>
        <p:nvSpPr>
          <p:cNvPr id="7" name="Shape 5"/>
          <p:cNvSpPr/>
          <p:nvPr/>
        </p:nvSpPr>
        <p:spPr>
          <a:xfrm>
            <a:off x="658368" y="4892040"/>
            <a:ext cx="1883664" cy="329184"/>
          </a:xfrm>
          <a:prstGeom prst="roundRect">
            <a:avLst>
              <a:gd name="adj" fmla="val 50000"/>
            </a:avLst>
          </a:prstGeom>
          <a:solidFill>
            <a:srgbClr val="0A2A73"/>
          </a:solidFill>
          <a:ln/>
        </p:spPr>
      </p:sp>
      <p:sp>
        <p:nvSpPr>
          <p:cNvPr id="8" name="Text 6"/>
          <p:cNvSpPr/>
          <p:nvPr/>
        </p:nvSpPr>
        <p:spPr>
          <a:xfrm>
            <a:off x="658368" y="4892040"/>
            <a:ext cx="1883664" cy="329184"/>
          </a:xfrm>
          <a:prstGeom prst="rect">
            <a:avLst/>
          </a:prstGeom>
          <a:noFill/>
          <a:ln/>
        </p:spPr>
        <p:txBody>
          <a:bodyPr wrap="square"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~100 MINUTES</a:t>
            </a:r>
            <a:endParaRPr lang="en-US" sz="1100" dirty="0"/>
          </a:p>
        </p:txBody>
      </p:sp>
      <p:sp>
        <p:nvSpPr>
          <p:cNvPr id="9" name="Shape 7"/>
          <p:cNvSpPr/>
          <p:nvPr/>
        </p:nvSpPr>
        <p:spPr>
          <a:xfrm>
            <a:off x="2724912" y="4892040"/>
            <a:ext cx="1289304" cy="329184"/>
          </a:xfrm>
          <a:prstGeom prst="roundRect">
            <a:avLst>
              <a:gd name="adj" fmla="val 50000"/>
            </a:avLst>
          </a:prstGeom>
          <a:solidFill>
            <a:srgbClr val="0A2A73"/>
          </a:solidFill>
          <a:ln/>
        </p:spPr>
      </p:sp>
      <p:sp>
        <p:nvSpPr>
          <p:cNvPr id="10" name="Text 8"/>
          <p:cNvSpPr/>
          <p:nvPr/>
        </p:nvSpPr>
        <p:spPr>
          <a:xfrm>
            <a:off x="2724912" y="4892040"/>
            <a:ext cx="1289304" cy="329184"/>
          </a:xfrm>
          <a:prstGeom prst="rect">
            <a:avLst/>
          </a:prstGeom>
          <a:noFill/>
          <a:ln/>
        </p:spPr>
        <p:txBody>
          <a:bodyPr wrap="square"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LEVEL 1</a:t>
            </a:r>
            <a:endParaRPr lang="en-US" sz="1100" dirty="0"/>
          </a:p>
        </p:txBody>
      </p:sp>
      <p:sp>
        <p:nvSpPr>
          <p:cNvPr id="11" name="Shape 9"/>
          <p:cNvSpPr/>
          <p:nvPr/>
        </p:nvSpPr>
        <p:spPr>
          <a:xfrm>
            <a:off x="4197096" y="4892040"/>
            <a:ext cx="3072384" cy="329184"/>
          </a:xfrm>
          <a:prstGeom prst="roundRect">
            <a:avLst>
              <a:gd name="adj" fmla="val 50000"/>
            </a:avLst>
          </a:prstGeom>
          <a:solidFill>
            <a:srgbClr val="0A2A73"/>
          </a:solidFill>
          <a:ln/>
        </p:spPr>
      </p:sp>
      <p:sp>
        <p:nvSpPr>
          <p:cNvPr id="12" name="Text 10"/>
          <p:cNvSpPr/>
          <p:nvPr/>
        </p:nvSpPr>
        <p:spPr>
          <a:xfrm>
            <a:off x="4197096" y="4892040"/>
            <a:ext cx="3072384" cy="329184"/>
          </a:xfrm>
          <a:prstGeom prst="rect">
            <a:avLst/>
          </a:prstGeom>
          <a:noFill/>
          <a:ln/>
        </p:spPr>
        <p:txBody>
          <a:bodyPr wrap="square"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WHO IT'S FOR: EVERYONE</a:t>
            </a:r>
            <a:endParaRPr lang="en-US" sz="1100" dirty="0"/>
          </a:p>
        </p:txBody>
      </p:sp>
      <p:sp>
        <p:nvSpPr>
          <p:cNvPr id="13" name="Text 11"/>
          <p:cNvSpPr/>
          <p:nvPr/>
        </p:nvSpPr>
        <p:spPr>
          <a:xfrm>
            <a:off x="658368" y="6400800"/>
            <a:ext cx="3657600" cy="274320"/>
          </a:xfrm>
          <a:prstGeom prst="rect">
            <a:avLst/>
          </a:prstGeom>
          <a:noFill/>
          <a:ln/>
        </p:spPr>
        <p:txBody>
          <a:bodyPr wrap="square" rtlCol="0" anchor="ctr"/>
          <a:lstStyle/>
          <a:p>
            <a:pPr indent="0" marL="0">
              <a:buNone/>
            </a:pPr>
            <a:r>
              <a:rPr lang="en-US" sz="900" dirty="0">
                <a:solidFill>
                  <a:srgbClr val="8391C2"/>
                </a:solidFill>
                <a:latin typeface="Calibri" pitchFamily="34" charset="0"/>
                <a:ea typeface="Calibri" pitchFamily="34" charset="-122"/>
                <a:cs typeface="Calibri" pitchFamily="34" charset="-120"/>
              </a:rPr>
              <a:t>CC BY-NC-SA 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SETUP</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By the end of today, you'll be able to …</a:t>
            </a:r>
            <a:endParaRPr lang="en-US" sz="2600" dirty="0"/>
          </a:p>
        </p:txBody>
      </p:sp>
      <p:sp>
        <p:nvSpPr>
          <p:cNvPr id="4" name="Shape 2"/>
          <p:cNvSpPr/>
          <p:nvPr/>
        </p:nvSpPr>
        <p:spPr>
          <a:xfrm>
            <a:off x="658368" y="1993392"/>
            <a:ext cx="310896" cy="310896"/>
          </a:xfrm>
          <a:prstGeom prst="ellipse">
            <a:avLst/>
          </a:prstGeom>
          <a:solidFill>
            <a:srgbClr val="001E62"/>
          </a:solidFill>
          <a:ln/>
        </p:spPr>
      </p:sp>
      <p:sp>
        <p:nvSpPr>
          <p:cNvPr id="5" name="Text 3"/>
          <p:cNvSpPr/>
          <p:nvPr/>
        </p:nvSpPr>
        <p:spPr>
          <a:xfrm>
            <a:off x="658368" y="199339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61288" y="192938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Ground an AI assistant in a specific set of documents</a:t>
            </a:r>
            <a:endParaRPr lang="en-US" sz="1550" dirty="0"/>
          </a:p>
        </p:txBody>
      </p:sp>
      <p:sp>
        <p:nvSpPr>
          <p:cNvPr id="7" name="Text 5"/>
          <p:cNvSpPr/>
          <p:nvPr/>
        </p:nvSpPr>
        <p:spPr>
          <a:xfrm>
            <a:off x="1161288" y="225856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instead of letting it answer from whatever it happened to learn in training — and know why that matters.</a:t>
            </a:r>
            <a:endParaRPr lang="en-US" sz="1250" dirty="0"/>
          </a:p>
        </p:txBody>
      </p:sp>
      <p:sp>
        <p:nvSpPr>
          <p:cNvPr id="8" name="Shape 6"/>
          <p:cNvSpPr/>
          <p:nvPr/>
        </p:nvSpPr>
        <p:spPr>
          <a:xfrm>
            <a:off x="658368" y="3044952"/>
            <a:ext cx="310896" cy="310896"/>
          </a:xfrm>
          <a:prstGeom prst="ellipse">
            <a:avLst/>
          </a:prstGeom>
          <a:solidFill>
            <a:srgbClr val="001E62"/>
          </a:solidFill>
          <a:ln/>
        </p:spPr>
      </p:sp>
      <p:sp>
        <p:nvSpPr>
          <p:cNvPr id="9" name="Text 7"/>
          <p:cNvSpPr/>
          <p:nvPr/>
        </p:nvSpPr>
        <p:spPr>
          <a:xfrm>
            <a:off x="658368" y="304495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61288" y="298094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Pull an exact fact out of a document and check it — in text, a table, or an image</a:t>
            </a:r>
            <a:endParaRPr lang="en-US" sz="1550" dirty="0"/>
          </a:p>
        </p:txBody>
      </p:sp>
      <p:sp>
        <p:nvSpPr>
          <p:cNvPr id="11" name="Text 9"/>
          <p:cNvSpPr/>
          <p:nvPr/>
        </p:nvSpPr>
        <p:spPr>
          <a:xfrm>
            <a:off x="1161288" y="331012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and catch it when a claim doesn't match the current record.</a:t>
            </a:r>
            <a:endParaRPr lang="en-US" sz="1250" dirty="0"/>
          </a:p>
        </p:txBody>
      </p:sp>
      <p:sp>
        <p:nvSpPr>
          <p:cNvPr id="12" name="Shape 10"/>
          <p:cNvSpPr/>
          <p:nvPr/>
        </p:nvSpPr>
        <p:spPr>
          <a:xfrm>
            <a:off x="658368" y="4096512"/>
            <a:ext cx="310896" cy="310896"/>
          </a:xfrm>
          <a:prstGeom prst="ellipse">
            <a:avLst/>
          </a:prstGeom>
          <a:solidFill>
            <a:srgbClr val="001E62"/>
          </a:solidFill>
          <a:ln/>
        </p:spPr>
      </p:sp>
      <p:sp>
        <p:nvSpPr>
          <p:cNvPr id="13" name="Text 11"/>
          <p:cNvSpPr/>
          <p:nvPr/>
        </p:nvSpPr>
        <p:spPr>
          <a:xfrm>
            <a:off x="658368" y="409651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61288" y="403250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Verify a summary or "what does this mean" answer, not just a quoted fact</a:t>
            </a:r>
            <a:endParaRPr lang="en-US" sz="1550" dirty="0"/>
          </a:p>
        </p:txBody>
      </p:sp>
      <p:sp>
        <p:nvSpPr>
          <p:cNvPr id="15" name="Text 13"/>
          <p:cNvSpPr/>
          <p:nvPr/>
        </p:nvSpPr>
        <p:spPr>
          <a:xfrm>
            <a:off x="1161288" y="436168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when there's no single verbatim sentence to check it against.</a:t>
            </a:r>
            <a:endParaRPr lang="en-US" sz="1250" dirty="0"/>
          </a:p>
        </p:txBody>
      </p:sp>
      <p:sp>
        <p:nvSpPr>
          <p:cNvPr id="16" name="Text 14"/>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7" name="Text 15"/>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SETUP</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How we'll spend the next ~100 minutes</a:t>
            </a:r>
            <a:endParaRPr lang="en-US" sz="2600" dirty="0"/>
          </a:p>
        </p:txBody>
      </p:sp>
      <p:sp>
        <p:nvSpPr>
          <p:cNvPr id="4" name="Shape 2"/>
          <p:cNvSpPr/>
          <p:nvPr/>
        </p:nvSpPr>
        <p:spPr>
          <a:xfrm>
            <a:off x="658368" y="1993392"/>
            <a:ext cx="310896" cy="310896"/>
          </a:xfrm>
          <a:prstGeom prst="ellipse">
            <a:avLst/>
          </a:prstGeom>
          <a:solidFill>
            <a:srgbClr val="001E62"/>
          </a:solidFill>
          <a:ln/>
        </p:spPr>
      </p:sp>
      <p:sp>
        <p:nvSpPr>
          <p:cNvPr id="5" name="Text 3"/>
          <p:cNvSpPr/>
          <p:nvPr/>
        </p:nvSpPr>
        <p:spPr>
          <a:xfrm>
            <a:off x="658368" y="199339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61288" y="192938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Setup — 10 min</a:t>
            </a:r>
            <a:endParaRPr lang="en-US" sz="1550" dirty="0"/>
          </a:p>
        </p:txBody>
      </p:sp>
      <p:sp>
        <p:nvSpPr>
          <p:cNvPr id="7" name="Text 5"/>
          <p:cNvSpPr/>
          <p:nvPr/>
        </p:nvSpPr>
        <p:spPr>
          <a:xfrm>
            <a:off x="1161288" y="2258568"/>
            <a:ext cx="9966960" cy="42291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Meet the assignment, meet the case file, understand why this module is about verification.</a:t>
            </a:r>
            <a:endParaRPr lang="en-US" sz="1250" dirty="0"/>
          </a:p>
        </p:txBody>
      </p:sp>
      <p:sp>
        <p:nvSpPr>
          <p:cNvPr id="8" name="Shape 6"/>
          <p:cNvSpPr/>
          <p:nvPr/>
        </p:nvSpPr>
        <p:spPr>
          <a:xfrm>
            <a:off x="658368" y="2782062"/>
            <a:ext cx="310896" cy="310896"/>
          </a:xfrm>
          <a:prstGeom prst="ellipse">
            <a:avLst/>
          </a:prstGeom>
          <a:solidFill>
            <a:srgbClr val="001E62"/>
          </a:solidFill>
          <a:ln/>
        </p:spPr>
      </p:sp>
      <p:sp>
        <p:nvSpPr>
          <p:cNvPr id="9" name="Text 7"/>
          <p:cNvSpPr/>
          <p:nvPr/>
        </p:nvSpPr>
        <p:spPr>
          <a:xfrm>
            <a:off x="658368" y="278206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61288" y="271805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Beat One: ground it — 25 min</a:t>
            </a:r>
            <a:endParaRPr lang="en-US" sz="1550" dirty="0"/>
          </a:p>
        </p:txBody>
      </p:sp>
      <p:sp>
        <p:nvSpPr>
          <p:cNvPr id="11" name="Text 9"/>
          <p:cNvSpPr/>
          <p:nvPr/>
        </p:nvSpPr>
        <p:spPr>
          <a:xfrm>
            <a:off x="1161288" y="3047238"/>
            <a:ext cx="9966960" cy="42291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Ask ungrounded, then ask grounded. Feel the difference for yourself.</a:t>
            </a:r>
            <a:endParaRPr lang="en-US" sz="1250" dirty="0"/>
          </a:p>
        </p:txBody>
      </p:sp>
      <p:sp>
        <p:nvSpPr>
          <p:cNvPr id="12" name="Shape 10"/>
          <p:cNvSpPr/>
          <p:nvPr/>
        </p:nvSpPr>
        <p:spPr>
          <a:xfrm>
            <a:off x="658368" y="3570732"/>
            <a:ext cx="310896" cy="310896"/>
          </a:xfrm>
          <a:prstGeom prst="ellipse">
            <a:avLst/>
          </a:prstGeom>
          <a:solidFill>
            <a:srgbClr val="001E62"/>
          </a:solidFill>
          <a:ln/>
        </p:spPr>
      </p:sp>
      <p:sp>
        <p:nvSpPr>
          <p:cNvPr id="13" name="Text 11"/>
          <p:cNvSpPr/>
          <p:nvPr/>
        </p:nvSpPr>
        <p:spPr>
          <a:xfrm>
            <a:off x="658368" y="357073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61288" y="350672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Beat Two: extract &amp; check — 30 min</a:t>
            </a:r>
            <a:endParaRPr lang="en-US" sz="1550" dirty="0"/>
          </a:p>
        </p:txBody>
      </p:sp>
      <p:sp>
        <p:nvSpPr>
          <p:cNvPr id="15" name="Text 13"/>
          <p:cNvSpPr/>
          <p:nvPr/>
        </p:nvSpPr>
        <p:spPr>
          <a:xfrm>
            <a:off x="1161288" y="3835908"/>
            <a:ext cx="9966960" cy="42291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Pull exact facts from text, a table, and an image — then catch what doesn't match.</a:t>
            </a:r>
            <a:endParaRPr lang="en-US" sz="1250" dirty="0"/>
          </a:p>
        </p:txBody>
      </p:sp>
      <p:sp>
        <p:nvSpPr>
          <p:cNvPr id="16" name="Shape 14"/>
          <p:cNvSpPr/>
          <p:nvPr/>
        </p:nvSpPr>
        <p:spPr>
          <a:xfrm>
            <a:off x="658368" y="4359402"/>
            <a:ext cx="310896" cy="310896"/>
          </a:xfrm>
          <a:prstGeom prst="ellipse">
            <a:avLst/>
          </a:prstGeom>
          <a:solidFill>
            <a:srgbClr val="001E62"/>
          </a:solidFill>
          <a:ln/>
        </p:spPr>
      </p:sp>
      <p:sp>
        <p:nvSpPr>
          <p:cNvPr id="17" name="Text 15"/>
          <p:cNvSpPr/>
          <p:nvPr/>
        </p:nvSpPr>
        <p:spPr>
          <a:xfrm>
            <a:off x="658368" y="435940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1161288" y="429539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Beat Three: summarize &amp; verify — 25 min, then wrap — 10 min</a:t>
            </a:r>
            <a:endParaRPr lang="en-US" sz="1550" dirty="0"/>
          </a:p>
        </p:txBody>
      </p:sp>
      <p:sp>
        <p:nvSpPr>
          <p:cNvPr id="19" name="Text 17"/>
          <p:cNvSpPr/>
          <p:nvPr/>
        </p:nvSpPr>
        <p:spPr>
          <a:xfrm>
            <a:off x="1161288" y="4624578"/>
            <a:ext cx="9966960" cy="42291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Answer a "what does this mean" question, then learn how to check an answer that isn't a quote.</a:t>
            </a:r>
            <a:endParaRPr lang="en-US" sz="1250" dirty="0"/>
          </a:p>
        </p:txBody>
      </p:sp>
      <p:sp>
        <p:nvSpPr>
          <p:cNvPr id="20" name="Text 18"/>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21" name="Text 19"/>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SETUP</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The assignment, from your editor</a:t>
            </a:r>
            <a:endParaRPr lang="en-US" sz="2600" dirty="0"/>
          </a:p>
        </p:txBody>
      </p:sp>
      <p:sp>
        <p:nvSpPr>
          <p:cNvPr id="4" name="Shape 2"/>
          <p:cNvSpPr/>
          <p:nvPr/>
        </p:nvSpPr>
        <p:spPr>
          <a:xfrm>
            <a:off x="658368" y="2011680"/>
            <a:ext cx="10881360" cy="2286000"/>
          </a:xfrm>
          <a:prstGeom prst="roundRect">
            <a:avLst>
              <a:gd name="adj" fmla="val 4800"/>
            </a:avLst>
          </a:prstGeom>
          <a:solidFill>
            <a:srgbClr val="FBF8FA"/>
          </a:solidFill>
          <a:ln w="12700">
            <a:solidFill>
              <a:srgbClr val="ECE6EA"/>
            </a:solidFill>
            <a:prstDash val="solid"/>
          </a:ln>
        </p:spPr>
      </p:sp>
      <p:sp>
        <p:nvSpPr>
          <p:cNvPr id="5" name="Text 3"/>
          <p:cNvSpPr/>
          <p:nvPr/>
        </p:nvSpPr>
        <p:spPr>
          <a:xfrm>
            <a:off x="1024128" y="2240280"/>
            <a:ext cx="5486400" cy="274320"/>
          </a:xfrm>
          <a:prstGeom prst="rect">
            <a:avLst/>
          </a:prstGeom>
          <a:noFill/>
          <a:ln/>
        </p:spPr>
        <p:txBody>
          <a:bodyPr wrap="square" rtlCol="0" anchor="ctr"/>
          <a:lstStyle/>
          <a:p>
            <a:pPr indent="0" marL="0">
              <a:buNone/>
            </a:pPr>
            <a:r>
              <a:rPr lang="en-US" sz="1050" b="1" spc="100" kern="0" dirty="0">
                <a:solidFill>
                  <a:srgbClr val="A5228E"/>
                </a:solidFill>
                <a:latin typeface="Calibri" pitchFamily="34" charset="0"/>
                <a:ea typeface="Calibri" pitchFamily="34" charset="-122"/>
                <a:cs typeface="Calibri" pitchFamily="34" charset="-120"/>
              </a:rPr>
              <a:t>NOTE FROM DANA RUIZ, EDITOR — THE ELSTON HEIGHTS BULLETIN</a:t>
            </a:r>
            <a:endParaRPr lang="en-US" sz="1050" dirty="0"/>
          </a:p>
        </p:txBody>
      </p:sp>
      <p:sp>
        <p:nvSpPr>
          <p:cNvPr id="6" name="Text 4"/>
          <p:cNvSpPr/>
          <p:nvPr/>
        </p:nvSpPr>
        <p:spPr>
          <a:xfrm>
            <a:off x="1024128" y="2560320"/>
            <a:ext cx="10149840" cy="1463040"/>
          </a:xfrm>
          <a:prstGeom prst="rect">
            <a:avLst/>
          </a:prstGeom>
          <a:noFill/>
          <a:ln/>
        </p:spPr>
        <p:txBody>
          <a:bodyPr wrap="square" rtlCol="0" anchor="t"/>
          <a:lstStyle/>
          <a:p>
            <a:pPr indent="0" marL="0">
              <a:lnSpc>
                <a:spcPts val="2000"/>
              </a:lnSpc>
              <a:buNone/>
            </a:pPr>
            <a:r>
              <a:rPr lang="en-US" sz="1500" i="1" dirty="0">
                <a:solidFill>
                  <a:srgbClr val="201A1E"/>
                </a:solidFill>
                <a:latin typeface="Calibri" pitchFamily="34" charset="0"/>
                <a:ea typeface="Calibri" pitchFamily="34" charset="-122"/>
                <a:cs typeface="Calibri" pitchFamily="34" charset="-120"/>
              </a:rPr>
              <a:t>“Theo's draft on the Foundry on Elston vote is basically ready to run, but before it does, I need every figure in it checked against the actual case file — not against whatever's floating around from earlier in the year. The council vote is in two days. Can you fact-check it today?”</a:t>
            </a:r>
            <a:endParaRPr lang="en-US" sz="1500" dirty="0"/>
          </a:p>
        </p:txBody>
      </p:sp>
      <p:sp>
        <p:nvSpPr>
          <p:cNvPr id="7" name="Text 5"/>
          <p:cNvSpPr/>
          <p:nvPr/>
        </p:nvSpPr>
        <p:spPr>
          <a:xfrm>
            <a:off x="658368" y="4572000"/>
            <a:ext cx="10424160" cy="411480"/>
          </a:xfrm>
          <a:prstGeom prst="rect">
            <a:avLst/>
          </a:prstGeom>
          <a:noFill/>
          <a:ln/>
        </p:spPr>
        <p:txBody>
          <a:bodyPr wrap="square" rtlCol="0" anchor="t"/>
          <a:lstStyle/>
          <a:p>
            <a:pPr indent="0" marL="0">
              <a:lnSpc>
                <a:spcPts val="1600"/>
              </a:lnSpc>
              <a:buNone/>
            </a:pPr>
            <a:r>
              <a:rPr lang="en-US" sz="1300" b="1" dirty="0">
                <a:solidFill>
                  <a:srgbClr val="001E62"/>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You're a volunteer researcher for a small neighborhood newsletter — real documents, a real deadline, a draft that isn't yours.</a:t>
            </a:r>
            <a:endParaRPr lang="en-US" sz="1300" dirty="0"/>
          </a:p>
        </p:txBody>
      </p:sp>
      <p:sp>
        <p:nvSpPr>
          <p:cNvPr id="8" name="Text 6"/>
          <p:cNvSpPr/>
          <p:nvPr/>
        </p:nvSpPr>
        <p:spPr>
          <a:xfrm>
            <a:off x="658368" y="5010912"/>
            <a:ext cx="10424160" cy="411480"/>
          </a:xfrm>
          <a:prstGeom prst="rect">
            <a:avLst/>
          </a:prstGeom>
          <a:noFill/>
          <a:ln/>
        </p:spPr>
        <p:txBody>
          <a:bodyPr wrap="square" rtlCol="0" anchor="t"/>
          <a:lstStyle/>
          <a:p>
            <a:pPr indent="0" marL="0">
              <a:lnSpc>
                <a:spcPts val="1600"/>
              </a:lnSpc>
              <a:buNone/>
            </a:pPr>
            <a:r>
              <a:rPr lang="en-US" sz="1300" b="1" dirty="0">
                <a:solidFill>
                  <a:srgbClr val="001E62"/>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You have the actual case file: fact sheets, hearing minutes, a press release, a chart, and Theo's draft. Your AI assistant does not — not yet.</a:t>
            </a:r>
            <a:endParaRPr lang="en-US" sz="1300" dirty="0"/>
          </a:p>
        </p:txBody>
      </p:sp>
      <p:sp>
        <p:nvSpPr>
          <p:cNvPr id="9" name="Shape 7"/>
          <p:cNvSpPr/>
          <p:nvPr/>
        </p:nvSpPr>
        <p:spPr>
          <a:xfrm>
            <a:off x="658368" y="5541264"/>
            <a:ext cx="10881360" cy="685800"/>
          </a:xfrm>
          <a:prstGeom prst="roundRect">
            <a:avLst>
              <a:gd name="adj" fmla="val 13333"/>
            </a:avLst>
          </a:prstGeom>
          <a:solidFill>
            <a:srgbClr val="FBEFF7"/>
          </a:solidFill>
          <a:ln/>
        </p:spPr>
      </p:sp>
      <p:sp>
        <p:nvSpPr>
          <p:cNvPr id="10" name="Text 8"/>
          <p:cNvSpPr/>
          <p:nvPr/>
        </p:nvSpPr>
        <p:spPr>
          <a:xfrm>
            <a:off x="932688" y="5541264"/>
            <a:ext cx="10332720" cy="685800"/>
          </a:xfrm>
          <a:prstGeom prst="rect">
            <a:avLst/>
          </a:prstGeom>
          <a:noFill/>
          <a:ln/>
        </p:spPr>
        <p:txBody>
          <a:bodyPr wrap="square" rtlCol="0" anchor="ctr"/>
          <a:lstStyle/>
          <a:p>
            <a:pPr indent="0" marL="0">
              <a:lnSpc>
                <a:spcPts val="1700"/>
              </a:lnSpc>
              <a:buNone/>
            </a:pPr>
            <a:r>
              <a:rPr lang="en-US" sz="1300" b="1" dirty="0">
                <a:solidFill>
                  <a:srgbClr val="7C1C6B"/>
                </a:solidFill>
                <a:latin typeface="Calibri" pitchFamily="34" charset="0"/>
                <a:ea typeface="Calibri" pitchFamily="34" charset="-122"/>
                <a:cs typeface="Calibri" pitchFamily="34" charset="-120"/>
              </a:rPr>
              <a:t>Before opening any AI tool:  </a:t>
            </a:r>
            <a:pPr indent="0" marL="0">
              <a:lnSpc>
                <a:spcPts val="1700"/>
              </a:lnSpc>
              <a:buNone/>
            </a:pPr>
            <a:r>
              <a:rPr lang="en-US" sz="1300" dirty="0">
                <a:solidFill>
                  <a:srgbClr val="201A1E"/>
                </a:solidFill>
                <a:latin typeface="Calibri" pitchFamily="34" charset="0"/>
                <a:ea typeface="Calibri" pitchFamily="34" charset="-122"/>
                <a:cs typeface="Calibri" pitchFamily="34" charset="-120"/>
              </a:rPr>
              <a:t>what would you personally need to check before you'd put your name behind this story?</a:t>
            </a:r>
            <a:endParaRPr lang="en-US" sz="1300" dirty="0"/>
          </a:p>
        </p:txBody>
      </p:sp>
      <p:sp>
        <p:nvSpPr>
          <p:cNvPr id="11" name="Text 9"/>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2" name="Text 10"/>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SETUP</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Why this module is about verification, not search</a:t>
            </a:r>
            <a:endParaRPr lang="en-US" sz="2600" dirty="0"/>
          </a:p>
        </p:txBody>
      </p:sp>
      <p:sp>
        <p:nvSpPr>
          <p:cNvPr id="4" name="Shape 2"/>
          <p:cNvSpPr/>
          <p:nvPr/>
        </p:nvSpPr>
        <p:spPr>
          <a:xfrm>
            <a:off x="658368" y="1993392"/>
            <a:ext cx="310896" cy="310896"/>
          </a:xfrm>
          <a:prstGeom prst="ellipse">
            <a:avLst/>
          </a:prstGeom>
          <a:solidFill>
            <a:srgbClr val="001E62"/>
          </a:solidFill>
          <a:ln/>
        </p:spPr>
      </p:sp>
      <p:sp>
        <p:nvSpPr>
          <p:cNvPr id="5" name="Text 3"/>
          <p:cNvSpPr/>
          <p:nvPr/>
        </p:nvSpPr>
        <p:spPr>
          <a:xfrm>
            <a:off x="658368" y="199339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61288" y="192938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"AI search" feels like magic — type a question, get a sourced-sounding answer</a:t>
            </a:r>
            <a:endParaRPr lang="en-US" sz="1550" dirty="0"/>
          </a:p>
        </p:txBody>
      </p:sp>
      <p:sp>
        <p:nvSpPr>
          <p:cNvPr id="7" name="Text 5"/>
          <p:cNvSpPr/>
          <p:nvPr/>
        </p:nvSpPr>
        <p:spPr>
          <a:xfrm>
            <a:off x="1161288" y="225856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that confidence is exactly what makes it risky: a wrong answer looks identical to a right one.</a:t>
            </a:r>
            <a:endParaRPr lang="en-US" sz="1250" dirty="0"/>
          </a:p>
        </p:txBody>
      </p:sp>
      <p:sp>
        <p:nvSpPr>
          <p:cNvPr id="8" name="Shape 6"/>
          <p:cNvSpPr/>
          <p:nvPr/>
        </p:nvSpPr>
        <p:spPr>
          <a:xfrm>
            <a:off x="658368" y="3044952"/>
            <a:ext cx="310896" cy="310896"/>
          </a:xfrm>
          <a:prstGeom prst="ellipse">
            <a:avLst/>
          </a:prstGeom>
          <a:solidFill>
            <a:srgbClr val="001E62"/>
          </a:solidFill>
          <a:ln/>
        </p:spPr>
      </p:sp>
      <p:sp>
        <p:nvSpPr>
          <p:cNvPr id="9" name="Text 7"/>
          <p:cNvSpPr/>
          <p:nvPr/>
        </p:nvSpPr>
        <p:spPr>
          <a:xfrm>
            <a:off x="658368" y="304495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61288" y="298094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Modules 1-3 taught judgment when AI produces something</a:t>
            </a:r>
            <a:endParaRPr lang="en-US" sz="1550" dirty="0"/>
          </a:p>
        </p:txBody>
      </p:sp>
      <p:sp>
        <p:nvSpPr>
          <p:cNvPr id="11" name="Text 9"/>
          <p:cNvSpPr/>
          <p:nvPr/>
        </p:nvSpPr>
        <p:spPr>
          <a:xfrm>
            <a:off x="1161288" y="331012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a report, a summary, an analysis. Today turns that same judgment toward AI when it's used to find something.</a:t>
            </a:r>
            <a:endParaRPr lang="en-US" sz="1250" dirty="0"/>
          </a:p>
        </p:txBody>
      </p:sp>
      <p:sp>
        <p:nvSpPr>
          <p:cNvPr id="12" name="Shape 10"/>
          <p:cNvSpPr/>
          <p:nvPr/>
        </p:nvSpPr>
        <p:spPr>
          <a:xfrm>
            <a:off x="658368" y="4096512"/>
            <a:ext cx="310896" cy="310896"/>
          </a:xfrm>
          <a:prstGeom prst="ellipse">
            <a:avLst/>
          </a:prstGeom>
          <a:solidFill>
            <a:srgbClr val="001E62"/>
          </a:solidFill>
          <a:ln/>
        </p:spPr>
      </p:sp>
      <p:sp>
        <p:nvSpPr>
          <p:cNvPr id="13" name="Text 11"/>
          <p:cNvSpPr/>
          <p:nvPr/>
        </p:nvSpPr>
        <p:spPr>
          <a:xfrm>
            <a:off x="658368" y="409651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61288" y="403250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The throughline for today</a:t>
            </a:r>
            <a:endParaRPr lang="en-US" sz="1550" dirty="0"/>
          </a:p>
        </p:txBody>
      </p:sp>
      <p:sp>
        <p:nvSpPr>
          <p:cNvPr id="15" name="Text 13"/>
          <p:cNvSpPr/>
          <p:nvPr/>
        </p:nvSpPr>
        <p:spPr>
          <a:xfrm>
            <a:off x="1161288" y="436168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“AI search doesn't remove the work of finding things out — it relocates it. Your job stops being ‘search for the answer’ and becomes ‘verify what it found, and notice what it couldn't have found.’”</a:t>
            </a:r>
            <a:endParaRPr lang="en-US" sz="1250" dirty="0"/>
          </a:p>
        </p:txBody>
      </p:sp>
      <p:sp>
        <p:nvSpPr>
          <p:cNvPr id="16" name="Text 14"/>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7" name="Text 15"/>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1E62"/>
        </a:solidFill>
      </p:bgPr>
    </p:bg>
    <p:spTree>
      <p:nvGrpSpPr>
        <p:cNvPr id="1" name=""/>
        <p:cNvGrpSpPr/>
        <p:nvPr/>
      </p:nvGrpSpPr>
      <p:grpSpPr>
        <a:xfrm>
          <a:off x="0" y="0"/>
          <a:ext cx="0" cy="0"/>
          <a:chOff x="0" y="0"/>
          <a:chExt cx="0" cy="0"/>
        </a:xfrm>
      </p:grpSpPr>
      <p:sp>
        <p:nvSpPr>
          <p:cNvPr id="2" name="Shape 0"/>
          <p:cNvSpPr/>
          <p:nvPr/>
        </p:nvSpPr>
        <p:spPr>
          <a:xfrm>
            <a:off x="9265615" y="4114800"/>
            <a:ext cx="4937760" cy="4937760"/>
          </a:xfrm>
          <a:prstGeom prst="ellipse">
            <a:avLst/>
          </a:prstGeom>
          <a:solidFill>
            <a:srgbClr val="001A54"/>
          </a:solidFill>
          <a:ln/>
        </p:spPr>
      </p:sp>
      <p:sp>
        <p:nvSpPr>
          <p:cNvPr id="3" name="Text 1"/>
          <p:cNvSpPr/>
          <p:nvPr/>
        </p:nvSpPr>
        <p:spPr>
          <a:xfrm>
            <a:off x="658368" y="265176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BEAT ONE</a:t>
            </a:r>
            <a:endParaRPr lang="en-US" sz="1250" dirty="0"/>
          </a:p>
        </p:txBody>
      </p:sp>
      <p:sp>
        <p:nvSpPr>
          <p:cNvPr id="4" name="Text 2"/>
          <p:cNvSpPr/>
          <p:nvPr/>
        </p:nvSpPr>
        <p:spPr>
          <a:xfrm>
            <a:off x="658368" y="3017520"/>
            <a:ext cx="10241280" cy="1645920"/>
          </a:xfrm>
          <a:prstGeom prst="rect">
            <a:avLst/>
          </a:prstGeom>
          <a:noFill/>
          <a:ln/>
        </p:spPr>
        <p:txBody>
          <a:bodyPr wrap="square" rtlCol="0" anchor="ctr"/>
          <a:lstStyle/>
          <a:p>
            <a:pPr indent="0" marL="0">
              <a:lnSpc>
                <a:spcPts val="3800"/>
              </a:lnSpc>
              <a:buNone/>
            </a:pPr>
            <a:r>
              <a:rPr lang="en-US" sz="3400" b="1" dirty="0">
                <a:solidFill>
                  <a:srgbClr val="FFFFFF"/>
                </a:solidFill>
                <a:latin typeface="Calibri" pitchFamily="34" charset="0"/>
                <a:ea typeface="Calibri" pitchFamily="34" charset="-122"/>
                <a:cs typeface="Calibri" pitchFamily="34" charset="-120"/>
              </a:rPr>
              <a:t>Ground it.</a:t>
            </a:r>
            <a:endParaRPr lang="en-US" sz="3400" dirty="0"/>
          </a:p>
        </p:txBody>
      </p:sp>
      <p:sp>
        <p:nvSpPr>
          <p:cNvPr id="5" name="Text 3"/>
          <p:cNvSpPr/>
          <p:nvPr/>
        </p:nvSpPr>
        <p:spPr>
          <a:xfrm>
            <a:off x="658368" y="4343400"/>
            <a:ext cx="8778240" cy="731520"/>
          </a:xfrm>
          <a:prstGeom prst="rect">
            <a:avLst/>
          </a:prstGeom>
          <a:noFill/>
          <a:ln/>
        </p:spPr>
        <p:txBody>
          <a:bodyPr wrap="square" rtlCol="0" anchor="ctr"/>
          <a:lstStyle/>
          <a:p>
            <a:pPr indent="0" marL="0">
              <a:lnSpc>
                <a:spcPts val="2000"/>
              </a:lnSpc>
              <a:buNone/>
            </a:pPr>
            <a:r>
              <a:rPr lang="en-US" sz="1500" dirty="0">
                <a:solidFill>
                  <a:srgbClr val="C7CEE8"/>
                </a:solidFill>
                <a:latin typeface="Calibri" pitchFamily="34" charset="0"/>
                <a:ea typeface="Calibri" pitchFamily="34" charset="-122"/>
                <a:cs typeface="Calibri" pitchFamily="34" charset="-120"/>
              </a:rPr>
              <a:t>Before you trust an AI's answer about anything specific, find out what it's actually answering from.</a:t>
            </a:r>
            <a:endParaRPr lang="en-US" sz="1500" dirty="0"/>
          </a:p>
        </p:txBody>
      </p:sp>
      <p:sp>
        <p:nvSpPr>
          <p:cNvPr id="6" name="Text 4"/>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AAB3D6"/>
                </a:solidFill>
                <a:latin typeface="Calibri" pitchFamily="34" charset="0"/>
                <a:ea typeface="Calibri" pitchFamily="34" charset="-122"/>
                <a:cs typeface="Calibri" pitchFamily="34" charset="-120"/>
              </a:rPr>
              <a:t>MODULE 4 · SEARCH &amp; VERIFY</a:t>
            </a:r>
            <a:endParaRPr lang="en-US" sz="900" dirty="0"/>
          </a:p>
        </p:txBody>
      </p:sp>
      <p:sp>
        <p:nvSpPr>
          <p:cNvPr id="7" name="Text 5"/>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AAB3D6"/>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BEAT ONE</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Three different things people call "AI search"</a:t>
            </a:r>
            <a:endParaRPr lang="en-US" sz="2600" dirty="0"/>
          </a:p>
        </p:txBody>
      </p:sp>
      <p:sp>
        <p:nvSpPr>
          <p:cNvPr id="4" name="Shape 2"/>
          <p:cNvSpPr/>
          <p:nvPr/>
        </p:nvSpPr>
        <p:spPr>
          <a:xfrm>
            <a:off x="658368" y="1993392"/>
            <a:ext cx="310896" cy="310896"/>
          </a:xfrm>
          <a:prstGeom prst="ellipse">
            <a:avLst/>
          </a:prstGeom>
          <a:solidFill>
            <a:srgbClr val="001E62"/>
          </a:solidFill>
          <a:ln/>
        </p:spPr>
      </p:sp>
      <p:sp>
        <p:nvSpPr>
          <p:cNvPr id="5" name="Text 3"/>
          <p:cNvSpPr/>
          <p:nvPr/>
        </p:nvSpPr>
        <p:spPr>
          <a:xfrm>
            <a:off x="658368" y="199339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61288" y="192938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Classic keyword search</a:t>
            </a:r>
            <a:endParaRPr lang="en-US" sz="1550" dirty="0"/>
          </a:p>
        </p:txBody>
      </p:sp>
      <p:sp>
        <p:nvSpPr>
          <p:cNvPr id="7" name="Text 5"/>
          <p:cNvSpPr/>
          <p:nvPr/>
        </p:nvSpPr>
        <p:spPr>
          <a:xfrm>
            <a:off x="1161288" y="225856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returns a list of links. You do the reading and the deciding — nothing is grounded or generated for you.</a:t>
            </a:r>
            <a:endParaRPr lang="en-US" sz="1250" dirty="0"/>
          </a:p>
        </p:txBody>
      </p:sp>
      <p:sp>
        <p:nvSpPr>
          <p:cNvPr id="8" name="Shape 6"/>
          <p:cNvSpPr/>
          <p:nvPr/>
        </p:nvSpPr>
        <p:spPr>
          <a:xfrm>
            <a:off x="658368" y="3044952"/>
            <a:ext cx="310896" cy="310896"/>
          </a:xfrm>
          <a:prstGeom prst="ellipse">
            <a:avLst/>
          </a:prstGeom>
          <a:solidFill>
            <a:srgbClr val="001E62"/>
          </a:solidFill>
          <a:ln/>
        </p:spPr>
      </p:sp>
      <p:sp>
        <p:nvSpPr>
          <p:cNvPr id="9" name="Text 7"/>
          <p:cNvSpPr/>
          <p:nvPr/>
        </p:nvSpPr>
        <p:spPr>
          <a:xfrm>
            <a:off x="658368" y="304495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61288" y="298094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Answering from memory alone</a:t>
            </a:r>
            <a:endParaRPr lang="en-US" sz="1550" dirty="0"/>
          </a:p>
        </p:txBody>
      </p:sp>
      <p:sp>
        <p:nvSpPr>
          <p:cNvPr id="11" name="Text 9"/>
          <p:cNvSpPr/>
          <p:nvPr/>
        </p:nvSpPr>
        <p:spPr>
          <a:xfrm>
            <a:off x="1161288" y="331012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the model answers using only what it learned during training. No lookup happens at all — and it can't tell you that.</a:t>
            </a:r>
            <a:endParaRPr lang="en-US" sz="1250" dirty="0"/>
          </a:p>
        </p:txBody>
      </p:sp>
      <p:sp>
        <p:nvSpPr>
          <p:cNvPr id="12" name="Shape 10"/>
          <p:cNvSpPr/>
          <p:nvPr/>
        </p:nvSpPr>
        <p:spPr>
          <a:xfrm>
            <a:off x="658368" y="4096512"/>
            <a:ext cx="310896" cy="310896"/>
          </a:xfrm>
          <a:prstGeom prst="ellipse">
            <a:avLst/>
          </a:prstGeom>
          <a:solidFill>
            <a:srgbClr val="001E62"/>
          </a:solidFill>
          <a:ln/>
        </p:spPr>
      </p:sp>
      <p:sp>
        <p:nvSpPr>
          <p:cNvPr id="13" name="Text 11"/>
          <p:cNvSpPr/>
          <p:nvPr/>
        </p:nvSpPr>
        <p:spPr>
          <a:xfrm>
            <a:off x="658368" y="409651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61288" y="403250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Retrieval, then generation — what "grounded AI search" actually means</a:t>
            </a:r>
            <a:endParaRPr lang="en-US" sz="1550" dirty="0"/>
          </a:p>
        </p:txBody>
      </p:sp>
      <p:sp>
        <p:nvSpPr>
          <p:cNvPr id="15" name="Text 13"/>
          <p:cNvSpPr/>
          <p:nvPr/>
        </p:nvSpPr>
        <p:spPr>
          <a:xfrm>
            <a:off x="1161288" y="436168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the tool finds passages in a specific document set, then writes an answer from those passages. This is what today is about.</a:t>
            </a:r>
            <a:endParaRPr lang="en-US" sz="1250" dirty="0"/>
          </a:p>
        </p:txBody>
      </p:sp>
      <p:sp>
        <p:nvSpPr>
          <p:cNvPr id="16" name="Text 14"/>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7" name="Text 15"/>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BEAT ONE</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What "grounding" means, in practice</a:t>
            </a:r>
            <a:endParaRPr lang="en-US" sz="2600" dirty="0"/>
          </a:p>
        </p:txBody>
      </p:sp>
      <p:sp>
        <p:nvSpPr>
          <p:cNvPr id="4" name="Shape 2"/>
          <p:cNvSpPr/>
          <p:nvPr/>
        </p:nvSpPr>
        <p:spPr>
          <a:xfrm>
            <a:off x="658368" y="1993392"/>
            <a:ext cx="310896" cy="310896"/>
          </a:xfrm>
          <a:prstGeom prst="ellipse">
            <a:avLst/>
          </a:prstGeom>
          <a:solidFill>
            <a:srgbClr val="001E62"/>
          </a:solidFill>
          <a:ln/>
        </p:spPr>
      </p:sp>
      <p:sp>
        <p:nvSpPr>
          <p:cNvPr id="5" name="Text 3"/>
          <p:cNvSpPr/>
          <p:nvPr/>
        </p:nvSpPr>
        <p:spPr>
          <a:xfrm>
            <a:off x="658368" y="199339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61288" y="192938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You point the model at a specific, known set of documents</a:t>
            </a:r>
            <a:endParaRPr lang="en-US" sz="1550" dirty="0"/>
          </a:p>
        </p:txBody>
      </p:sp>
      <p:sp>
        <p:nvSpPr>
          <p:cNvPr id="7" name="Text 5"/>
          <p:cNvSpPr/>
          <p:nvPr/>
        </p:nvSpPr>
        <p:spPr>
          <a:xfrm>
            <a:off x="1161288" y="225856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a folder, an uploaded file, a pasted block of text — not "the internet" and not "whatever you remember."</a:t>
            </a:r>
            <a:endParaRPr lang="en-US" sz="1250" dirty="0"/>
          </a:p>
        </p:txBody>
      </p:sp>
      <p:sp>
        <p:nvSpPr>
          <p:cNvPr id="8" name="Shape 6"/>
          <p:cNvSpPr/>
          <p:nvPr/>
        </p:nvSpPr>
        <p:spPr>
          <a:xfrm>
            <a:off x="658368" y="3044952"/>
            <a:ext cx="310896" cy="310896"/>
          </a:xfrm>
          <a:prstGeom prst="ellipse">
            <a:avLst/>
          </a:prstGeom>
          <a:solidFill>
            <a:srgbClr val="001E62"/>
          </a:solidFill>
          <a:ln/>
        </p:spPr>
      </p:sp>
      <p:sp>
        <p:nvSpPr>
          <p:cNvPr id="9" name="Text 7"/>
          <p:cNvSpPr/>
          <p:nvPr/>
        </p:nvSpPr>
        <p:spPr>
          <a:xfrm>
            <a:off x="658368" y="304495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61288" y="298094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The model answers from that material — and only that material</a:t>
            </a:r>
            <a:endParaRPr lang="en-US" sz="1550" dirty="0"/>
          </a:p>
        </p:txBody>
      </p:sp>
      <p:sp>
        <p:nvSpPr>
          <p:cNvPr id="11" name="Text 9"/>
          <p:cNvSpPr/>
          <p:nvPr/>
        </p:nvSpPr>
        <p:spPr>
          <a:xfrm>
            <a:off x="1161288" y="331012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if the answer isn't in the documents, a properly grounded assistant should say so, not fill the gap from memory.</a:t>
            </a:r>
            <a:endParaRPr lang="en-US" sz="1250" dirty="0"/>
          </a:p>
        </p:txBody>
      </p:sp>
      <p:sp>
        <p:nvSpPr>
          <p:cNvPr id="12" name="Shape 10"/>
          <p:cNvSpPr/>
          <p:nvPr/>
        </p:nvSpPr>
        <p:spPr>
          <a:xfrm>
            <a:off x="658368" y="4096512"/>
            <a:ext cx="310896" cy="310896"/>
          </a:xfrm>
          <a:prstGeom prst="ellipse">
            <a:avLst/>
          </a:prstGeom>
          <a:solidFill>
            <a:srgbClr val="001E62"/>
          </a:solidFill>
          <a:ln/>
        </p:spPr>
      </p:sp>
      <p:sp>
        <p:nvSpPr>
          <p:cNvPr id="13" name="Text 11"/>
          <p:cNvSpPr/>
          <p:nvPr/>
        </p:nvSpPr>
        <p:spPr>
          <a:xfrm>
            <a:off x="658368" y="409651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61288" y="403250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This is a deliberate step, not a setting that's always on</a:t>
            </a:r>
            <a:endParaRPr lang="en-US" sz="1550" dirty="0"/>
          </a:p>
        </p:txBody>
      </p:sp>
      <p:sp>
        <p:nvSpPr>
          <p:cNvPr id="15" name="Text 13"/>
          <p:cNvSpPr/>
          <p:nvPr/>
        </p:nvSpPr>
        <p:spPr>
          <a:xfrm>
            <a:off x="1161288" y="436168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most general-purpose chat is NOT grounded by default — you have to actually attach or paste the documents.</a:t>
            </a:r>
            <a:endParaRPr lang="en-US" sz="1250" dirty="0"/>
          </a:p>
        </p:txBody>
      </p:sp>
      <p:sp>
        <p:nvSpPr>
          <p:cNvPr id="16" name="Text 14"/>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7" name="Text 15"/>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BEAT ONE · ACTIVITY</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First, ask it ungrounded</a:t>
            </a:r>
            <a:endParaRPr lang="en-US" sz="2600" dirty="0"/>
          </a:p>
        </p:txBody>
      </p:sp>
      <p:sp>
        <p:nvSpPr>
          <p:cNvPr id="4" name="Shape 2"/>
          <p:cNvSpPr/>
          <p:nvPr/>
        </p:nvSpPr>
        <p:spPr>
          <a:xfrm>
            <a:off x="10527487" y="530352"/>
            <a:ext cx="1005840" cy="329184"/>
          </a:xfrm>
          <a:prstGeom prst="roundRect">
            <a:avLst>
              <a:gd name="adj" fmla="val 50000"/>
            </a:avLst>
          </a:prstGeom>
          <a:solidFill>
            <a:srgbClr val="FBEFF7"/>
          </a:solidFill>
          <a:ln/>
        </p:spPr>
      </p:sp>
      <p:sp>
        <p:nvSpPr>
          <p:cNvPr id="5" name="Text 3"/>
          <p:cNvSpPr/>
          <p:nvPr/>
        </p:nvSpPr>
        <p:spPr>
          <a:xfrm>
            <a:off x="10527487" y="530352"/>
            <a:ext cx="1005840" cy="329184"/>
          </a:xfrm>
          <a:prstGeom prst="rect">
            <a:avLst/>
          </a:prstGeom>
          <a:noFill/>
          <a:ln/>
        </p:spPr>
        <p:txBody>
          <a:bodyPr wrap="square" rtlCol="0" anchor="ctr"/>
          <a:lstStyle/>
          <a:p>
            <a:pPr algn="ctr" indent="0" marL="0">
              <a:buNone/>
            </a:pPr>
            <a:r>
              <a:rPr lang="en-US" sz="1100" b="1" spc="100" kern="0" dirty="0">
                <a:solidFill>
                  <a:srgbClr val="7C1C6B"/>
                </a:solidFill>
                <a:latin typeface="Calibri" pitchFamily="34" charset="0"/>
                <a:ea typeface="Calibri" pitchFamily="34" charset="-122"/>
                <a:cs typeface="Calibri" pitchFamily="34" charset="-120"/>
              </a:rPr>
              <a:t>10 MIN</a:t>
            </a:r>
            <a:endParaRPr lang="en-US" sz="1100" dirty="0"/>
          </a:p>
        </p:txBody>
      </p:sp>
      <p:sp>
        <p:nvSpPr>
          <p:cNvPr id="6" name="Shape 4"/>
          <p:cNvSpPr/>
          <p:nvPr/>
        </p:nvSpPr>
        <p:spPr>
          <a:xfrm>
            <a:off x="658368" y="1965960"/>
            <a:ext cx="10881360" cy="1234440"/>
          </a:xfrm>
          <a:prstGeom prst="roundRect">
            <a:avLst>
              <a:gd name="adj" fmla="val 8889"/>
            </a:avLst>
          </a:prstGeom>
          <a:solidFill>
            <a:srgbClr val="FBEFF7"/>
          </a:solidFill>
          <a:ln/>
        </p:spPr>
      </p:sp>
      <p:sp>
        <p:nvSpPr>
          <p:cNvPr id="7" name="Text 5"/>
          <p:cNvSpPr/>
          <p:nvPr/>
        </p:nvSpPr>
        <p:spPr>
          <a:xfrm>
            <a:off x="978408" y="2130552"/>
            <a:ext cx="10241280" cy="905256"/>
          </a:xfrm>
          <a:prstGeom prst="rect">
            <a:avLst/>
          </a:prstGeom>
          <a:noFill/>
          <a:ln/>
        </p:spPr>
        <p:txBody>
          <a:bodyPr wrap="square" rtlCol="0" anchor="ctr"/>
          <a:lstStyle/>
          <a:p>
            <a:pPr indent="0" marL="0">
              <a:lnSpc>
                <a:spcPts val="2000"/>
              </a:lnSpc>
              <a:buNone/>
            </a:pPr>
            <a:r>
              <a:rPr lang="en-US" sz="1500" dirty="0">
                <a:solidFill>
                  <a:srgbClr val="201A1E"/>
                </a:solidFill>
                <a:latin typeface="Calibri" pitchFamily="34" charset="0"/>
                <a:ea typeface="Calibri" pitchFamily="34" charset="-122"/>
                <a:cs typeface="Calibri" pitchFamily="34" charset="-120"/>
              </a:rPr>
              <a:t>Open a fresh AI chat — no documents attached. Ask it about the Foundry on Elston project: how many units, what's the affordability breakdown, what happened at the hearing. Do not paste in any of the case file yet.</a:t>
            </a:r>
            <a:endParaRPr lang="en-US" sz="1500" dirty="0"/>
          </a:p>
        </p:txBody>
      </p:sp>
      <p:sp>
        <p:nvSpPr>
          <p:cNvPr id="8" name="Text 6"/>
          <p:cNvSpPr/>
          <p:nvPr/>
        </p:nvSpPr>
        <p:spPr>
          <a:xfrm>
            <a:off x="658368" y="3520440"/>
            <a:ext cx="7315200" cy="274320"/>
          </a:xfrm>
          <a:prstGeom prst="rect">
            <a:avLst/>
          </a:prstGeom>
          <a:noFill/>
          <a:ln/>
        </p:spPr>
        <p:txBody>
          <a:bodyPr wrap="square" rtlCol="0" anchor="ctr"/>
          <a:lstStyle/>
          <a:p>
            <a:pPr indent="0" marL="0">
              <a:buNone/>
            </a:pPr>
            <a:r>
              <a:rPr lang="en-US" sz="1050" b="1" spc="100" kern="0" dirty="0">
                <a:solidFill>
                  <a:srgbClr val="6B6270"/>
                </a:solidFill>
                <a:latin typeface="Calibri" pitchFamily="34" charset="0"/>
                <a:ea typeface="Calibri" pitchFamily="34" charset="-122"/>
                <a:cs typeface="Calibri" pitchFamily="34" charset="-120"/>
              </a:rPr>
              <a:t>QUESTIONS / CHECKS</a:t>
            </a:r>
            <a:endParaRPr lang="en-US" sz="1050" dirty="0"/>
          </a:p>
        </p:txBody>
      </p:sp>
      <p:sp>
        <p:nvSpPr>
          <p:cNvPr id="9" name="Text 7"/>
          <p:cNvSpPr/>
          <p:nvPr/>
        </p:nvSpPr>
        <p:spPr>
          <a:xfrm>
            <a:off x="658368" y="3867912"/>
            <a:ext cx="10424160" cy="384048"/>
          </a:xfrm>
          <a:prstGeom prst="rect">
            <a:avLst/>
          </a:prstGeom>
          <a:noFill/>
          <a:ln/>
        </p:spPr>
        <p:txBody>
          <a:bodyPr wrap="square" rtlCol="0" anchor="t"/>
          <a:lstStyle/>
          <a:p>
            <a:pPr indent="0" marL="0">
              <a:lnSpc>
                <a:spcPts val="1600"/>
              </a:lnSpc>
              <a:buNone/>
            </a:pPr>
            <a:r>
              <a:rPr lang="en-US" sz="1300" b="1" dirty="0">
                <a:solidFill>
                  <a:srgbClr val="A5228E"/>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Watch closely: does it admit it doesn't know, or does it answer anyway?</a:t>
            </a:r>
            <a:endParaRPr lang="en-US" sz="1300" dirty="0"/>
          </a:p>
        </p:txBody>
      </p:sp>
      <p:sp>
        <p:nvSpPr>
          <p:cNvPr id="10" name="Text 8"/>
          <p:cNvSpPr/>
          <p:nvPr/>
        </p:nvSpPr>
        <p:spPr>
          <a:xfrm>
            <a:off x="658368" y="4288536"/>
            <a:ext cx="10424160" cy="384048"/>
          </a:xfrm>
          <a:prstGeom prst="rect">
            <a:avLst/>
          </a:prstGeom>
          <a:noFill/>
          <a:ln/>
        </p:spPr>
        <p:txBody>
          <a:bodyPr wrap="square" rtlCol="0" anchor="t"/>
          <a:lstStyle/>
          <a:p>
            <a:pPr indent="0" marL="0">
              <a:lnSpc>
                <a:spcPts val="1600"/>
              </a:lnSpc>
              <a:buNone/>
            </a:pPr>
            <a:r>
              <a:rPr lang="en-US" sz="1300" b="1" dirty="0">
                <a:solidFill>
                  <a:srgbClr val="A5228E"/>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If it answers, would you have any way to know it was wrong, just from reading the answer?</a:t>
            </a:r>
            <a:endParaRPr lang="en-US" sz="1300" dirty="0"/>
          </a:p>
        </p:txBody>
      </p:sp>
      <p:sp>
        <p:nvSpPr>
          <p:cNvPr id="11" name="Text 9"/>
          <p:cNvSpPr/>
          <p:nvPr/>
        </p:nvSpPr>
        <p:spPr>
          <a:xfrm>
            <a:off x="658368" y="4709160"/>
            <a:ext cx="10424160" cy="384048"/>
          </a:xfrm>
          <a:prstGeom prst="rect">
            <a:avLst/>
          </a:prstGeom>
          <a:noFill/>
          <a:ln/>
        </p:spPr>
        <p:txBody>
          <a:bodyPr wrap="square" rtlCol="0" anchor="t"/>
          <a:lstStyle/>
          <a:p>
            <a:pPr indent="0" marL="0">
              <a:lnSpc>
                <a:spcPts val="1600"/>
              </a:lnSpc>
              <a:buNone/>
            </a:pPr>
            <a:r>
              <a:rPr lang="en-US" sz="1300" b="1" dirty="0">
                <a:solidFill>
                  <a:srgbClr val="A5228E"/>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This isn't a trick question with one right outcome — either response teaches the lesson. Notice which one you got.</a:t>
            </a:r>
            <a:endParaRPr lang="en-US" sz="1300" dirty="0"/>
          </a:p>
        </p:txBody>
      </p:sp>
      <p:sp>
        <p:nvSpPr>
          <p:cNvPr id="12" name="Text 10"/>
          <p:cNvSpPr/>
          <p:nvPr/>
        </p:nvSpPr>
        <p:spPr>
          <a:xfrm>
            <a:off x="658368" y="5989320"/>
            <a:ext cx="10424160" cy="457200"/>
          </a:xfrm>
          <a:prstGeom prst="rect">
            <a:avLst/>
          </a:prstGeom>
          <a:noFill/>
          <a:ln/>
        </p:spPr>
        <p:txBody>
          <a:bodyPr wrap="square" rtlCol="0" anchor="ctr"/>
          <a:lstStyle/>
          <a:p>
            <a:pPr indent="0" marL="0">
              <a:lnSpc>
                <a:spcPts val="1500"/>
              </a:lnSpc>
              <a:buNone/>
            </a:pPr>
            <a:r>
              <a:rPr lang="en-US" sz="1150" i="1" dirty="0">
                <a:solidFill>
                  <a:srgbClr val="6B6270"/>
                </a:solidFill>
                <a:latin typeface="Calibri" pitchFamily="34" charset="0"/>
                <a:ea typeface="Calibri" pitchFamily="34" charset="-122"/>
                <a:cs typeface="Calibri" pitchFamily="34" charset="-120"/>
              </a:rPr>
              <a:t>Elston Heights and the Foundry on Elston are not real — nothing you get back can be correct by coincidence.</a:t>
            </a:r>
            <a:endParaRPr lang="en-US" sz="1150" dirty="0"/>
          </a:p>
        </p:txBody>
      </p:sp>
      <p:sp>
        <p:nvSpPr>
          <p:cNvPr id="13" name="Text 11"/>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4" name="Text 12"/>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BEAT ONE · ACTIVITY</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Now ground it, and ask again</a:t>
            </a:r>
            <a:endParaRPr lang="en-US" sz="2600" dirty="0"/>
          </a:p>
        </p:txBody>
      </p:sp>
      <p:sp>
        <p:nvSpPr>
          <p:cNvPr id="4" name="Shape 2"/>
          <p:cNvSpPr/>
          <p:nvPr/>
        </p:nvSpPr>
        <p:spPr>
          <a:xfrm>
            <a:off x="10527487" y="530352"/>
            <a:ext cx="1005840" cy="329184"/>
          </a:xfrm>
          <a:prstGeom prst="roundRect">
            <a:avLst>
              <a:gd name="adj" fmla="val 50000"/>
            </a:avLst>
          </a:prstGeom>
          <a:solidFill>
            <a:srgbClr val="FBEFF7"/>
          </a:solidFill>
          <a:ln/>
        </p:spPr>
      </p:sp>
      <p:sp>
        <p:nvSpPr>
          <p:cNvPr id="5" name="Text 3"/>
          <p:cNvSpPr/>
          <p:nvPr/>
        </p:nvSpPr>
        <p:spPr>
          <a:xfrm>
            <a:off x="10527487" y="530352"/>
            <a:ext cx="1005840" cy="329184"/>
          </a:xfrm>
          <a:prstGeom prst="rect">
            <a:avLst/>
          </a:prstGeom>
          <a:noFill/>
          <a:ln/>
        </p:spPr>
        <p:txBody>
          <a:bodyPr wrap="square" rtlCol="0" anchor="ctr"/>
          <a:lstStyle/>
          <a:p>
            <a:pPr algn="ctr" indent="0" marL="0">
              <a:buNone/>
            </a:pPr>
            <a:r>
              <a:rPr lang="en-US" sz="1100" b="1" spc="100" kern="0" dirty="0">
                <a:solidFill>
                  <a:srgbClr val="7C1C6B"/>
                </a:solidFill>
                <a:latin typeface="Calibri" pitchFamily="34" charset="0"/>
                <a:ea typeface="Calibri" pitchFamily="34" charset="-122"/>
                <a:cs typeface="Calibri" pitchFamily="34" charset="-120"/>
              </a:rPr>
              <a:t>15 MIN</a:t>
            </a:r>
            <a:endParaRPr lang="en-US" sz="1100" dirty="0"/>
          </a:p>
        </p:txBody>
      </p:sp>
      <p:sp>
        <p:nvSpPr>
          <p:cNvPr id="6" name="Shape 4"/>
          <p:cNvSpPr/>
          <p:nvPr/>
        </p:nvSpPr>
        <p:spPr>
          <a:xfrm>
            <a:off x="658368" y="1965960"/>
            <a:ext cx="10881360" cy="1234440"/>
          </a:xfrm>
          <a:prstGeom prst="roundRect">
            <a:avLst>
              <a:gd name="adj" fmla="val 8889"/>
            </a:avLst>
          </a:prstGeom>
          <a:solidFill>
            <a:srgbClr val="FBEFF7"/>
          </a:solidFill>
          <a:ln/>
        </p:spPr>
      </p:sp>
      <p:sp>
        <p:nvSpPr>
          <p:cNvPr id="7" name="Text 5"/>
          <p:cNvSpPr/>
          <p:nvPr/>
        </p:nvSpPr>
        <p:spPr>
          <a:xfrm>
            <a:off x="978408" y="2130552"/>
            <a:ext cx="10241280" cy="905256"/>
          </a:xfrm>
          <a:prstGeom prst="rect">
            <a:avLst/>
          </a:prstGeom>
          <a:noFill/>
          <a:ln/>
        </p:spPr>
        <p:txBody>
          <a:bodyPr wrap="square" rtlCol="0" anchor="ctr"/>
          <a:lstStyle/>
          <a:p>
            <a:pPr indent="0" marL="0">
              <a:lnSpc>
                <a:spcPts val="2000"/>
              </a:lnSpc>
              <a:buNone/>
            </a:pPr>
            <a:r>
              <a:rPr lang="en-US" sz="1500" dirty="0">
                <a:solidFill>
                  <a:srgbClr val="201A1E"/>
                </a:solidFill>
                <a:latin typeface="Calibri" pitchFamily="34" charset="0"/>
                <a:ea typeface="Calibri" pitchFamily="34" charset="-122"/>
                <a:cs typeface="Calibri" pitchFamily="34" charset="-120"/>
              </a:rPr>
              <a:t>Unzip the starter kit and attach the documents to your AI assistant (or paste in the plain-text bundle). Ask the exact same question as before.</a:t>
            </a:r>
            <a:endParaRPr lang="en-US" sz="1500" dirty="0"/>
          </a:p>
        </p:txBody>
      </p:sp>
      <p:sp>
        <p:nvSpPr>
          <p:cNvPr id="8" name="Text 6"/>
          <p:cNvSpPr/>
          <p:nvPr/>
        </p:nvSpPr>
        <p:spPr>
          <a:xfrm>
            <a:off x="658368" y="3520440"/>
            <a:ext cx="7315200" cy="274320"/>
          </a:xfrm>
          <a:prstGeom prst="rect">
            <a:avLst/>
          </a:prstGeom>
          <a:noFill/>
          <a:ln/>
        </p:spPr>
        <p:txBody>
          <a:bodyPr wrap="square" rtlCol="0" anchor="ctr"/>
          <a:lstStyle/>
          <a:p>
            <a:pPr indent="0" marL="0">
              <a:buNone/>
            </a:pPr>
            <a:r>
              <a:rPr lang="en-US" sz="1050" b="1" spc="100" kern="0" dirty="0">
                <a:solidFill>
                  <a:srgbClr val="6B6270"/>
                </a:solidFill>
                <a:latin typeface="Calibri" pitchFamily="34" charset="0"/>
                <a:ea typeface="Calibri" pitchFamily="34" charset="-122"/>
                <a:cs typeface="Calibri" pitchFamily="34" charset="-120"/>
              </a:rPr>
              <a:t>QUESTIONS / CHECKS</a:t>
            </a:r>
            <a:endParaRPr lang="en-US" sz="1050" dirty="0"/>
          </a:p>
        </p:txBody>
      </p:sp>
      <p:sp>
        <p:nvSpPr>
          <p:cNvPr id="9" name="Text 7"/>
          <p:cNvSpPr/>
          <p:nvPr/>
        </p:nvSpPr>
        <p:spPr>
          <a:xfrm>
            <a:off x="658368" y="3867912"/>
            <a:ext cx="10424160" cy="384048"/>
          </a:xfrm>
          <a:prstGeom prst="rect">
            <a:avLst/>
          </a:prstGeom>
          <a:noFill/>
          <a:ln/>
        </p:spPr>
        <p:txBody>
          <a:bodyPr wrap="square" rtlCol="0" anchor="t"/>
          <a:lstStyle/>
          <a:p>
            <a:pPr indent="0" marL="0">
              <a:lnSpc>
                <a:spcPts val="1600"/>
              </a:lnSpc>
              <a:buNone/>
            </a:pPr>
            <a:r>
              <a:rPr lang="en-US" sz="1300" b="1" dirty="0">
                <a:solidFill>
                  <a:srgbClr val="A5228E"/>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Compare the two answers side by side — what changed?</a:t>
            </a:r>
            <a:endParaRPr lang="en-US" sz="1300" dirty="0"/>
          </a:p>
        </p:txBody>
      </p:sp>
      <p:sp>
        <p:nvSpPr>
          <p:cNvPr id="10" name="Text 8"/>
          <p:cNvSpPr/>
          <p:nvPr/>
        </p:nvSpPr>
        <p:spPr>
          <a:xfrm>
            <a:off x="658368" y="4288536"/>
            <a:ext cx="10424160" cy="384048"/>
          </a:xfrm>
          <a:prstGeom prst="rect">
            <a:avLst/>
          </a:prstGeom>
          <a:noFill/>
          <a:ln/>
        </p:spPr>
        <p:txBody>
          <a:bodyPr wrap="square" rtlCol="0" anchor="t"/>
          <a:lstStyle/>
          <a:p>
            <a:pPr indent="0" marL="0">
              <a:lnSpc>
                <a:spcPts val="1600"/>
              </a:lnSpc>
              <a:buNone/>
            </a:pPr>
            <a:r>
              <a:rPr lang="en-US" sz="1300" b="1" dirty="0">
                <a:solidFill>
                  <a:srgbClr val="A5228E"/>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Ask it to name which document each fact came from — a grounded answer should be able to point back to a source.</a:t>
            </a:r>
            <a:endParaRPr lang="en-US" sz="1300" dirty="0"/>
          </a:p>
        </p:txBody>
      </p:sp>
      <p:sp>
        <p:nvSpPr>
          <p:cNvPr id="11" name="Text 9"/>
          <p:cNvSpPr/>
          <p:nvPr/>
        </p:nvSpPr>
        <p:spPr>
          <a:xfrm>
            <a:off x="658368" y="4709160"/>
            <a:ext cx="10424160" cy="384048"/>
          </a:xfrm>
          <a:prstGeom prst="rect">
            <a:avLst/>
          </a:prstGeom>
          <a:noFill/>
          <a:ln/>
        </p:spPr>
        <p:txBody>
          <a:bodyPr wrap="square" rtlCol="0" anchor="t"/>
          <a:lstStyle/>
          <a:p>
            <a:pPr indent="0" marL="0">
              <a:lnSpc>
                <a:spcPts val="1600"/>
              </a:lnSpc>
              <a:buNone/>
            </a:pPr>
            <a:r>
              <a:rPr lang="en-US" sz="1300" b="1" dirty="0">
                <a:solidFill>
                  <a:srgbClr val="A5228E"/>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If your tool can't accept file uploads, use the plain-text bundle (`06_all_documents_plain_text.md`) instead.</a:t>
            </a:r>
            <a:endParaRPr lang="en-US" sz="1300" dirty="0"/>
          </a:p>
        </p:txBody>
      </p:sp>
      <p:sp>
        <p:nvSpPr>
          <p:cNvPr id="12" name="Text 10"/>
          <p:cNvSpPr/>
          <p:nvPr/>
        </p:nvSpPr>
        <p:spPr>
          <a:xfrm>
            <a:off x="658368" y="5989320"/>
            <a:ext cx="10424160" cy="457200"/>
          </a:xfrm>
          <a:prstGeom prst="rect">
            <a:avLst/>
          </a:prstGeom>
          <a:noFill/>
          <a:ln/>
        </p:spPr>
        <p:txBody>
          <a:bodyPr wrap="square" rtlCol="0" anchor="ctr"/>
          <a:lstStyle/>
          <a:p>
            <a:pPr indent="0" marL="0">
              <a:lnSpc>
                <a:spcPts val="1500"/>
              </a:lnSpc>
              <a:buNone/>
            </a:pPr>
            <a:r>
              <a:rPr lang="en-US" sz="1150" i="1" dirty="0">
                <a:solidFill>
                  <a:srgbClr val="6B6270"/>
                </a:solidFill>
                <a:latin typeface="Calibri" pitchFamily="34" charset="0"/>
                <a:ea typeface="Calibri" pitchFamily="34" charset="-122"/>
                <a:cs typeface="Calibri" pitchFamily="34" charset="-120"/>
              </a:rPr>
              <a:t>Keep both answers visible — you'll want the contrast for the debrief.</a:t>
            </a:r>
            <a:endParaRPr lang="en-US" sz="1150" dirty="0"/>
          </a:p>
        </p:txBody>
      </p:sp>
      <p:sp>
        <p:nvSpPr>
          <p:cNvPr id="13" name="Text 11"/>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4" name="Text 12"/>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BEAT ONE · DEBRIEF</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What just happened</a:t>
            </a:r>
            <a:endParaRPr lang="en-US" sz="2600" dirty="0"/>
          </a:p>
        </p:txBody>
      </p:sp>
      <p:sp>
        <p:nvSpPr>
          <p:cNvPr id="4" name="Shape 2"/>
          <p:cNvSpPr/>
          <p:nvPr/>
        </p:nvSpPr>
        <p:spPr>
          <a:xfrm>
            <a:off x="658368" y="1993392"/>
            <a:ext cx="310896" cy="310896"/>
          </a:xfrm>
          <a:prstGeom prst="ellipse">
            <a:avLst/>
          </a:prstGeom>
          <a:solidFill>
            <a:srgbClr val="001E62"/>
          </a:solidFill>
          <a:ln/>
        </p:spPr>
      </p:sp>
      <p:sp>
        <p:nvSpPr>
          <p:cNvPr id="5" name="Text 3"/>
          <p:cNvSpPr/>
          <p:nvPr/>
        </p:nvSpPr>
        <p:spPr>
          <a:xfrm>
            <a:off x="658368" y="199339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61288" y="192938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Pretraining knowledge alone was never going to cover this</a:t>
            </a:r>
            <a:endParaRPr lang="en-US" sz="1550" dirty="0"/>
          </a:p>
        </p:txBody>
      </p:sp>
      <p:sp>
        <p:nvSpPr>
          <p:cNvPr id="7" name="Text 5"/>
          <p:cNvSpPr/>
          <p:nvPr/>
        </p:nvSpPr>
        <p:spPr>
          <a:xfrm>
            <a:off x="1161288" y="225856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not because the model is bad — because this case file didn't exist anywhere for it to learn from. Most of what you'll ever fact-check is like this: too specific, too recent, or too local to be memorized.</a:t>
            </a:r>
            <a:endParaRPr lang="en-US" sz="1250" dirty="0"/>
          </a:p>
        </p:txBody>
      </p:sp>
      <p:sp>
        <p:nvSpPr>
          <p:cNvPr id="8" name="Shape 6"/>
          <p:cNvSpPr/>
          <p:nvPr/>
        </p:nvSpPr>
        <p:spPr>
          <a:xfrm>
            <a:off x="658368" y="3044952"/>
            <a:ext cx="310896" cy="310896"/>
          </a:xfrm>
          <a:prstGeom prst="ellipse">
            <a:avLst/>
          </a:prstGeom>
          <a:solidFill>
            <a:srgbClr val="001E62"/>
          </a:solidFill>
          <a:ln/>
        </p:spPr>
      </p:sp>
      <p:sp>
        <p:nvSpPr>
          <p:cNvPr id="9" name="Text 7"/>
          <p:cNvSpPr/>
          <p:nvPr/>
        </p:nvSpPr>
        <p:spPr>
          <a:xfrm>
            <a:off x="658368" y="304495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61288" y="298094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Grounding isn't a vibe, it's a mechanical step</a:t>
            </a:r>
            <a:endParaRPr lang="en-US" sz="1550" dirty="0"/>
          </a:p>
        </p:txBody>
      </p:sp>
      <p:sp>
        <p:nvSpPr>
          <p:cNvPr id="11" name="Text 9"/>
          <p:cNvSpPr/>
          <p:nvPr/>
        </p:nvSpPr>
        <p:spPr>
          <a:xfrm>
            <a:off x="1161288" y="331012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attach or paste the actual documents. Skipping it is the single most common way AI-assisted research goes wrong.</a:t>
            </a:r>
            <a:endParaRPr lang="en-US" sz="1250" dirty="0"/>
          </a:p>
        </p:txBody>
      </p:sp>
      <p:sp>
        <p:nvSpPr>
          <p:cNvPr id="12" name="Shape 10"/>
          <p:cNvSpPr/>
          <p:nvPr/>
        </p:nvSpPr>
        <p:spPr>
          <a:xfrm>
            <a:off x="658368" y="4096512"/>
            <a:ext cx="310896" cy="310896"/>
          </a:xfrm>
          <a:prstGeom prst="ellipse">
            <a:avLst/>
          </a:prstGeom>
          <a:solidFill>
            <a:srgbClr val="001E62"/>
          </a:solidFill>
          <a:ln/>
        </p:spPr>
      </p:sp>
      <p:sp>
        <p:nvSpPr>
          <p:cNvPr id="13" name="Text 11"/>
          <p:cNvSpPr/>
          <p:nvPr/>
        </p:nvSpPr>
        <p:spPr>
          <a:xfrm>
            <a:off x="658368" y="409651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61288" y="403250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A grounded answer that can't point to a source is still worth doubling back on</a:t>
            </a:r>
            <a:endParaRPr lang="en-US" sz="1550" dirty="0"/>
          </a:p>
        </p:txBody>
      </p:sp>
      <p:sp>
        <p:nvSpPr>
          <p:cNvPr id="15" name="Text 13"/>
          <p:cNvSpPr/>
          <p:nvPr/>
        </p:nvSpPr>
        <p:spPr>
          <a:xfrm>
            <a:off x="1161288" y="436168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"grounded" lowers the risk of a made-up answer — it doesn't make every answer automatically correct. That's Beat Two.</a:t>
            </a:r>
            <a:endParaRPr lang="en-US" sz="1250" dirty="0"/>
          </a:p>
        </p:txBody>
      </p:sp>
      <p:sp>
        <p:nvSpPr>
          <p:cNvPr id="16" name="Text 14"/>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7" name="Text 15"/>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1E62"/>
        </a:solidFill>
      </p:bgPr>
    </p:bg>
    <p:spTree>
      <p:nvGrpSpPr>
        <p:cNvPr id="1" name=""/>
        <p:cNvGrpSpPr/>
        <p:nvPr/>
      </p:nvGrpSpPr>
      <p:grpSpPr>
        <a:xfrm>
          <a:off x="0" y="0"/>
          <a:ext cx="0" cy="0"/>
          <a:chOff x="0" y="0"/>
          <a:chExt cx="0" cy="0"/>
        </a:xfrm>
      </p:grpSpPr>
      <p:sp>
        <p:nvSpPr>
          <p:cNvPr id="2" name="Shape 0"/>
          <p:cNvSpPr/>
          <p:nvPr/>
        </p:nvSpPr>
        <p:spPr>
          <a:xfrm>
            <a:off x="9265615" y="4114800"/>
            <a:ext cx="4937760" cy="4937760"/>
          </a:xfrm>
          <a:prstGeom prst="ellipse">
            <a:avLst/>
          </a:prstGeom>
          <a:solidFill>
            <a:srgbClr val="001A54"/>
          </a:solidFill>
          <a:ln/>
        </p:spPr>
      </p:sp>
      <p:sp>
        <p:nvSpPr>
          <p:cNvPr id="3" name="Text 1"/>
          <p:cNvSpPr/>
          <p:nvPr/>
        </p:nvSpPr>
        <p:spPr>
          <a:xfrm>
            <a:off x="658368" y="265176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BEAT TWO</a:t>
            </a:r>
            <a:endParaRPr lang="en-US" sz="1250" dirty="0"/>
          </a:p>
        </p:txBody>
      </p:sp>
      <p:sp>
        <p:nvSpPr>
          <p:cNvPr id="4" name="Text 2"/>
          <p:cNvSpPr/>
          <p:nvPr/>
        </p:nvSpPr>
        <p:spPr>
          <a:xfrm>
            <a:off x="658368" y="3017520"/>
            <a:ext cx="10241280" cy="1645920"/>
          </a:xfrm>
          <a:prstGeom prst="rect">
            <a:avLst/>
          </a:prstGeom>
          <a:noFill/>
          <a:ln/>
        </p:spPr>
        <p:txBody>
          <a:bodyPr wrap="square" rtlCol="0" anchor="ctr"/>
          <a:lstStyle/>
          <a:p>
            <a:pPr indent="0" marL="0">
              <a:lnSpc>
                <a:spcPts val="3800"/>
              </a:lnSpc>
              <a:buNone/>
            </a:pPr>
            <a:r>
              <a:rPr lang="en-US" sz="3400" b="1" dirty="0">
                <a:solidFill>
                  <a:srgbClr val="FFFFFF"/>
                </a:solidFill>
                <a:latin typeface="Calibri" pitchFamily="34" charset="0"/>
                <a:ea typeface="Calibri" pitchFamily="34" charset="-122"/>
                <a:cs typeface="Calibri" pitchFamily="34" charset="-120"/>
              </a:rPr>
              <a:t>Extract it. Check it.</a:t>
            </a:r>
            <a:endParaRPr lang="en-US" sz="3400" dirty="0"/>
          </a:p>
        </p:txBody>
      </p:sp>
      <p:sp>
        <p:nvSpPr>
          <p:cNvPr id="5" name="Text 3"/>
          <p:cNvSpPr/>
          <p:nvPr/>
        </p:nvSpPr>
        <p:spPr>
          <a:xfrm>
            <a:off x="658368" y="4343400"/>
            <a:ext cx="8778240" cy="731520"/>
          </a:xfrm>
          <a:prstGeom prst="rect">
            <a:avLst/>
          </a:prstGeom>
          <a:noFill/>
          <a:ln/>
        </p:spPr>
        <p:txBody>
          <a:bodyPr wrap="square" rtlCol="0" anchor="ctr"/>
          <a:lstStyle/>
          <a:p>
            <a:pPr indent="0" marL="0">
              <a:lnSpc>
                <a:spcPts val="2000"/>
              </a:lnSpc>
              <a:buNone/>
            </a:pPr>
            <a:r>
              <a:rPr lang="en-US" sz="1500" dirty="0">
                <a:solidFill>
                  <a:srgbClr val="C7CEE8"/>
                </a:solidFill>
                <a:latin typeface="Calibri" pitchFamily="34" charset="0"/>
                <a:ea typeface="Calibri" pitchFamily="34" charset="-122"/>
                <a:cs typeface="Calibri" pitchFamily="34" charset="-120"/>
              </a:rPr>
              <a:t>A citation is a claim to check, not proof the answer is right. Find the exact fact, in whatever form it's hiding.</a:t>
            </a:r>
            <a:endParaRPr lang="en-US" sz="1500" dirty="0"/>
          </a:p>
        </p:txBody>
      </p:sp>
      <p:sp>
        <p:nvSpPr>
          <p:cNvPr id="6" name="Text 4"/>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AAB3D6"/>
                </a:solidFill>
                <a:latin typeface="Calibri" pitchFamily="34" charset="0"/>
                <a:ea typeface="Calibri" pitchFamily="34" charset="-122"/>
                <a:cs typeface="Calibri" pitchFamily="34" charset="-120"/>
              </a:rPr>
              <a:t>MODULE 4 · SEARCH &amp; VERIFY</a:t>
            </a:r>
            <a:endParaRPr lang="en-US" sz="900" dirty="0"/>
          </a:p>
        </p:txBody>
      </p:sp>
      <p:sp>
        <p:nvSpPr>
          <p:cNvPr id="7" name="Text 5"/>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AAB3D6"/>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BEAT TWO</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The core technique: quote, then interpret — separately</a:t>
            </a:r>
            <a:endParaRPr lang="en-US" sz="2600" dirty="0"/>
          </a:p>
        </p:txBody>
      </p:sp>
      <p:sp>
        <p:nvSpPr>
          <p:cNvPr id="4" name="Shape 2"/>
          <p:cNvSpPr/>
          <p:nvPr/>
        </p:nvSpPr>
        <p:spPr>
          <a:xfrm>
            <a:off x="658368" y="1993392"/>
            <a:ext cx="310896" cy="310896"/>
          </a:xfrm>
          <a:prstGeom prst="ellipse">
            <a:avLst/>
          </a:prstGeom>
          <a:solidFill>
            <a:srgbClr val="001E62"/>
          </a:solidFill>
          <a:ln/>
        </p:spPr>
      </p:sp>
      <p:sp>
        <p:nvSpPr>
          <p:cNvPr id="5" name="Text 3"/>
          <p:cNvSpPr/>
          <p:nvPr/>
        </p:nvSpPr>
        <p:spPr>
          <a:xfrm>
            <a:off x="658368" y="199339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61288" y="192938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Ask for two different things</a:t>
            </a:r>
            <a:endParaRPr lang="en-US" sz="1550" dirty="0"/>
          </a:p>
        </p:txBody>
      </p:sp>
      <p:sp>
        <p:nvSpPr>
          <p:cNvPr id="7" name="Text 5"/>
          <p:cNvSpPr/>
          <p:nvPr/>
        </p:nvSpPr>
        <p:spPr>
          <a:xfrm>
            <a:off x="1161288" y="225856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the exact source text it's relying on (a verbatim quote, not a paraphrase) — and, separately, its interpretation of that text.</a:t>
            </a:r>
            <a:endParaRPr lang="en-US" sz="1250" dirty="0"/>
          </a:p>
        </p:txBody>
      </p:sp>
      <p:sp>
        <p:nvSpPr>
          <p:cNvPr id="8" name="Shape 6"/>
          <p:cNvSpPr/>
          <p:nvPr/>
        </p:nvSpPr>
        <p:spPr>
          <a:xfrm>
            <a:off x="658368" y="3044952"/>
            <a:ext cx="310896" cy="310896"/>
          </a:xfrm>
          <a:prstGeom prst="ellipse">
            <a:avLst/>
          </a:prstGeom>
          <a:solidFill>
            <a:srgbClr val="001E62"/>
          </a:solidFill>
          <a:ln/>
        </p:spPr>
      </p:sp>
      <p:sp>
        <p:nvSpPr>
          <p:cNvPr id="9" name="Text 7"/>
          <p:cNvSpPr/>
          <p:nvPr/>
        </p:nvSpPr>
        <p:spPr>
          <a:xfrm>
            <a:off x="658368" y="304495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61288" y="298094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Put them side by side</a:t>
            </a:r>
            <a:endParaRPr lang="en-US" sz="1550" dirty="0"/>
          </a:p>
        </p:txBody>
      </p:sp>
      <p:sp>
        <p:nvSpPr>
          <p:cNvPr id="11" name="Text 9"/>
          <p:cNvSpPr/>
          <p:nvPr/>
        </p:nvSpPr>
        <p:spPr>
          <a:xfrm>
            <a:off x="1161288" y="331012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drift between the two — the interpretation claiming more, or something different, than the quote actually supports — is the tell.</a:t>
            </a:r>
            <a:endParaRPr lang="en-US" sz="1250" dirty="0"/>
          </a:p>
        </p:txBody>
      </p:sp>
      <p:sp>
        <p:nvSpPr>
          <p:cNvPr id="12" name="Shape 10"/>
          <p:cNvSpPr/>
          <p:nvPr/>
        </p:nvSpPr>
        <p:spPr>
          <a:xfrm>
            <a:off x="658368" y="4096512"/>
            <a:ext cx="310896" cy="310896"/>
          </a:xfrm>
          <a:prstGeom prst="ellipse">
            <a:avLst/>
          </a:prstGeom>
          <a:solidFill>
            <a:srgbClr val="001E62"/>
          </a:solidFill>
          <a:ln/>
        </p:spPr>
      </p:sp>
      <p:sp>
        <p:nvSpPr>
          <p:cNvPr id="13" name="Text 11"/>
          <p:cNvSpPr/>
          <p:nvPr/>
        </p:nvSpPr>
        <p:spPr>
          <a:xfrm>
            <a:off x="658368" y="409651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61288" y="403250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This turns "trust the answer" into a two-second visual check</a:t>
            </a:r>
            <a:endParaRPr lang="en-US" sz="1550" dirty="0"/>
          </a:p>
        </p:txBody>
      </p:sp>
      <p:sp>
        <p:nvSpPr>
          <p:cNvPr id="15" name="Text 13"/>
          <p:cNvSpPr/>
          <p:nvPr/>
        </p:nvSpPr>
        <p:spPr>
          <a:xfrm>
            <a:off x="1161288" y="436168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you're not re-deriving the answer yourself — you're checking that the quote actually says what the answer claims it says.</a:t>
            </a:r>
            <a:endParaRPr lang="en-US" sz="1250" dirty="0"/>
          </a:p>
        </p:txBody>
      </p:sp>
      <p:sp>
        <p:nvSpPr>
          <p:cNvPr id="16" name="Text 14"/>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7" name="Text 15"/>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BEAT TWO</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Exact facts hide in more than one format</a:t>
            </a:r>
            <a:endParaRPr lang="en-US" sz="2600" dirty="0"/>
          </a:p>
        </p:txBody>
      </p:sp>
      <p:sp>
        <p:nvSpPr>
          <p:cNvPr id="4" name="Shape 2"/>
          <p:cNvSpPr/>
          <p:nvPr/>
        </p:nvSpPr>
        <p:spPr>
          <a:xfrm>
            <a:off x="658368" y="1993392"/>
            <a:ext cx="310896" cy="310896"/>
          </a:xfrm>
          <a:prstGeom prst="ellipse">
            <a:avLst/>
          </a:prstGeom>
          <a:solidFill>
            <a:srgbClr val="001E62"/>
          </a:solidFill>
          <a:ln/>
        </p:spPr>
      </p:sp>
      <p:sp>
        <p:nvSpPr>
          <p:cNvPr id="5" name="Text 3"/>
          <p:cNvSpPr/>
          <p:nvPr/>
        </p:nvSpPr>
        <p:spPr>
          <a:xfrm>
            <a:off x="658368" y="199339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61288" y="192938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In running text</a:t>
            </a:r>
            <a:endParaRPr lang="en-US" sz="1550" dirty="0"/>
          </a:p>
        </p:txBody>
      </p:sp>
      <p:sp>
        <p:nvSpPr>
          <p:cNvPr id="7" name="Text 5"/>
          <p:cNvSpPr/>
          <p:nvPr/>
        </p:nvSpPr>
        <p:spPr>
          <a:xfrm>
            <a:off x="1161288" y="225856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a quote in the hearing minutes or the press release — easy to search, easy to misquote if you don't check word-for-word.</a:t>
            </a:r>
            <a:endParaRPr lang="en-US" sz="1250" dirty="0"/>
          </a:p>
        </p:txBody>
      </p:sp>
      <p:sp>
        <p:nvSpPr>
          <p:cNvPr id="8" name="Shape 6"/>
          <p:cNvSpPr/>
          <p:nvPr/>
        </p:nvSpPr>
        <p:spPr>
          <a:xfrm>
            <a:off x="658368" y="3044952"/>
            <a:ext cx="310896" cy="310896"/>
          </a:xfrm>
          <a:prstGeom prst="ellipse">
            <a:avLst/>
          </a:prstGeom>
          <a:solidFill>
            <a:srgbClr val="001E62"/>
          </a:solidFill>
          <a:ln/>
        </p:spPr>
      </p:sp>
      <p:sp>
        <p:nvSpPr>
          <p:cNvPr id="9" name="Text 7"/>
          <p:cNvSpPr/>
          <p:nvPr/>
        </p:nvSpPr>
        <p:spPr>
          <a:xfrm>
            <a:off x="658368" y="304495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61288" y="298094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In a table</a:t>
            </a:r>
            <a:endParaRPr lang="en-US" sz="1550" dirty="0"/>
          </a:p>
        </p:txBody>
      </p:sp>
      <p:sp>
        <p:nvSpPr>
          <p:cNvPr id="11" name="Text 9"/>
          <p:cNvSpPr/>
          <p:nvPr/>
        </p:nvSpPr>
        <p:spPr>
          <a:xfrm>
            <a:off x="1161288" y="331012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the fact sheets' stats tables — easy to skim past the one row that actually changed.</a:t>
            </a:r>
            <a:endParaRPr lang="en-US" sz="1250" dirty="0"/>
          </a:p>
        </p:txBody>
      </p:sp>
      <p:sp>
        <p:nvSpPr>
          <p:cNvPr id="12" name="Shape 10"/>
          <p:cNvSpPr/>
          <p:nvPr/>
        </p:nvSpPr>
        <p:spPr>
          <a:xfrm>
            <a:off x="658368" y="4096512"/>
            <a:ext cx="310896" cy="310896"/>
          </a:xfrm>
          <a:prstGeom prst="ellipse">
            <a:avLst/>
          </a:prstGeom>
          <a:solidFill>
            <a:srgbClr val="001E62"/>
          </a:solidFill>
          <a:ln/>
        </p:spPr>
      </p:sp>
      <p:sp>
        <p:nvSpPr>
          <p:cNvPr id="13" name="Text 11"/>
          <p:cNvSpPr/>
          <p:nvPr/>
        </p:nvSpPr>
        <p:spPr>
          <a:xfrm>
            <a:off x="658368" y="409651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61288" y="403250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In an image</a:t>
            </a:r>
            <a:endParaRPr lang="en-US" sz="1550" dirty="0"/>
          </a:p>
        </p:txBody>
      </p:sp>
      <p:sp>
        <p:nvSpPr>
          <p:cNvPr id="15" name="Text 13"/>
          <p:cNvSpPr/>
          <p:nvPr/>
        </p:nvSpPr>
        <p:spPr>
          <a:xfrm>
            <a:off x="1161288" y="436168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the comparison chart — a fact that only a multimodal AI (or a human actually looking) can read at all. Not everything is searchable text.</a:t>
            </a:r>
            <a:endParaRPr lang="en-US" sz="1250" dirty="0"/>
          </a:p>
        </p:txBody>
      </p:sp>
      <p:sp>
        <p:nvSpPr>
          <p:cNvPr id="16" name="Text 14"/>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7" name="Text 15"/>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BEAT TWO · ACTIVITY</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Pull three exact facts — text, table, image</a:t>
            </a:r>
            <a:endParaRPr lang="en-US" sz="2600" dirty="0"/>
          </a:p>
        </p:txBody>
      </p:sp>
      <p:sp>
        <p:nvSpPr>
          <p:cNvPr id="4" name="Shape 2"/>
          <p:cNvSpPr/>
          <p:nvPr/>
        </p:nvSpPr>
        <p:spPr>
          <a:xfrm>
            <a:off x="10527487" y="530352"/>
            <a:ext cx="1005840" cy="329184"/>
          </a:xfrm>
          <a:prstGeom prst="roundRect">
            <a:avLst>
              <a:gd name="adj" fmla="val 50000"/>
            </a:avLst>
          </a:prstGeom>
          <a:solidFill>
            <a:srgbClr val="FBEFF7"/>
          </a:solidFill>
          <a:ln/>
        </p:spPr>
      </p:sp>
      <p:sp>
        <p:nvSpPr>
          <p:cNvPr id="5" name="Text 3"/>
          <p:cNvSpPr/>
          <p:nvPr/>
        </p:nvSpPr>
        <p:spPr>
          <a:xfrm>
            <a:off x="10527487" y="530352"/>
            <a:ext cx="1005840" cy="329184"/>
          </a:xfrm>
          <a:prstGeom prst="rect">
            <a:avLst/>
          </a:prstGeom>
          <a:noFill/>
          <a:ln/>
        </p:spPr>
        <p:txBody>
          <a:bodyPr wrap="square" rtlCol="0" anchor="ctr"/>
          <a:lstStyle/>
          <a:p>
            <a:pPr algn="ctr" indent="0" marL="0">
              <a:buNone/>
            </a:pPr>
            <a:r>
              <a:rPr lang="en-US" sz="1100" b="1" spc="100" kern="0" dirty="0">
                <a:solidFill>
                  <a:srgbClr val="7C1C6B"/>
                </a:solidFill>
                <a:latin typeface="Calibri" pitchFamily="34" charset="0"/>
                <a:ea typeface="Calibri" pitchFamily="34" charset="-122"/>
                <a:cs typeface="Calibri" pitchFamily="34" charset="-120"/>
              </a:rPr>
              <a:t>15 MIN</a:t>
            </a:r>
            <a:endParaRPr lang="en-US" sz="1100" dirty="0"/>
          </a:p>
        </p:txBody>
      </p:sp>
      <p:sp>
        <p:nvSpPr>
          <p:cNvPr id="6" name="Shape 4"/>
          <p:cNvSpPr/>
          <p:nvPr/>
        </p:nvSpPr>
        <p:spPr>
          <a:xfrm>
            <a:off x="658368" y="1965960"/>
            <a:ext cx="10881360" cy="1234440"/>
          </a:xfrm>
          <a:prstGeom prst="roundRect">
            <a:avLst>
              <a:gd name="adj" fmla="val 8889"/>
            </a:avLst>
          </a:prstGeom>
          <a:solidFill>
            <a:srgbClr val="FBEFF7"/>
          </a:solidFill>
          <a:ln/>
        </p:spPr>
      </p:sp>
      <p:sp>
        <p:nvSpPr>
          <p:cNvPr id="7" name="Text 5"/>
          <p:cNvSpPr/>
          <p:nvPr/>
        </p:nvSpPr>
        <p:spPr>
          <a:xfrm>
            <a:off x="978408" y="2130552"/>
            <a:ext cx="10241280" cy="905256"/>
          </a:xfrm>
          <a:prstGeom prst="rect">
            <a:avLst/>
          </a:prstGeom>
          <a:noFill/>
          <a:ln/>
        </p:spPr>
        <p:txBody>
          <a:bodyPr wrap="square" rtlCol="0" anchor="ctr"/>
          <a:lstStyle/>
          <a:p>
            <a:pPr indent="0" marL="0">
              <a:lnSpc>
                <a:spcPts val="2000"/>
              </a:lnSpc>
              <a:buNone/>
            </a:pPr>
            <a:r>
              <a:rPr lang="en-US" sz="1500" dirty="0">
                <a:solidFill>
                  <a:srgbClr val="201A1E"/>
                </a:solidFill>
                <a:latin typeface="Calibri" pitchFamily="34" charset="0"/>
                <a:ea typeface="Calibri" pitchFamily="34" charset="-122"/>
                <a:cs typeface="Calibri" pitchFamily="34" charset="-120"/>
              </a:rPr>
              <a:t>Using your grounded assistant: (1) get the exact quote from Alderwoman Voss announcing the vote result. (2) get the exact affordable-unit count from the revised fact sheet's table. (3) get the exact total-unit figure shown in the comparison chart image.</a:t>
            </a:r>
            <a:endParaRPr lang="en-US" sz="1500" dirty="0"/>
          </a:p>
        </p:txBody>
      </p:sp>
      <p:sp>
        <p:nvSpPr>
          <p:cNvPr id="8" name="Text 6"/>
          <p:cNvSpPr/>
          <p:nvPr/>
        </p:nvSpPr>
        <p:spPr>
          <a:xfrm>
            <a:off x="658368" y="3520440"/>
            <a:ext cx="7315200" cy="274320"/>
          </a:xfrm>
          <a:prstGeom prst="rect">
            <a:avLst/>
          </a:prstGeom>
          <a:noFill/>
          <a:ln/>
        </p:spPr>
        <p:txBody>
          <a:bodyPr wrap="square" rtlCol="0" anchor="ctr"/>
          <a:lstStyle/>
          <a:p>
            <a:pPr indent="0" marL="0">
              <a:buNone/>
            </a:pPr>
            <a:r>
              <a:rPr lang="en-US" sz="1050" b="1" spc="100" kern="0" dirty="0">
                <a:solidFill>
                  <a:srgbClr val="6B6270"/>
                </a:solidFill>
                <a:latin typeface="Calibri" pitchFamily="34" charset="0"/>
                <a:ea typeface="Calibri" pitchFamily="34" charset="-122"/>
                <a:cs typeface="Calibri" pitchFamily="34" charset="-120"/>
              </a:rPr>
              <a:t>QUESTIONS / CHECKS</a:t>
            </a:r>
            <a:endParaRPr lang="en-US" sz="1050" dirty="0"/>
          </a:p>
        </p:txBody>
      </p:sp>
      <p:sp>
        <p:nvSpPr>
          <p:cNvPr id="9" name="Text 7"/>
          <p:cNvSpPr/>
          <p:nvPr/>
        </p:nvSpPr>
        <p:spPr>
          <a:xfrm>
            <a:off x="658368" y="3867912"/>
            <a:ext cx="10424160" cy="384048"/>
          </a:xfrm>
          <a:prstGeom prst="rect">
            <a:avLst/>
          </a:prstGeom>
          <a:noFill/>
          <a:ln/>
        </p:spPr>
        <p:txBody>
          <a:bodyPr wrap="square" rtlCol="0" anchor="t"/>
          <a:lstStyle/>
          <a:p>
            <a:pPr indent="0" marL="0">
              <a:lnSpc>
                <a:spcPts val="1600"/>
              </a:lnSpc>
              <a:buNone/>
            </a:pPr>
            <a:r>
              <a:rPr lang="en-US" sz="1300" b="1" dirty="0">
                <a:solidFill>
                  <a:srgbClr val="A5228E"/>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For each one, ask for the verbatim source line alongside the answer — per the technique from the last slide.</a:t>
            </a:r>
            <a:endParaRPr lang="en-US" sz="1300" dirty="0"/>
          </a:p>
        </p:txBody>
      </p:sp>
      <p:sp>
        <p:nvSpPr>
          <p:cNvPr id="10" name="Text 8"/>
          <p:cNvSpPr/>
          <p:nvPr/>
        </p:nvSpPr>
        <p:spPr>
          <a:xfrm>
            <a:off x="658368" y="4288536"/>
            <a:ext cx="10424160" cy="384048"/>
          </a:xfrm>
          <a:prstGeom prst="rect">
            <a:avLst/>
          </a:prstGeom>
          <a:noFill/>
          <a:ln/>
        </p:spPr>
        <p:txBody>
          <a:bodyPr wrap="square" rtlCol="0" anchor="t"/>
          <a:lstStyle/>
          <a:p>
            <a:pPr indent="0" marL="0">
              <a:lnSpc>
                <a:spcPts val="1600"/>
              </a:lnSpc>
              <a:buNone/>
            </a:pPr>
            <a:r>
              <a:rPr lang="en-US" sz="1300" b="1" dirty="0">
                <a:solidFill>
                  <a:srgbClr val="A5228E"/>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If your tool won't accept the image file directly, ask what it needs from you instead — that's worth noticing too.</a:t>
            </a:r>
            <a:endParaRPr lang="en-US" sz="1300" dirty="0"/>
          </a:p>
        </p:txBody>
      </p:sp>
      <p:sp>
        <p:nvSpPr>
          <p:cNvPr id="11" name="Text 9"/>
          <p:cNvSpPr/>
          <p:nvPr/>
        </p:nvSpPr>
        <p:spPr>
          <a:xfrm>
            <a:off x="658368" y="4709160"/>
            <a:ext cx="10424160" cy="384048"/>
          </a:xfrm>
          <a:prstGeom prst="rect">
            <a:avLst/>
          </a:prstGeom>
          <a:noFill/>
          <a:ln/>
        </p:spPr>
        <p:txBody>
          <a:bodyPr wrap="square" rtlCol="0" anchor="t"/>
          <a:lstStyle/>
          <a:p>
            <a:pPr indent="0" marL="0">
              <a:lnSpc>
                <a:spcPts val="1600"/>
              </a:lnSpc>
              <a:buNone/>
            </a:pPr>
            <a:r>
              <a:rPr lang="en-US" sz="1300" b="1" dirty="0">
                <a:solidFill>
                  <a:srgbClr val="A5228E"/>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Write down or screenshot your three answers — you'll use them next.</a:t>
            </a:r>
            <a:endParaRPr lang="en-US" sz="1300" dirty="0"/>
          </a:p>
        </p:txBody>
      </p:sp>
      <p:sp>
        <p:nvSpPr>
          <p:cNvPr id="12" name="Text 10"/>
          <p:cNvSpPr/>
          <p:nvPr/>
        </p:nvSpPr>
        <p:spPr>
          <a:xfrm>
            <a:off x="658368" y="5989320"/>
            <a:ext cx="10424160" cy="457200"/>
          </a:xfrm>
          <a:prstGeom prst="rect">
            <a:avLst/>
          </a:prstGeom>
          <a:noFill/>
          <a:ln/>
        </p:spPr>
        <p:txBody>
          <a:bodyPr wrap="square" rtlCol="0" anchor="ctr"/>
          <a:lstStyle/>
          <a:p>
            <a:pPr indent="0" marL="0">
              <a:lnSpc>
                <a:spcPts val="1500"/>
              </a:lnSpc>
              <a:buNone/>
            </a:pPr>
            <a:r>
              <a:rPr lang="en-US" sz="1150" i="1" dirty="0">
                <a:solidFill>
                  <a:srgbClr val="6B6270"/>
                </a:solidFill>
                <a:latin typeface="Calibri" pitchFamily="34" charset="0"/>
                <a:ea typeface="Calibri" pitchFamily="34" charset="-122"/>
                <a:cs typeface="Calibri" pitchFamily="34" charset="-120"/>
              </a:rPr>
              <a:t>Case number DPD-2026-0142 for all three, if your assistant asks which record you mean.</a:t>
            </a:r>
            <a:endParaRPr lang="en-US" sz="1150" dirty="0"/>
          </a:p>
        </p:txBody>
      </p:sp>
      <p:sp>
        <p:nvSpPr>
          <p:cNvPr id="13" name="Text 11"/>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4" name="Text 12"/>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BEAT TWO · ACTIVITY</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Now check Theo's draft against the record</a:t>
            </a:r>
            <a:endParaRPr lang="en-US" sz="2600" dirty="0"/>
          </a:p>
        </p:txBody>
      </p:sp>
      <p:sp>
        <p:nvSpPr>
          <p:cNvPr id="4" name="Shape 2"/>
          <p:cNvSpPr/>
          <p:nvPr/>
        </p:nvSpPr>
        <p:spPr>
          <a:xfrm>
            <a:off x="10527487" y="530352"/>
            <a:ext cx="1005840" cy="329184"/>
          </a:xfrm>
          <a:prstGeom prst="roundRect">
            <a:avLst>
              <a:gd name="adj" fmla="val 50000"/>
            </a:avLst>
          </a:prstGeom>
          <a:solidFill>
            <a:srgbClr val="FBEFF7"/>
          </a:solidFill>
          <a:ln/>
        </p:spPr>
      </p:sp>
      <p:sp>
        <p:nvSpPr>
          <p:cNvPr id="5" name="Text 3"/>
          <p:cNvSpPr/>
          <p:nvPr/>
        </p:nvSpPr>
        <p:spPr>
          <a:xfrm>
            <a:off x="10527487" y="530352"/>
            <a:ext cx="1005840" cy="329184"/>
          </a:xfrm>
          <a:prstGeom prst="rect">
            <a:avLst/>
          </a:prstGeom>
          <a:noFill/>
          <a:ln/>
        </p:spPr>
        <p:txBody>
          <a:bodyPr wrap="square" rtlCol="0" anchor="ctr"/>
          <a:lstStyle/>
          <a:p>
            <a:pPr algn="ctr" indent="0" marL="0">
              <a:buNone/>
            </a:pPr>
            <a:r>
              <a:rPr lang="en-US" sz="1100" b="1" spc="100" kern="0" dirty="0">
                <a:solidFill>
                  <a:srgbClr val="7C1C6B"/>
                </a:solidFill>
                <a:latin typeface="Calibri" pitchFamily="34" charset="0"/>
                <a:ea typeface="Calibri" pitchFamily="34" charset="-122"/>
                <a:cs typeface="Calibri" pitchFamily="34" charset="-120"/>
              </a:rPr>
              <a:t>15 MIN</a:t>
            </a:r>
            <a:endParaRPr lang="en-US" sz="1100" dirty="0"/>
          </a:p>
        </p:txBody>
      </p:sp>
      <p:sp>
        <p:nvSpPr>
          <p:cNvPr id="6" name="Shape 4"/>
          <p:cNvSpPr/>
          <p:nvPr/>
        </p:nvSpPr>
        <p:spPr>
          <a:xfrm>
            <a:off x="658368" y="1965960"/>
            <a:ext cx="10881360" cy="1234440"/>
          </a:xfrm>
          <a:prstGeom prst="roundRect">
            <a:avLst>
              <a:gd name="adj" fmla="val 8889"/>
            </a:avLst>
          </a:prstGeom>
          <a:solidFill>
            <a:srgbClr val="FBF1DD"/>
          </a:solidFill>
          <a:ln/>
        </p:spPr>
      </p:sp>
      <p:sp>
        <p:nvSpPr>
          <p:cNvPr id="7" name="Text 5"/>
          <p:cNvSpPr/>
          <p:nvPr/>
        </p:nvSpPr>
        <p:spPr>
          <a:xfrm>
            <a:off x="978408" y="2130552"/>
            <a:ext cx="10241280" cy="905256"/>
          </a:xfrm>
          <a:prstGeom prst="rect">
            <a:avLst/>
          </a:prstGeom>
          <a:noFill/>
          <a:ln/>
        </p:spPr>
        <p:txBody>
          <a:bodyPr wrap="square" rtlCol="0" anchor="ctr"/>
          <a:lstStyle/>
          <a:p>
            <a:pPr indent="0" marL="0">
              <a:lnSpc>
                <a:spcPts val="2000"/>
              </a:lnSpc>
              <a:buNone/>
            </a:pPr>
            <a:r>
              <a:rPr lang="en-US" sz="1500" dirty="0">
                <a:solidFill>
                  <a:srgbClr val="201A1E"/>
                </a:solidFill>
                <a:latin typeface="Calibri" pitchFamily="34" charset="0"/>
                <a:ea typeface="Calibri" pitchFamily="34" charset="-122"/>
                <a:cs typeface="Calibri" pitchFamily="34" charset="-120"/>
              </a:rPr>
              <a:t>Open the draft article. Using the facts you just pulled (plus anything else you check), find every figure in the draft that doesn't match the current case file. This is the actual assignment Dana gave you.</a:t>
            </a:r>
            <a:endParaRPr lang="en-US" sz="1500" dirty="0"/>
          </a:p>
        </p:txBody>
      </p:sp>
      <p:sp>
        <p:nvSpPr>
          <p:cNvPr id="8" name="Text 6"/>
          <p:cNvSpPr/>
          <p:nvPr/>
        </p:nvSpPr>
        <p:spPr>
          <a:xfrm>
            <a:off x="658368" y="3520440"/>
            <a:ext cx="7315200" cy="274320"/>
          </a:xfrm>
          <a:prstGeom prst="rect">
            <a:avLst/>
          </a:prstGeom>
          <a:noFill/>
          <a:ln/>
        </p:spPr>
        <p:txBody>
          <a:bodyPr wrap="square" rtlCol="0" anchor="ctr"/>
          <a:lstStyle/>
          <a:p>
            <a:pPr indent="0" marL="0">
              <a:buNone/>
            </a:pPr>
            <a:r>
              <a:rPr lang="en-US" sz="1050" b="1" spc="100" kern="0" dirty="0">
                <a:solidFill>
                  <a:srgbClr val="6B6270"/>
                </a:solidFill>
                <a:latin typeface="Calibri" pitchFamily="34" charset="0"/>
                <a:ea typeface="Calibri" pitchFamily="34" charset="-122"/>
                <a:cs typeface="Calibri" pitchFamily="34" charset="-120"/>
              </a:rPr>
              <a:t>QUESTIONS / CHECKS</a:t>
            </a:r>
            <a:endParaRPr lang="en-US" sz="1050" dirty="0"/>
          </a:p>
        </p:txBody>
      </p:sp>
      <p:sp>
        <p:nvSpPr>
          <p:cNvPr id="9" name="Text 7"/>
          <p:cNvSpPr/>
          <p:nvPr/>
        </p:nvSpPr>
        <p:spPr>
          <a:xfrm>
            <a:off x="658368" y="3867912"/>
            <a:ext cx="10424160" cy="384048"/>
          </a:xfrm>
          <a:prstGeom prst="rect">
            <a:avLst/>
          </a:prstGeom>
          <a:noFill/>
          <a:ln/>
        </p:spPr>
        <p:txBody>
          <a:bodyPr wrap="square" rtlCol="0" anchor="t"/>
          <a:lstStyle/>
          <a:p>
            <a:pPr indent="0" marL="0">
              <a:lnSpc>
                <a:spcPts val="1600"/>
              </a:lnSpc>
              <a:buNone/>
            </a:pPr>
            <a:r>
              <a:rPr lang="en-US" sz="1300" b="1" dirty="0">
                <a:solidFill>
                  <a:srgbClr val="A5228E"/>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Check the draft claim-by-claim — don't accept or reject the whole article at once. Some of it is already correct.</a:t>
            </a:r>
            <a:endParaRPr lang="en-US" sz="1300" dirty="0"/>
          </a:p>
        </p:txBody>
      </p:sp>
      <p:sp>
        <p:nvSpPr>
          <p:cNvPr id="10" name="Text 8"/>
          <p:cNvSpPr/>
          <p:nvPr/>
        </p:nvSpPr>
        <p:spPr>
          <a:xfrm>
            <a:off x="658368" y="4288536"/>
            <a:ext cx="10424160" cy="384048"/>
          </a:xfrm>
          <a:prstGeom prst="rect">
            <a:avLst/>
          </a:prstGeom>
          <a:noFill/>
          <a:ln/>
        </p:spPr>
        <p:txBody>
          <a:bodyPr wrap="square" rtlCol="0" anchor="t"/>
          <a:lstStyle/>
          <a:p>
            <a:pPr indent="0" marL="0">
              <a:lnSpc>
                <a:spcPts val="1600"/>
              </a:lnSpc>
              <a:buNone/>
            </a:pPr>
            <a:r>
              <a:rPr lang="en-US" sz="1300" b="1" dirty="0">
                <a:solidFill>
                  <a:srgbClr val="A5228E"/>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Read closely, not just cross-document: does anything in the draft disagree with itself?</a:t>
            </a:r>
            <a:endParaRPr lang="en-US" sz="1300" dirty="0"/>
          </a:p>
        </p:txBody>
      </p:sp>
      <p:sp>
        <p:nvSpPr>
          <p:cNvPr id="11" name="Text 9"/>
          <p:cNvSpPr/>
          <p:nvPr/>
        </p:nvSpPr>
        <p:spPr>
          <a:xfrm>
            <a:off x="658368" y="4709160"/>
            <a:ext cx="10424160" cy="384048"/>
          </a:xfrm>
          <a:prstGeom prst="rect">
            <a:avLst/>
          </a:prstGeom>
          <a:noFill/>
          <a:ln/>
        </p:spPr>
        <p:txBody>
          <a:bodyPr wrap="square" rtlCol="0" anchor="t"/>
          <a:lstStyle/>
          <a:p>
            <a:pPr indent="0" marL="0">
              <a:lnSpc>
                <a:spcPts val="1600"/>
              </a:lnSpc>
              <a:buNone/>
            </a:pPr>
            <a:r>
              <a:rPr lang="en-US" sz="1300" b="1" dirty="0">
                <a:solidFill>
                  <a:srgbClr val="A5228E"/>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When you find a mismatch, note which is the current record and which is stale — and how you'd know which is which.</a:t>
            </a:r>
            <a:endParaRPr lang="en-US" sz="1300" dirty="0"/>
          </a:p>
        </p:txBody>
      </p:sp>
      <p:sp>
        <p:nvSpPr>
          <p:cNvPr id="12" name="Text 10"/>
          <p:cNvSpPr/>
          <p:nvPr/>
        </p:nvSpPr>
        <p:spPr>
          <a:xfrm>
            <a:off x="658368" y="5989320"/>
            <a:ext cx="10424160" cy="457200"/>
          </a:xfrm>
          <a:prstGeom prst="rect">
            <a:avLst/>
          </a:prstGeom>
          <a:noFill/>
          <a:ln/>
        </p:spPr>
        <p:txBody>
          <a:bodyPr wrap="square" rtlCol="0" anchor="ctr"/>
          <a:lstStyle/>
          <a:p>
            <a:pPr indent="0" marL="0">
              <a:lnSpc>
                <a:spcPts val="1500"/>
              </a:lnSpc>
              <a:buNone/>
            </a:pPr>
            <a:r>
              <a:rPr lang="en-US" sz="1150" i="1" dirty="0">
                <a:solidFill>
                  <a:srgbClr val="6B6270"/>
                </a:solidFill>
                <a:latin typeface="Calibri" pitchFamily="34" charset="0"/>
                <a:ea typeface="Calibri" pitchFamily="34" charset="-122"/>
                <a:cs typeface="Calibri" pitchFamily="34" charset="-120"/>
              </a:rPr>
              <a:t>Don't confirm or deny anything when someone asks “is this the error?” — ask how they'd check.</a:t>
            </a:r>
            <a:endParaRPr lang="en-US" sz="1150" dirty="0"/>
          </a:p>
        </p:txBody>
      </p:sp>
      <p:sp>
        <p:nvSpPr>
          <p:cNvPr id="13" name="Text 11"/>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4" name="Text 12"/>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BEAT TWO · DEBRIEF</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What the draft actually got wrong — and why it's realistic</a:t>
            </a:r>
            <a:endParaRPr lang="en-US" sz="2600" dirty="0"/>
          </a:p>
        </p:txBody>
      </p:sp>
      <p:sp>
        <p:nvSpPr>
          <p:cNvPr id="4" name="Shape 2"/>
          <p:cNvSpPr/>
          <p:nvPr/>
        </p:nvSpPr>
        <p:spPr>
          <a:xfrm>
            <a:off x="658368" y="1993392"/>
            <a:ext cx="310896" cy="310896"/>
          </a:xfrm>
          <a:prstGeom prst="ellipse">
            <a:avLst/>
          </a:prstGeom>
          <a:solidFill>
            <a:srgbClr val="001E62"/>
          </a:solidFill>
          <a:ln/>
        </p:spPr>
      </p:sp>
      <p:sp>
        <p:nvSpPr>
          <p:cNvPr id="5" name="Text 3"/>
          <p:cNvSpPr/>
          <p:nvPr/>
        </p:nvSpPr>
        <p:spPr>
          <a:xfrm>
            <a:off x="658368" y="199339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61288" y="192938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The stale numbers are the February (original) proposal, not the current one</a:t>
            </a:r>
            <a:endParaRPr lang="en-US" sz="1550" dirty="0"/>
          </a:p>
        </p:txBody>
      </p:sp>
      <p:sp>
        <p:nvSpPr>
          <p:cNvPr id="7" name="Text 5"/>
          <p:cNvSpPr/>
          <p:nvPr/>
        </p:nvSpPr>
        <p:spPr>
          <a:xfrm>
            <a:off x="1161288" y="225856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80 units, 8 affordable, six stories — all superseded by the June revision. Current: 64 units, 16 affordable, four stories.</a:t>
            </a:r>
            <a:endParaRPr lang="en-US" sz="1250" dirty="0"/>
          </a:p>
        </p:txBody>
      </p:sp>
      <p:sp>
        <p:nvSpPr>
          <p:cNvPr id="8" name="Shape 6"/>
          <p:cNvSpPr/>
          <p:nvPr/>
        </p:nvSpPr>
        <p:spPr>
          <a:xfrm>
            <a:off x="658368" y="3044952"/>
            <a:ext cx="310896" cy="310896"/>
          </a:xfrm>
          <a:prstGeom prst="ellipse">
            <a:avLst/>
          </a:prstGeom>
          <a:solidFill>
            <a:srgbClr val="001E62"/>
          </a:solidFill>
          <a:ln/>
        </p:spPr>
      </p:sp>
      <p:sp>
        <p:nvSpPr>
          <p:cNvPr id="9" name="Text 7"/>
          <p:cNvSpPr/>
          <p:nvPr/>
        </p:nvSpPr>
        <p:spPr>
          <a:xfrm>
            <a:off x="658368" y="304495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61288" y="298094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The draft wasn't uniformly wrong</a:t>
            </a:r>
            <a:endParaRPr lang="en-US" sz="1550" dirty="0"/>
          </a:p>
        </p:txBody>
      </p:sp>
      <p:sp>
        <p:nvSpPr>
          <p:cNvPr id="11" name="Text 9"/>
          <p:cNvSpPr/>
          <p:nvPr/>
        </p:nvSpPr>
        <p:spPr>
          <a:xfrm>
            <a:off x="1161288" y="331012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parking (40) and the retail commitment were already correct. Grounding — and checking — has to happen claim-by-claim, not as a pass/fail on the whole document.</a:t>
            </a:r>
            <a:endParaRPr lang="en-US" sz="1250" dirty="0"/>
          </a:p>
        </p:txBody>
      </p:sp>
      <p:sp>
        <p:nvSpPr>
          <p:cNvPr id="12" name="Shape 10"/>
          <p:cNvSpPr/>
          <p:nvPr/>
        </p:nvSpPr>
        <p:spPr>
          <a:xfrm>
            <a:off x="658368" y="4096512"/>
            <a:ext cx="310896" cy="310896"/>
          </a:xfrm>
          <a:prstGeom prst="ellipse">
            <a:avLst/>
          </a:prstGeom>
          <a:solidFill>
            <a:srgbClr val="001E62"/>
          </a:solidFill>
          <a:ln/>
        </p:spPr>
      </p:sp>
      <p:sp>
        <p:nvSpPr>
          <p:cNvPr id="13" name="Text 11"/>
          <p:cNvSpPr/>
          <p:nvPr/>
        </p:nvSpPr>
        <p:spPr>
          <a:xfrm>
            <a:off x="658368" y="409651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61288" y="403250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The sharpest catch didn't even need the case file</a:t>
            </a:r>
            <a:endParaRPr lang="en-US" sz="1550" dirty="0"/>
          </a:p>
        </p:txBody>
      </p:sp>
      <p:sp>
        <p:nvSpPr>
          <p:cNvPr id="15" name="Text 13"/>
          <p:cNvSpPr/>
          <p:nvPr/>
        </p:nvSpPr>
        <p:spPr>
          <a:xfrm>
            <a:off x="1161288" y="436168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the draft quotes a resident saying "sixty-four units" two paragraphs after reporting "80 units." Internal consistency is a check you can run before you check anything against a source at all.</a:t>
            </a:r>
            <a:endParaRPr lang="en-US" sz="1250" dirty="0"/>
          </a:p>
        </p:txBody>
      </p:sp>
      <p:sp>
        <p:nvSpPr>
          <p:cNvPr id="16" name="Text 14"/>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7" name="Text 15"/>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1E62"/>
        </a:solidFill>
      </p:bgPr>
    </p:bg>
    <p:spTree>
      <p:nvGrpSpPr>
        <p:cNvPr id="1" name=""/>
        <p:cNvGrpSpPr/>
        <p:nvPr/>
      </p:nvGrpSpPr>
      <p:grpSpPr>
        <a:xfrm>
          <a:off x="0" y="0"/>
          <a:ext cx="0" cy="0"/>
          <a:chOff x="0" y="0"/>
          <a:chExt cx="0" cy="0"/>
        </a:xfrm>
      </p:grpSpPr>
      <p:sp>
        <p:nvSpPr>
          <p:cNvPr id="2" name="Shape 0"/>
          <p:cNvSpPr/>
          <p:nvPr/>
        </p:nvSpPr>
        <p:spPr>
          <a:xfrm>
            <a:off x="9265615" y="4114800"/>
            <a:ext cx="4937760" cy="4937760"/>
          </a:xfrm>
          <a:prstGeom prst="ellipse">
            <a:avLst/>
          </a:prstGeom>
          <a:solidFill>
            <a:srgbClr val="001A54"/>
          </a:solidFill>
          <a:ln/>
        </p:spPr>
      </p:sp>
      <p:sp>
        <p:nvSpPr>
          <p:cNvPr id="3" name="Text 1"/>
          <p:cNvSpPr/>
          <p:nvPr/>
        </p:nvSpPr>
        <p:spPr>
          <a:xfrm>
            <a:off x="658368" y="265176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BEAT THREE</a:t>
            </a:r>
            <a:endParaRPr lang="en-US" sz="1250" dirty="0"/>
          </a:p>
        </p:txBody>
      </p:sp>
      <p:sp>
        <p:nvSpPr>
          <p:cNvPr id="4" name="Text 2"/>
          <p:cNvSpPr/>
          <p:nvPr/>
        </p:nvSpPr>
        <p:spPr>
          <a:xfrm>
            <a:off x="658368" y="3017520"/>
            <a:ext cx="10241280" cy="1645920"/>
          </a:xfrm>
          <a:prstGeom prst="rect">
            <a:avLst/>
          </a:prstGeom>
          <a:noFill/>
          <a:ln/>
        </p:spPr>
        <p:txBody>
          <a:bodyPr wrap="square" rtlCol="0" anchor="ctr"/>
          <a:lstStyle/>
          <a:p>
            <a:pPr indent="0" marL="0">
              <a:lnSpc>
                <a:spcPts val="3800"/>
              </a:lnSpc>
              <a:buNone/>
            </a:pPr>
            <a:r>
              <a:rPr lang="en-US" sz="3400" b="1" dirty="0">
                <a:solidFill>
                  <a:srgbClr val="FFFFFF"/>
                </a:solidFill>
                <a:latin typeface="Calibri" pitchFamily="34" charset="0"/>
                <a:ea typeface="Calibri" pitchFamily="34" charset="-122"/>
                <a:cs typeface="Calibri" pitchFamily="34" charset="-120"/>
              </a:rPr>
              <a:t>Summarize it. Verify that, too.</a:t>
            </a:r>
            <a:endParaRPr lang="en-US" sz="3400" dirty="0"/>
          </a:p>
        </p:txBody>
      </p:sp>
      <p:sp>
        <p:nvSpPr>
          <p:cNvPr id="5" name="Text 3"/>
          <p:cNvSpPr/>
          <p:nvPr/>
        </p:nvSpPr>
        <p:spPr>
          <a:xfrm>
            <a:off x="658368" y="4343400"/>
            <a:ext cx="8778240" cy="731520"/>
          </a:xfrm>
          <a:prstGeom prst="rect">
            <a:avLst/>
          </a:prstGeom>
          <a:noFill/>
          <a:ln/>
        </p:spPr>
        <p:txBody>
          <a:bodyPr wrap="square" rtlCol="0" anchor="ctr"/>
          <a:lstStyle/>
          <a:p>
            <a:pPr indent="0" marL="0">
              <a:lnSpc>
                <a:spcPts val="2000"/>
              </a:lnSpc>
              <a:buNone/>
            </a:pPr>
            <a:r>
              <a:rPr lang="en-US" sz="1500" dirty="0">
                <a:solidFill>
                  <a:srgbClr val="C7CEE8"/>
                </a:solidFill>
                <a:latin typeface="Calibri" pitchFamily="34" charset="0"/>
                <a:ea typeface="Calibri" pitchFamily="34" charset="-122"/>
                <a:cs typeface="Calibri" pitchFamily="34" charset="-120"/>
              </a:rPr>
              <a:t>What do you check when the answer isn't a quote — when it's meaning, synthesis, or "why"?</a:t>
            </a:r>
            <a:endParaRPr lang="en-US" sz="1500" dirty="0"/>
          </a:p>
        </p:txBody>
      </p:sp>
      <p:sp>
        <p:nvSpPr>
          <p:cNvPr id="6" name="Text 4"/>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AAB3D6"/>
                </a:solidFill>
                <a:latin typeface="Calibri" pitchFamily="34" charset="0"/>
                <a:ea typeface="Calibri" pitchFamily="34" charset="-122"/>
                <a:cs typeface="Calibri" pitchFamily="34" charset="-120"/>
              </a:rPr>
              <a:t>MODULE 4 · SEARCH &amp; VERIFY</a:t>
            </a:r>
            <a:endParaRPr lang="en-US" sz="900" dirty="0"/>
          </a:p>
        </p:txBody>
      </p:sp>
      <p:sp>
        <p:nvSpPr>
          <p:cNvPr id="7" name="Text 5"/>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AAB3D6"/>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BEAT THREE</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This is a different kind of claim</a:t>
            </a:r>
            <a:endParaRPr lang="en-US" sz="2600" dirty="0"/>
          </a:p>
        </p:txBody>
      </p:sp>
      <p:sp>
        <p:nvSpPr>
          <p:cNvPr id="4" name="Shape 2"/>
          <p:cNvSpPr/>
          <p:nvPr/>
        </p:nvSpPr>
        <p:spPr>
          <a:xfrm>
            <a:off x="658368" y="1993392"/>
            <a:ext cx="310896" cy="310896"/>
          </a:xfrm>
          <a:prstGeom prst="ellipse">
            <a:avLst/>
          </a:prstGeom>
          <a:solidFill>
            <a:srgbClr val="001E62"/>
          </a:solidFill>
          <a:ln/>
        </p:spPr>
      </p:sp>
      <p:sp>
        <p:nvSpPr>
          <p:cNvPr id="5" name="Text 3"/>
          <p:cNvSpPr/>
          <p:nvPr/>
        </p:nvSpPr>
        <p:spPr>
          <a:xfrm>
            <a:off x="658368" y="199339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61288" y="192938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"How many affordable units" has one right answer, sitting in one place</a:t>
            </a:r>
            <a:endParaRPr lang="en-US" sz="1550" dirty="0"/>
          </a:p>
        </p:txBody>
      </p:sp>
      <p:sp>
        <p:nvSpPr>
          <p:cNvPr id="7" name="Text 5"/>
          <p:cNvSpPr/>
          <p:nvPr/>
        </p:nvSpPr>
        <p:spPr>
          <a:xfrm>
            <a:off x="1161288" y="225856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you already know how to check that — Beat Two.</a:t>
            </a:r>
            <a:endParaRPr lang="en-US" sz="1250" dirty="0"/>
          </a:p>
        </p:txBody>
      </p:sp>
      <p:sp>
        <p:nvSpPr>
          <p:cNvPr id="8" name="Shape 6"/>
          <p:cNvSpPr/>
          <p:nvPr/>
        </p:nvSpPr>
        <p:spPr>
          <a:xfrm>
            <a:off x="658368" y="3044952"/>
            <a:ext cx="310896" cy="310896"/>
          </a:xfrm>
          <a:prstGeom prst="ellipse">
            <a:avLst/>
          </a:prstGeom>
          <a:solidFill>
            <a:srgbClr val="001E62"/>
          </a:solidFill>
          <a:ln/>
        </p:spPr>
      </p:sp>
      <p:sp>
        <p:nvSpPr>
          <p:cNvPr id="9" name="Text 7"/>
          <p:cNvSpPr/>
          <p:nvPr/>
        </p:nvSpPr>
        <p:spPr>
          <a:xfrm>
            <a:off x="658368" y="304495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61288" y="298094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"Why did the developer revise the plan" doesn't appear verbatim anywhere</a:t>
            </a:r>
            <a:endParaRPr lang="en-US" sz="1550" dirty="0"/>
          </a:p>
        </p:txBody>
      </p:sp>
      <p:sp>
        <p:nvSpPr>
          <p:cNvPr id="11" name="Text 9"/>
          <p:cNvSpPr/>
          <p:nvPr/>
        </p:nvSpPr>
        <p:spPr>
          <a:xfrm>
            <a:off x="1161288" y="331012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the answer has to be assembled from the press release, the minutes, and the timeline together. No single sentence to hold it against.</a:t>
            </a:r>
            <a:endParaRPr lang="en-US" sz="1250" dirty="0"/>
          </a:p>
        </p:txBody>
      </p:sp>
      <p:sp>
        <p:nvSpPr>
          <p:cNvPr id="12" name="Shape 10"/>
          <p:cNvSpPr/>
          <p:nvPr/>
        </p:nvSpPr>
        <p:spPr>
          <a:xfrm>
            <a:off x="658368" y="4096512"/>
            <a:ext cx="310896" cy="310896"/>
          </a:xfrm>
          <a:prstGeom prst="ellipse">
            <a:avLst/>
          </a:prstGeom>
          <a:solidFill>
            <a:srgbClr val="001E62"/>
          </a:solidFill>
          <a:ln/>
        </p:spPr>
      </p:sp>
      <p:sp>
        <p:nvSpPr>
          <p:cNvPr id="13" name="Text 11"/>
          <p:cNvSpPr/>
          <p:nvPr/>
        </p:nvSpPr>
        <p:spPr>
          <a:xfrm>
            <a:off x="658368" y="409651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61288" y="403250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This is most of what "AI search" actually gets used for</a:t>
            </a:r>
            <a:endParaRPr lang="en-US" sz="1550" dirty="0"/>
          </a:p>
        </p:txBody>
      </p:sp>
      <p:sp>
        <p:nvSpPr>
          <p:cNvPr id="15" name="Text 13"/>
          <p:cNvSpPr/>
          <p:nvPr/>
        </p:nvSpPr>
        <p:spPr>
          <a:xfrm>
            <a:off x="1161288" y="436168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summaries, explanations, "what does this mean" — not simple lookups. It's also the hardest kind to verify.</a:t>
            </a:r>
            <a:endParaRPr lang="en-US" sz="1250" dirty="0"/>
          </a:p>
        </p:txBody>
      </p:sp>
      <p:sp>
        <p:nvSpPr>
          <p:cNvPr id="16" name="Text 14"/>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7" name="Text 15"/>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BEAT THREE</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How to verify a claim that isn't a quote</a:t>
            </a:r>
            <a:endParaRPr lang="en-US" sz="2600" dirty="0"/>
          </a:p>
        </p:txBody>
      </p:sp>
      <p:sp>
        <p:nvSpPr>
          <p:cNvPr id="4" name="Shape 2"/>
          <p:cNvSpPr/>
          <p:nvPr/>
        </p:nvSpPr>
        <p:spPr>
          <a:xfrm>
            <a:off x="658368" y="1993392"/>
            <a:ext cx="310896" cy="310896"/>
          </a:xfrm>
          <a:prstGeom prst="ellipse">
            <a:avLst/>
          </a:prstGeom>
          <a:solidFill>
            <a:srgbClr val="001E62"/>
          </a:solidFill>
          <a:ln/>
        </p:spPr>
      </p:sp>
      <p:sp>
        <p:nvSpPr>
          <p:cNvPr id="5" name="Text 3"/>
          <p:cNvSpPr/>
          <p:nvPr/>
        </p:nvSpPr>
        <p:spPr>
          <a:xfrm>
            <a:off x="658368" y="199339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61288" y="192938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Trace each piece of the answer back to some passage</a:t>
            </a:r>
            <a:endParaRPr lang="en-US" sz="1550" dirty="0"/>
          </a:p>
        </p:txBody>
      </p:sp>
      <p:sp>
        <p:nvSpPr>
          <p:cNvPr id="7" name="Text 5"/>
          <p:cNvSpPr/>
          <p:nvPr/>
        </p:nvSpPr>
        <p:spPr>
          <a:xfrm>
            <a:off x="1161288" y="225856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not word-for-word — but you should be able to point to where each part came from, across one or more documents.</a:t>
            </a:r>
            <a:endParaRPr lang="en-US" sz="1250" dirty="0"/>
          </a:p>
        </p:txBody>
      </p:sp>
      <p:sp>
        <p:nvSpPr>
          <p:cNvPr id="8" name="Shape 6"/>
          <p:cNvSpPr/>
          <p:nvPr/>
        </p:nvSpPr>
        <p:spPr>
          <a:xfrm>
            <a:off x="658368" y="3044952"/>
            <a:ext cx="310896" cy="310896"/>
          </a:xfrm>
          <a:prstGeom prst="ellipse">
            <a:avLst/>
          </a:prstGeom>
          <a:solidFill>
            <a:srgbClr val="001E62"/>
          </a:solidFill>
          <a:ln/>
        </p:spPr>
      </p:sp>
      <p:sp>
        <p:nvSpPr>
          <p:cNvPr id="9" name="Text 7"/>
          <p:cNvSpPr/>
          <p:nvPr/>
        </p:nvSpPr>
        <p:spPr>
          <a:xfrm>
            <a:off x="658368" y="304495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61288" y="298094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Flag anything the answer adds that isn't traceable to any source</a:t>
            </a:r>
            <a:endParaRPr lang="en-US" sz="1550" dirty="0"/>
          </a:p>
        </p:txBody>
      </p:sp>
      <p:sp>
        <p:nvSpPr>
          <p:cNvPr id="11" name="Text 9"/>
          <p:cNvSpPr/>
          <p:nvPr/>
        </p:nvSpPr>
        <p:spPr>
          <a:xfrm>
            <a:off x="1161288" y="331012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a plausible-sounding detail, a number, a motive — that's the tell for a summary that's drifted into invention.</a:t>
            </a:r>
            <a:endParaRPr lang="en-US" sz="1250" dirty="0"/>
          </a:p>
        </p:txBody>
      </p:sp>
      <p:sp>
        <p:nvSpPr>
          <p:cNvPr id="12" name="Shape 10"/>
          <p:cNvSpPr/>
          <p:nvPr/>
        </p:nvSpPr>
        <p:spPr>
          <a:xfrm>
            <a:off x="658368" y="4096512"/>
            <a:ext cx="310896" cy="310896"/>
          </a:xfrm>
          <a:prstGeom prst="ellipse">
            <a:avLst/>
          </a:prstGeom>
          <a:solidFill>
            <a:srgbClr val="001E62"/>
          </a:solidFill>
          <a:ln/>
        </p:spPr>
      </p:sp>
      <p:sp>
        <p:nvSpPr>
          <p:cNvPr id="13" name="Text 11"/>
          <p:cNvSpPr/>
          <p:nvPr/>
        </p:nvSpPr>
        <p:spPr>
          <a:xfrm>
            <a:off x="658368" y="409651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61288" y="403250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Triangulate: ask a second, differently-phrased question</a:t>
            </a:r>
            <a:endParaRPr lang="en-US" sz="1550" dirty="0"/>
          </a:p>
        </p:txBody>
      </p:sp>
      <p:sp>
        <p:nvSpPr>
          <p:cNvPr id="15" name="Text 13"/>
          <p:cNvSpPr/>
          <p:nvPr/>
        </p:nvSpPr>
        <p:spPr>
          <a:xfrm>
            <a:off x="1161288" y="436168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a claim that only survives one specific phrasing of the question is worth a second look.</a:t>
            </a:r>
            <a:endParaRPr lang="en-US" sz="1250" dirty="0"/>
          </a:p>
        </p:txBody>
      </p:sp>
      <p:sp>
        <p:nvSpPr>
          <p:cNvPr id="16" name="Text 14"/>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7" name="Text 15"/>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BEAT THREE · ACTIVITY</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Answer the question with no verbatim source</a:t>
            </a:r>
            <a:endParaRPr lang="en-US" sz="2600" dirty="0"/>
          </a:p>
        </p:txBody>
      </p:sp>
      <p:sp>
        <p:nvSpPr>
          <p:cNvPr id="4" name="Shape 2"/>
          <p:cNvSpPr/>
          <p:nvPr/>
        </p:nvSpPr>
        <p:spPr>
          <a:xfrm>
            <a:off x="10527487" y="530352"/>
            <a:ext cx="1005840" cy="329184"/>
          </a:xfrm>
          <a:prstGeom prst="roundRect">
            <a:avLst>
              <a:gd name="adj" fmla="val 50000"/>
            </a:avLst>
          </a:prstGeom>
          <a:solidFill>
            <a:srgbClr val="FBEFF7"/>
          </a:solidFill>
          <a:ln/>
        </p:spPr>
      </p:sp>
      <p:sp>
        <p:nvSpPr>
          <p:cNvPr id="5" name="Text 3"/>
          <p:cNvSpPr/>
          <p:nvPr/>
        </p:nvSpPr>
        <p:spPr>
          <a:xfrm>
            <a:off x="10527487" y="530352"/>
            <a:ext cx="1005840" cy="329184"/>
          </a:xfrm>
          <a:prstGeom prst="rect">
            <a:avLst/>
          </a:prstGeom>
          <a:noFill/>
          <a:ln/>
        </p:spPr>
        <p:txBody>
          <a:bodyPr wrap="square" rtlCol="0" anchor="ctr"/>
          <a:lstStyle/>
          <a:p>
            <a:pPr algn="ctr" indent="0" marL="0">
              <a:buNone/>
            </a:pPr>
            <a:r>
              <a:rPr lang="en-US" sz="1100" b="1" spc="100" kern="0" dirty="0">
                <a:solidFill>
                  <a:srgbClr val="7C1C6B"/>
                </a:solidFill>
                <a:latin typeface="Calibri" pitchFamily="34" charset="0"/>
                <a:ea typeface="Calibri" pitchFamily="34" charset="-122"/>
                <a:cs typeface="Calibri" pitchFamily="34" charset="-120"/>
              </a:rPr>
              <a:t>18 MIN</a:t>
            </a:r>
            <a:endParaRPr lang="en-US" sz="1100" dirty="0"/>
          </a:p>
        </p:txBody>
      </p:sp>
      <p:sp>
        <p:nvSpPr>
          <p:cNvPr id="6" name="Shape 4"/>
          <p:cNvSpPr/>
          <p:nvPr/>
        </p:nvSpPr>
        <p:spPr>
          <a:xfrm>
            <a:off x="658368" y="1965960"/>
            <a:ext cx="10881360" cy="1234440"/>
          </a:xfrm>
          <a:prstGeom prst="roundRect">
            <a:avLst>
              <a:gd name="adj" fmla="val 8889"/>
            </a:avLst>
          </a:prstGeom>
          <a:solidFill>
            <a:srgbClr val="FBEFF7"/>
          </a:solidFill>
          <a:ln/>
        </p:spPr>
      </p:sp>
      <p:sp>
        <p:nvSpPr>
          <p:cNvPr id="7" name="Text 5"/>
          <p:cNvSpPr/>
          <p:nvPr/>
        </p:nvSpPr>
        <p:spPr>
          <a:xfrm>
            <a:off x="978408" y="2130552"/>
            <a:ext cx="10241280" cy="905256"/>
          </a:xfrm>
          <a:prstGeom prst="rect">
            <a:avLst/>
          </a:prstGeom>
          <a:noFill/>
          <a:ln/>
        </p:spPr>
        <p:txBody>
          <a:bodyPr wrap="square" rtlCol="0" anchor="ctr"/>
          <a:lstStyle/>
          <a:p>
            <a:pPr indent="0" marL="0">
              <a:lnSpc>
                <a:spcPts val="2000"/>
              </a:lnSpc>
              <a:buNone/>
            </a:pPr>
            <a:r>
              <a:rPr lang="en-US" sz="1500" dirty="0">
                <a:solidFill>
                  <a:srgbClr val="201A1E"/>
                </a:solidFill>
                <a:latin typeface="Calibri" pitchFamily="34" charset="0"/>
                <a:ea typeface="Calibri" pitchFamily="34" charset="-122"/>
                <a:cs typeface="Calibri" pitchFamily="34" charset="-120"/>
              </a:rPr>
              <a:t>Ask your grounded assistant: "In 2-3 sentences, why did Larkspur revise the proposal, and what changed?" Then, separately: "Summarize the overall community reaction at the July hearing."</a:t>
            </a:r>
            <a:endParaRPr lang="en-US" sz="1500" dirty="0"/>
          </a:p>
        </p:txBody>
      </p:sp>
      <p:sp>
        <p:nvSpPr>
          <p:cNvPr id="8" name="Text 6"/>
          <p:cNvSpPr/>
          <p:nvPr/>
        </p:nvSpPr>
        <p:spPr>
          <a:xfrm>
            <a:off x="658368" y="3520440"/>
            <a:ext cx="7315200" cy="274320"/>
          </a:xfrm>
          <a:prstGeom prst="rect">
            <a:avLst/>
          </a:prstGeom>
          <a:noFill/>
          <a:ln/>
        </p:spPr>
        <p:txBody>
          <a:bodyPr wrap="square" rtlCol="0" anchor="ctr"/>
          <a:lstStyle/>
          <a:p>
            <a:pPr indent="0" marL="0">
              <a:buNone/>
            </a:pPr>
            <a:r>
              <a:rPr lang="en-US" sz="1050" b="1" spc="100" kern="0" dirty="0">
                <a:solidFill>
                  <a:srgbClr val="6B6270"/>
                </a:solidFill>
                <a:latin typeface="Calibri" pitchFamily="34" charset="0"/>
                <a:ea typeface="Calibri" pitchFamily="34" charset="-122"/>
                <a:cs typeface="Calibri" pitchFamily="34" charset="-120"/>
              </a:rPr>
              <a:t>QUESTIONS / CHECKS</a:t>
            </a:r>
            <a:endParaRPr lang="en-US" sz="1050" dirty="0"/>
          </a:p>
        </p:txBody>
      </p:sp>
      <p:sp>
        <p:nvSpPr>
          <p:cNvPr id="9" name="Text 7"/>
          <p:cNvSpPr/>
          <p:nvPr/>
        </p:nvSpPr>
        <p:spPr>
          <a:xfrm>
            <a:off x="658368" y="3867912"/>
            <a:ext cx="10424160" cy="384048"/>
          </a:xfrm>
          <a:prstGeom prst="rect">
            <a:avLst/>
          </a:prstGeom>
          <a:noFill/>
          <a:ln/>
        </p:spPr>
        <p:txBody>
          <a:bodyPr wrap="square" rtlCol="0" anchor="t"/>
          <a:lstStyle/>
          <a:p>
            <a:pPr indent="0" marL="0">
              <a:lnSpc>
                <a:spcPts val="1600"/>
              </a:lnSpc>
              <a:buNone/>
            </a:pPr>
            <a:r>
              <a:rPr lang="en-US" sz="1300" b="1" dirty="0">
                <a:solidFill>
                  <a:srgbClr val="A5228E"/>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For each answer, apply the previous slide: what's it tracing to, and what (if anything) isn't traceable to a source?</a:t>
            </a:r>
            <a:endParaRPr lang="en-US" sz="1300" dirty="0"/>
          </a:p>
        </p:txBody>
      </p:sp>
      <p:sp>
        <p:nvSpPr>
          <p:cNvPr id="10" name="Text 8"/>
          <p:cNvSpPr/>
          <p:nvPr/>
        </p:nvSpPr>
        <p:spPr>
          <a:xfrm>
            <a:off x="658368" y="4288536"/>
            <a:ext cx="10424160" cy="384048"/>
          </a:xfrm>
          <a:prstGeom prst="rect">
            <a:avLst/>
          </a:prstGeom>
          <a:noFill/>
          <a:ln/>
        </p:spPr>
        <p:txBody>
          <a:bodyPr wrap="square" rtlCol="0" anchor="t"/>
          <a:lstStyle/>
          <a:p>
            <a:pPr indent="0" marL="0">
              <a:lnSpc>
                <a:spcPts val="1600"/>
              </a:lnSpc>
              <a:buNone/>
            </a:pPr>
            <a:r>
              <a:rPr lang="en-US" sz="1300" b="1" dirty="0">
                <a:solidFill>
                  <a:srgbClr val="A5228E"/>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Try re-asking each question with different wording — does the answer hold up, or does something shift?</a:t>
            </a:r>
            <a:endParaRPr lang="en-US" sz="1300" dirty="0"/>
          </a:p>
        </p:txBody>
      </p:sp>
      <p:sp>
        <p:nvSpPr>
          <p:cNvPr id="11" name="Text 9"/>
          <p:cNvSpPr/>
          <p:nvPr/>
        </p:nvSpPr>
        <p:spPr>
          <a:xfrm>
            <a:off x="658368" y="4709160"/>
            <a:ext cx="10424160" cy="384048"/>
          </a:xfrm>
          <a:prstGeom prst="rect">
            <a:avLst/>
          </a:prstGeom>
          <a:noFill/>
          <a:ln/>
        </p:spPr>
        <p:txBody>
          <a:bodyPr wrap="square" rtlCol="0" anchor="t"/>
          <a:lstStyle/>
          <a:p>
            <a:pPr indent="0" marL="0">
              <a:lnSpc>
                <a:spcPts val="1600"/>
              </a:lnSpc>
              <a:buNone/>
            </a:pPr>
            <a:r>
              <a:rPr lang="en-US" sz="1300" b="1" dirty="0">
                <a:solidFill>
                  <a:srgbClr val="A5228E"/>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A weak summary of the hearing usually just repeats the two named quotes and misses everyone else who spoke — check for that specifically.</a:t>
            </a:r>
            <a:endParaRPr lang="en-US" sz="1300" dirty="0"/>
          </a:p>
        </p:txBody>
      </p:sp>
      <p:sp>
        <p:nvSpPr>
          <p:cNvPr id="12" name="Text 10"/>
          <p:cNvSpPr/>
          <p:nvPr/>
        </p:nvSpPr>
        <p:spPr>
          <a:xfrm>
            <a:off x="658368" y="5989320"/>
            <a:ext cx="10424160" cy="457200"/>
          </a:xfrm>
          <a:prstGeom prst="rect">
            <a:avLst/>
          </a:prstGeom>
          <a:noFill/>
          <a:ln/>
        </p:spPr>
        <p:txBody>
          <a:bodyPr wrap="square" rtlCol="0" anchor="ctr"/>
          <a:lstStyle/>
          <a:p>
            <a:pPr indent="0" marL="0">
              <a:lnSpc>
                <a:spcPts val="1500"/>
              </a:lnSpc>
              <a:buNone/>
            </a:pPr>
            <a:r>
              <a:rPr lang="en-US" sz="1150" i="1" dirty="0">
                <a:solidFill>
                  <a:srgbClr val="6B6270"/>
                </a:solidFill>
                <a:latin typeface="Calibri" pitchFamily="34" charset="0"/>
                <a:ea typeface="Calibri" pitchFamily="34" charset="-122"/>
                <a:cs typeface="Calibri" pitchFamily="34" charset="-120"/>
              </a:rPr>
              <a:t>There's no single "right" sentence here — the point is whether you can defend every part of the answer you got.</a:t>
            </a:r>
            <a:endParaRPr lang="en-US" sz="1150" dirty="0"/>
          </a:p>
        </p:txBody>
      </p:sp>
      <p:sp>
        <p:nvSpPr>
          <p:cNvPr id="13" name="Text 11"/>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4" name="Text 12"/>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BEAT THREE · DEBRIEF</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Why this beat is the hard one</a:t>
            </a:r>
            <a:endParaRPr lang="en-US" sz="2600" dirty="0"/>
          </a:p>
        </p:txBody>
      </p:sp>
      <p:sp>
        <p:nvSpPr>
          <p:cNvPr id="4" name="Shape 2"/>
          <p:cNvSpPr/>
          <p:nvPr/>
        </p:nvSpPr>
        <p:spPr>
          <a:xfrm>
            <a:off x="658368" y="1993392"/>
            <a:ext cx="310896" cy="310896"/>
          </a:xfrm>
          <a:prstGeom prst="ellipse">
            <a:avLst/>
          </a:prstGeom>
          <a:solidFill>
            <a:srgbClr val="001E62"/>
          </a:solidFill>
          <a:ln/>
        </p:spPr>
      </p:sp>
      <p:sp>
        <p:nvSpPr>
          <p:cNvPr id="5" name="Text 3"/>
          <p:cNvSpPr/>
          <p:nvPr/>
        </p:nvSpPr>
        <p:spPr>
          <a:xfrm>
            <a:off x="658368" y="199339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61288" y="192938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There's no shortcut equivalent to Beat Two's quote-check</a:t>
            </a:r>
            <a:endParaRPr lang="en-US" sz="1550" dirty="0"/>
          </a:p>
        </p:txBody>
      </p:sp>
      <p:sp>
        <p:nvSpPr>
          <p:cNvPr id="7" name="Text 5"/>
          <p:cNvSpPr/>
          <p:nvPr/>
        </p:nvSpPr>
        <p:spPr>
          <a:xfrm>
            <a:off x="1161288" y="225856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you can't just diff a summary against one sentence. Verifying synthesis takes more judgment, not less — even with a perfectly grounded assistant.</a:t>
            </a:r>
            <a:endParaRPr lang="en-US" sz="1250" dirty="0"/>
          </a:p>
        </p:txBody>
      </p:sp>
      <p:sp>
        <p:nvSpPr>
          <p:cNvPr id="8" name="Shape 6"/>
          <p:cNvSpPr/>
          <p:nvPr/>
        </p:nvSpPr>
        <p:spPr>
          <a:xfrm>
            <a:off x="658368" y="3044952"/>
            <a:ext cx="310896" cy="310896"/>
          </a:xfrm>
          <a:prstGeom prst="ellipse">
            <a:avLst/>
          </a:prstGeom>
          <a:solidFill>
            <a:srgbClr val="001E62"/>
          </a:solidFill>
          <a:ln/>
        </p:spPr>
      </p:sp>
      <p:sp>
        <p:nvSpPr>
          <p:cNvPr id="9" name="Text 7"/>
          <p:cNvSpPr/>
          <p:nvPr/>
        </p:nvSpPr>
        <p:spPr>
          <a:xfrm>
            <a:off x="658368" y="304495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61288" y="298094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A citation attached to a summary is not proof the summary is right</a:t>
            </a:r>
            <a:endParaRPr lang="en-US" sz="1550" dirty="0"/>
          </a:p>
        </p:txBody>
      </p:sp>
      <p:sp>
        <p:nvSpPr>
          <p:cNvPr id="11" name="Text 9"/>
          <p:cNvSpPr/>
          <p:nvPr/>
        </p:nvSpPr>
        <p:spPr>
          <a:xfrm>
            <a:off x="1161288" y="331012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the citation might support one clause and not the rest. Check the whole claim, not just whether a source exists somewhere nearby.</a:t>
            </a:r>
            <a:endParaRPr lang="en-US" sz="1250" dirty="0"/>
          </a:p>
        </p:txBody>
      </p:sp>
      <p:sp>
        <p:nvSpPr>
          <p:cNvPr id="12" name="Shape 10"/>
          <p:cNvSpPr/>
          <p:nvPr/>
        </p:nvSpPr>
        <p:spPr>
          <a:xfrm>
            <a:off x="658368" y="4096512"/>
            <a:ext cx="310896" cy="310896"/>
          </a:xfrm>
          <a:prstGeom prst="ellipse">
            <a:avLst/>
          </a:prstGeom>
          <a:solidFill>
            <a:srgbClr val="001E62"/>
          </a:solidFill>
          <a:ln/>
        </p:spPr>
      </p:sp>
      <p:sp>
        <p:nvSpPr>
          <p:cNvPr id="13" name="Text 11"/>
          <p:cNvSpPr/>
          <p:nvPr/>
        </p:nvSpPr>
        <p:spPr>
          <a:xfrm>
            <a:off x="658368" y="409651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61288" y="403250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This is the skill that's actually load-bearing going forward</a:t>
            </a:r>
            <a:endParaRPr lang="en-US" sz="1550" dirty="0"/>
          </a:p>
        </p:txBody>
      </p:sp>
      <p:sp>
        <p:nvSpPr>
          <p:cNvPr id="15" name="Text 13"/>
          <p:cNvSpPr/>
          <p:nvPr/>
        </p:nvSpPr>
        <p:spPr>
          <a:xfrm>
            <a:off x="1161288" y="436168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verbatim lookups are the easy 20% of what AI search gets used for. Synthesis and "what does this mean" are the other 80% — and the part that's still yours to check.</a:t>
            </a:r>
            <a:endParaRPr lang="en-US" sz="1250" dirty="0"/>
          </a:p>
        </p:txBody>
      </p:sp>
      <p:sp>
        <p:nvSpPr>
          <p:cNvPr id="16" name="Text 14"/>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7" name="Text 15"/>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1E62"/>
        </a:solidFill>
      </p:bgPr>
    </p:bg>
    <p:spTree>
      <p:nvGrpSpPr>
        <p:cNvPr id="1" name=""/>
        <p:cNvGrpSpPr/>
        <p:nvPr/>
      </p:nvGrpSpPr>
      <p:grpSpPr>
        <a:xfrm>
          <a:off x="0" y="0"/>
          <a:ext cx="0" cy="0"/>
          <a:chOff x="0" y="0"/>
          <a:chExt cx="0" cy="0"/>
        </a:xfrm>
      </p:grpSpPr>
      <p:sp>
        <p:nvSpPr>
          <p:cNvPr id="2" name="Shape 0"/>
          <p:cNvSpPr/>
          <p:nvPr/>
        </p:nvSpPr>
        <p:spPr>
          <a:xfrm>
            <a:off x="9265615" y="4114800"/>
            <a:ext cx="4937760" cy="4937760"/>
          </a:xfrm>
          <a:prstGeom prst="ellipse">
            <a:avLst/>
          </a:prstGeom>
          <a:solidFill>
            <a:srgbClr val="001A54"/>
          </a:solidFill>
          <a:ln/>
        </p:spPr>
      </p:sp>
      <p:sp>
        <p:nvSpPr>
          <p:cNvPr id="3" name="Text 1"/>
          <p:cNvSpPr/>
          <p:nvPr/>
        </p:nvSpPr>
        <p:spPr>
          <a:xfrm>
            <a:off x="658368" y="265176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NAMING THE PATTERN</a:t>
            </a:r>
            <a:endParaRPr lang="en-US" sz="1250" dirty="0"/>
          </a:p>
        </p:txBody>
      </p:sp>
      <p:sp>
        <p:nvSpPr>
          <p:cNvPr id="4" name="Text 2"/>
          <p:cNvSpPr/>
          <p:nvPr/>
        </p:nvSpPr>
        <p:spPr>
          <a:xfrm>
            <a:off x="658368" y="3017520"/>
            <a:ext cx="10241280" cy="1645920"/>
          </a:xfrm>
          <a:prstGeom prst="rect">
            <a:avLst/>
          </a:prstGeom>
          <a:noFill/>
          <a:ln/>
        </p:spPr>
        <p:txBody>
          <a:bodyPr wrap="square" rtlCol="0" anchor="ctr"/>
          <a:lstStyle/>
          <a:p>
            <a:pPr indent="0" marL="0">
              <a:lnSpc>
                <a:spcPts val="3800"/>
              </a:lnSpc>
              <a:buNone/>
            </a:pPr>
            <a:r>
              <a:rPr lang="en-US" sz="3400" b="1" dirty="0">
                <a:solidFill>
                  <a:srgbClr val="FFFFFF"/>
                </a:solidFill>
                <a:latin typeface="Calibri" pitchFamily="34" charset="0"/>
                <a:ea typeface="Calibri" pitchFamily="34" charset="-122"/>
                <a:cs typeface="Calibri" pitchFamily="34" charset="-120"/>
              </a:rPr>
              <a:t>Search got easy. Checking is the actual skill.</a:t>
            </a:r>
            <a:endParaRPr lang="en-US" sz="3400" dirty="0"/>
          </a:p>
        </p:txBody>
      </p:sp>
      <p:sp>
        <p:nvSpPr>
          <p:cNvPr id="5" name="Text 3"/>
          <p:cNvSpPr/>
          <p:nvPr/>
        </p:nvSpPr>
        <p:spPr>
          <a:xfrm>
            <a:off x="658368" y="4343400"/>
            <a:ext cx="8778240" cy="731520"/>
          </a:xfrm>
          <a:prstGeom prst="rect">
            <a:avLst/>
          </a:prstGeom>
          <a:noFill/>
          <a:ln/>
        </p:spPr>
        <p:txBody>
          <a:bodyPr wrap="square" rtlCol="0" anchor="ctr"/>
          <a:lstStyle/>
          <a:p>
            <a:pPr indent="0" marL="0">
              <a:lnSpc>
                <a:spcPts val="2000"/>
              </a:lnSpc>
              <a:buNone/>
            </a:pPr>
            <a:r>
              <a:rPr lang="en-US" sz="1500" dirty="0">
                <a:solidFill>
                  <a:srgbClr val="C7CEE8"/>
                </a:solidFill>
                <a:latin typeface="Calibri" pitchFamily="34" charset="0"/>
                <a:ea typeface="Calibri" pitchFamily="34" charset="-122"/>
                <a:cs typeface="Calibri" pitchFamily="34" charset="-120"/>
              </a:rPr>
              <a:t>Three beats, one underlying move — pulling back to name it.</a:t>
            </a:r>
            <a:endParaRPr lang="en-US" sz="1500" dirty="0"/>
          </a:p>
        </p:txBody>
      </p:sp>
      <p:sp>
        <p:nvSpPr>
          <p:cNvPr id="6" name="Text 4"/>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AAB3D6"/>
                </a:solidFill>
                <a:latin typeface="Calibri" pitchFamily="34" charset="0"/>
                <a:ea typeface="Calibri" pitchFamily="34" charset="-122"/>
                <a:cs typeface="Calibri" pitchFamily="34" charset="-120"/>
              </a:rPr>
              <a:t>MODULE 4 · SEARCH &amp; VERIFY</a:t>
            </a:r>
            <a:endParaRPr lang="en-US" sz="900" dirty="0"/>
          </a:p>
        </p:txBody>
      </p:sp>
      <p:sp>
        <p:nvSpPr>
          <p:cNvPr id="7" name="Text 5"/>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AAB3D6"/>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NAMING THE PATTERN</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The reframe — and the risk that compounds silently</a:t>
            </a:r>
            <a:endParaRPr lang="en-US" sz="2600" dirty="0"/>
          </a:p>
        </p:txBody>
      </p:sp>
      <p:sp>
        <p:nvSpPr>
          <p:cNvPr id="4" name="Shape 2"/>
          <p:cNvSpPr/>
          <p:nvPr/>
        </p:nvSpPr>
        <p:spPr>
          <a:xfrm>
            <a:off x="658368" y="1993392"/>
            <a:ext cx="310896" cy="310896"/>
          </a:xfrm>
          <a:prstGeom prst="ellipse">
            <a:avLst/>
          </a:prstGeom>
          <a:solidFill>
            <a:srgbClr val="001E62"/>
          </a:solidFill>
          <a:ln/>
        </p:spPr>
      </p:sp>
      <p:sp>
        <p:nvSpPr>
          <p:cNvPr id="5" name="Text 3"/>
          <p:cNvSpPr/>
          <p:nvPr/>
        </p:nvSpPr>
        <p:spPr>
          <a:xfrm>
            <a:off x="658368" y="199339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61288" y="192938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Using AI search well is primarily the work of verifying what it surfaces</a:t>
            </a:r>
            <a:endParaRPr lang="en-US" sz="1550" dirty="0"/>
          </a:p>
        </p:txBody>
      </p:sp>
      <p:sp>
        <p:nvSpPr>
          <p:cNvPr id="7" name="Text 5"/>
          <p:cNvSpPr/>
          <p:nvPr/>
        </p:nvSpPr>
        <p:spPr>
          <a:xfrm>
            <a:off x="1161288" y="225856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not the work of searching itself. The searching got easy. The checking is now the actual skill — and it's invisible if you don't know to look for it.</a:t>
            </a:r>
            <a:endParaRPr lang="en-US" sz="1250" dirty="0"/>
          </a:p>
        </p:txBody>
      </p:sp>
      <p:sp>
        <p:nvSpPr>
          <p:cNvPr id="8" name="Shape 6"/>
          <p:cNvSpPr/>
          <p:nvPr/>
        </p:nvSpPr>
        <p:spPr>
          <a:xfrm>
            <a:off x="658368" y="3044952"/>
            <a:ext cx="310896" cy="310896"/>
          </a:xfrm>
          <a:prstGeom prst="ellipse">
            <a:avLst/>
          </a:prstGeom>
          <a:solidFill>
            <a:srgbClr val="001E62"/>
          </a:solidFill>
          <a:ln/>
        </p:spPr>
      </p:sp>
      <p:sp>
        <p:nvSpPr>
          <p:cNvPr id="9" name="Text 7"/>
          <p:cNvSpPr/>
          <p:nvPr/>
        </p:nvSpPr>
        <p:spPr>
          <a:xfrm>
            <a:off x="658368" y="304495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61288" y="298094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The highest-stakes risk isn't any single wrong answer</a:t>
            </a:r>
            <a:endParaRPr lang="en-US" sz="1550" dirty="0"/>
          </a:p>
        </p:txBody>
      </p:sp>
      <p:sp>
        <p:nvSpPr>
          <p:cNvPr id="11" name="Text 9"/>
          <p:cNvSpPr/>
          <p:nvPr/>
        </p:nvSpPr>
        <p:spPr>
          <a:xfrm>
            <a:off x="1161288" y="331012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it's "structural blindness": over-relying on AI search trains you to stop looking anywhere it can't reach — paywalled sources, internal documents, anything too recent to be indexed.</a:t>
            </a:r>
            <a:endParaRPr lang="en-US" sz="1250" dirty="0"/>
          </a:p>
        </p:txBody>
      </p:sp>
      <p:sp>
        <p:nvSpPr>
          <p:cNvPr id="12" name="Shape 10"/>
          <p:cNvSpPr/>
          <p:nvPr/>
        </p:nvSpPr>
        <p:spPr>
          <a:xfrm>
            <a:off x="658368" y="4096512"/>
            <a:ext cx="310896" cy="310896"/>
          </a:xfrm>
          <a:prstGeom prst="ellipse">
            <a:avLst/>
          </a:prstGeom>
          <a:solidFill>
            <a:srgbClr val="001E62"/>
          </a:solidFill>
          <a:ln/>
        </p:spPr>
      </p:sp>
      <p:sp>
        <p:nvSpPr>
          <p:cNvPr id="13" name="Text 11"/>
          <p:cNvSpPr/>
          <p:nvPr/>
        </p:nvSpPr>
        <p:spPr>
          <a:xfrm>
            <a:off x="658368" y="4096512"/>
            <a:ext cx="310896" cy="310896"/>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61288" y="4032504"/>
            <a:ext cx="9966960" cy="365760"/>
          </a:xfrm>
          <a:prstGeom prst="rect">
            <a:avLst/>
          </a:prstGeom>
          <a:noFill/>
          <a:ln/>
        </p:spPr>
        <p:txBody>
          <a:bodyPr wrap="square" rtlCol="0" anchor="ctr"/>
          <a:lstStyle/>
          <a:p>
            <a:pPr indent="0" marL="0">
              <a:buNone/>
            </a:pPr>
            <a:r>
              <a:rPr lang="en-US" sz="1550" b="1" dirty="0">
                <a:solidFill>
                  <a:srgbClr val="201A1E"/>
                </a:solidFill>
                <a:latin typeface="Calibri" pitchFamily="34" charset="0"/>
                <a:ea typeface="Calibri" pitchFamily="34" charset="-122"/>
                <a:cs typeface="Calibri" pitchFamily="34" charset="-120"/>
              </a:rPr>
              <a:t>You stop knowing what you don't know</a:t>
            </a:r>
            <a:endParaRPr lang="en-US" sz="1550" dirty="0"/>
          </a:p>
        </p:txBody>
      </p:sp>
      <p:sp>
        <p:nvSpPr>
          <p:cNvPr id="15" name="Text 13"/>
          <p:cNvSpPr/>
          <p:nvPr/>
        </p:nvSpPr>
        <p:spPr>
          <a:xfrm>
            <a:off x="1161288" y="4361688"/>
            <a:ext cx="9966960" cy="685800"/>
          </a:xfrm>
          <a:prstGeom prst="rect">
            <a:avLst/>
          </a:prstGeom>
          <a:noFill/>
          <a:ln/>
        </p:spPr>
        <p:txBody>
          <a:bodyPr wrap="square" rtlCol="0" anchor="t"/>
          <a:lstStyle/>
          <a:p>
            <a:pPr indent="0" marL="0">
              <a:lnSpc>
                <a:spcPts val="1600"/>
              </a:lnSpc>
              <a:buNone/>
            </a:pPr>
            <a:r>
              <a:rPr lang="en-US" sz="1250" dirty="0">
                <a:solidFill>
                  <a:srgbClr val="6B6270"/>
                </a:solidFill>
                <a:latin typeface="Calibri" pitchFamily="34" charset="0"/>
                <a:ea typeface="Calibri" pitchFamily="34" charset="-122"/>
                <a:cs typeface="Calibri" pitchFamily="34" charset="-120"/>
              </a:rPr>
              <a:t>because the tool never shows you the shape of its own blind spot. That's worth carrying with you longer than any single fact from today.</a:t>
            </a:r>
            <a:endParaRPr lang="en-US" sz="1250" dirty="0"/>
          </a:p>
        </p:txBody>
      </p:sp>
      <p:sp>
        <p:nvSpPr>
          <p:cNvPr id="16" name="Text 14"/>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7" name="Text 15"/>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BRING IT HOME</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Where else does this show up?</a:t>
            </a:r>
            <a:endParaRPr lang="en-US" sz="2600" dirty="0"/>
          </a:p>
        </p:txBody>
      </p:sp>
      <p:sp>
        <p:nvSpPr>
          <p:cNvPr id="4" name="Shape 2"/>
          <p:cNvSpPr/>
          <p:nvPr/>
        </p:nvSpPr>
        <p:spPr>
          <a:xfrm>
            <a:off x="10527487" y="530352"/>
            <a:ext cx="1005840" cy="329184"/>
          </a:xfrm>
          <a:prstGeom prst="roundRect">
            <a:avLst>
              <a:gd name="adj" fmla="val 50000"/>
            </a:avLst>
          </a:prstGeom>
          <a:solidFill>
            <a:srgbClr val="FBEFF7"/>
          </a:solidFill>
          <a:ln/>
        </p:spPr>
      </p:sp>
      <p:sp>
        <p:nvSpPr>
          <p:cNvPr id="5" name="Text 3"/>
          <p:cNvSpPr/>
          <p:nvPr/>
        </p:nvSpPr>
        <p:spPr>
          <a:xfrm>
            <a:off x="10527487" y="530352"/>
            <a:ext cx="1005840" cy="329184"/>
          </a:xfrm>
          <a:prstGeom prst="rect">
            <a:avLst/>
          </a:prstGeom>
          <a:noFill/>
          <a:ln/>
        </p:spPr>
        <p:txBody>
          <a:bodyPr wrap="square" rtlCol="0" anchor="ctr"/>
          <a:lstStyle/>
          <a:p>
            <a:pPr algn="ctr" indent="0" marL="0">
              <a:buNone/>
            </a:pPr>
            <a:r>
              <a:rPr lang="en-US" sz="1100" b="1" spc="100" kern="0" dirty="0">
                <a:solidFill>
                  <a:srgbClr val="7C1C6B"/>
                </a:solidFill>
                <a:latin typeface="Calibri" pitchFamily="34" charset="0"/>
                <a:ea typeface="Calibri" pitchFamily="34" charset="-122"/>
                <a:cs typeface="Calibri" pitchFamily="34" charset="-120"/>
              </a:rPr>
              <a:t>5 MIN</a:t>
            </a:r>
            <a:endParaRPr lang="en-US" sz="1100" dirty="0"/>
          </a:p>
        </p:txBody>
      </p:sp>
      <p:sp>
        <p:nvSpPr>
          <p:cNvPr id="6" name="Shape 4"/>
          <p:cNvSpPr/>
          <p:nvPr/>
        </p:nvSpPr>
        <p:spPr>
          <a:xfrm>
            <a:off x="658368" y="1965960"/>
            <a:ext cx="10881360" cy="1234440"/>
          </a:xfrm>
          <a:prstGeom prst="roundRect">
            <a:avLst>
              <a:gd name="adj" fmla="val 8889"/>
            </a:avLst>
          </a:prstGeom>
          <a:solidFill>
            <a:srgbClr val="FBEFF7"/>
          </a:solidFill>
          <a:ln/>
        </p:spPr>
      </p:sp>
      <p:sp>
        <p:nvSpPr>
          <p:cNvPr id="7" name="Text 5"/>
          <p:cNvSpPr/>
          <p:nvPr/>
        </p:nvSpPr>
        <p:spPr>
          <a:xfrm>
            <a:off x="978408" y="2130552"/>
            <a:ext cx="10241280" cy="905256"/>
          </a:xfrm>
          <a:prstGeom prst="rect">
            <a:avLst/>
          </a:prstGeom>
          <a:noFill/>
          <a:ln/>
        </p:spPr>
        <p:txBody>
          <a:bodyPr wrap="square" rtlCol="0" anchor="ctr"/>
          <a:lstStyle/>
          <a:p>
            <a:pPr indent="0" marL="0">
              <a:lnSpc>
                <a:spcPts val="2000"/>
              </a:lnSpc>
              <a:buNone/>
            </a:pPr>
            <a:r>
              <a:rPr lang="en-US" sz="1500" dirty="0">
                <a:solidFill>
                  <a:srgbClr val="201A1E"/>
                </a:solidFill>
                <a:latin typeface="Calibri" pitchFamily="34" charset="0"/>
                <a:ea typeface="Calibri" pitchFamily="34" charset="-122"/>
                <a:cs typeface="Calibri" pitchFamily="34" charset="-120"/>
              </a:rPr>
              <a:t>Think of a time you (or someone you know) asked an AI tool a question and just trusted the answer — a health question, a product comparison, a "what does my lease say" question.</a:t>
            </a:r>
            <a:endParaRPr lang="en-US" sz="1500" dirty="0"/>
          </a:p>
        </p:txBody>
      </p:sp>
      <p:sp>
        <p:nvSpPr>
          <p:cNvPr id="8" name="Text 6"/>
          <p:cNvSpPr/>
          <p:nvPr/>
        </p:nvSpPr>
        <p:spPr>
          <a:xfrm>
            <a:off x="658368" y="3520440"/>
            <a:ext cx="7315200" cy="274320"/>
          </a:xfrm>
          <a:prstGeom prst="rect">
            <a:avLst/>
          </a:prstGeom>
          <a:noFill/>
          <a:ln/>
        </p:spPr>
        <p:txBody>
          <a:bodyPr wrap="square" rtlCol="0" anchor="ctr"/>
          <a:lstStyle/>
          <a:p>
            <a:pPr indent="0" marL="0">
              <a:buNone/>
            </a:pPr>
            <a:r>
              <a:rPr lang="en-US" sz="1050" b="1" spc="100" kern="0" dirty="0">
                <a:solidFill>
                  <a:srgbClr val="6B6270"/>
                </a:solidFill>
                <a:latin typeface="Calibri" pitchFamily="34" charset="0"/>
                <a:ea typeface="Calibri" pitchFamily="34" charset="-122"/>
                <a:cs typeface="Calibri" pitchFamily="34" charset="-120"/>
              </a:rPr>
              <a:t>QUESTIONS / CHECKS</a:t>
            </a:r>
            <a:endParaRPr lang="en-US" sz="1050" dirty="0"/>
          </a:p>
        </p:txBody>
      </p:sp>
      <p:sp>
        <p:nvSpPr>
          <p:cNvPr id="9" name="Text 7"/>
          <p:cNvSpPr/>
          <p:nvPr/>
        </p:nvSpPr>
        <p:spPr>
          <a:xfrm>
            <a:off x="658368" y="3867912"/>
            <a:ext cx="10424160" cy="384048"/>
          </a:xfrm>
          <a:prstGeom prst="rect">
            <a:avLst/>
          </a:prstGeom>
          <a:noFill/>
          <a:ln/>
        </p:spPr>
        <p:txBody>
          <a:bodyPr wrap="square" rtlCol="0" anchor="t"/>
          <a:lstStyle/>
          <a:p>
            <a:pPr indent="0" marL="0">
              <a:lnSpc>
                <a:spcPts val="1600"/>
              </a:lnSpc>
              <a:buNone/>
            </a:pPr>
            <a:r>
              <a:rPr lang="en-US" sz="1300" b="1" dirty="0">
                <a:solidFill>
                  <a:srgbClr val="A5228E"/>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Was that answer grounded in anything specific, or answered from memory? Could you tell?</a:t>
            </a:r>
            <a:endParaRPr lang="en-US" sz="1300" dirty="0"/>
          </a:p>
        </p:txBody>
      </p:sp>
      <p:sp>
        <p:nvSpPr>
          <p:cNvPr id="10" name="Text 8"/>
          <p:cNvSpPr/>
          <p:nvPr/>
        </p:nvSpPr>
        <p:spPr>
          <a:xfrm>
            <a:off x="658368" y="4288536"/>
            <a:ext cx="10424160" cy="384048"/>
          </a:xfrm>
          <a:prstGeom prst="rect">
            <a:avLst/>
          </a:prstGeom>
          <a:noFill/>
          <a:ln/>
        </p:spPr>
        <p:txBody>
          <a:bodyPr wrap="square" rtlCol="0" anchor="t"/>
          <a:lstStyle/>
          <a:p>
            <a:pPr indent="0" marL="0">
              <a:lnSpc>
                <a:spcPts val="1600"/>
              </a:lnSpc>
              <a:buNone/>
            </a:pPr>
            <a:r>
              <a:rPr lang="en-US" sz="1300" b="1" dirty="0">
                <a:solidFill>
                  <a:srgbClr val="A5228E"/>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If it had been wrong, what's the realistic chance you'd have caught it?</a:t>
            </a:r>
            <a:endParaRPr lang="en-US" sz="1300" dirty="0"/>
          </a:p>
        </p:txBody>
      </p:sp>
      <p:sp>
        <p:nvSpPr>
          <p:cNvPr id="11" name="Text 9"/>
          <p:cNvSpPr/>
          <p:nvPr/>
        </p:nvSpPr>
        <p:spPr>
          <a:xfrm>
            <a:off x="658368" y="4709160"/>
            <a:ext cx="10424160" cy="384048"/>
          </a:xfrm>
          <a:prstGeom prst="rect">
            <a:avLst/>
          </a:prstGeom>
          <a:noFill/>
          <a:ln/>
        </p:spPr>
        <p:txBody>
          <a:bodyPr wrap="square" rtlCol="0" anchor="t"/>
          <a:lstStyle/>
          <a:p>
            <a:pPr indent="0" marL="0">
              <a:lnSpc>
                <a:spcPts val="1600"/>
              </a:lnSpc>
              <a:buNone/>
            </a:pPr>
            <a:r>
              <a:rPr lang="en-US" sz="1300" b="1" dirty="0">
                <a:solidFill>
                  <a:srgbClr val="A5228E"/>
                </a:solidFill>
                <a:latin typeface="Calibri" pitchFamily="34" charset="0"/>
                <a:ea typeface="Calibri" pitchFamily="34" charset="-122"/>
                <a:cs typeface="Calibri" pitchFamily="34" charset="-120"/>
              </a:rPr>
              <a:t>—  </a:t>
            </a:r>
            <a:pPr indent="0" marL="0">
              <a:lnSpc>
                <a:spcPts val="1600"/>
              </a:lnSpc>
              <a:buNone/>
            </a:pPr>
            <a:r>
              <a:rPr lang="en-US" sz="1300" dirty="0">
                <a:solidFill>
                  <a:srgbClr val="201A1E"/>
                </a:solidFill>
                <a:latin typeface="Calibri" pitchFamily="34" charset="0"/>
                <a:ea typeface="Calibri" pitchFamily="34" charset="-122"/>
                <a:cs typeface="Calibri" pitchFamily="34" charset="-120"/>
              </a:rPr>
              <a:t>What's one place in your own life or work where you'd now actually ask for the verbatim quote?</a:t>
            </a:r>
            <a:endParaRPr lang="en-US" sz="1300" dirty="0"/>
          </a:p>
        </p:txBody>
      </p:sp>
      <p:sp>
        <p:nvSpPr>
          <p:cNvPr id="12" name="Text 10"/>
          <p:cNvSpPr/>
          <p:nvPr/>
        </p:nvSpPr>
        <p:spPr>
          <a:xfrm>
            <a:off x="658368" y="5989320"/>
            <a:ext cx="10424160" cy="457200"/>
          </a:xfrm>
          <a:prstGeom prst="rect">
            <a:avLst/>
          </a:prstGeom>
          <a:noFill/>
          <a:ln/>
        </p:spPr>
        <p:txBody>
          <a:bodyPr wrap="square" rtlCol="0" anchor="ctr"/>
          <a:lstStyle/>
          <a:p>
            <a:pPr indent="0" marL="0">
              <a:lnSpc>
                <a:spcPts val="1500"/>
              </a:lnSpc>
              <a:buNone/>
            </a:pPr>
            <a:r>
              <a:rPr lang="en-US" sz="1150" i="1" dirty="0">
                <a:solidFill>
                  <a:srgbClr val="6B6270"/>
                </a:solidFill>
                <a:latin typeface="Calibri" pitchFamily="34" charset="0"/>
                <a:ea typeface="Calibri" pitchFamily="34" charset="-122"/>
                <a:cs typeface="Calibri" pitchFamily="34" charset="-120"/>
              </a:rPr>
              <a:t>2-3 min with a partner, then a few shared out loud.</a:t>
            </a:r>
            <a:endParaRPr lang="en-US" sz="1150" dirty="0"/>
          </a:p>
        </p:txBody>
      </p:sp>
      <p:sp>
        <p:nvSpPr>
          <p:cNvPr id="13" name="Text 11"/>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14" name="Text 12"/>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502920"/>
            <a:ext cx="9144000" cy="365760"/>
          </a:xfrm>
          <a:prstGeom prst="rect">
            <a:avLst/>
          </a:prstGeom>
          <a:noFill/>
          <a:ln/>
        </p:spPr>
        <p:txBody>
          <a:bodyPr wrap="square" rtlCol="0" anchor="ctr"/>
          <a:lstStyle/>
          <a:p>
            <a:pPr indent="0" marL="0">
              <a:buNone/>
            </a:pPr>
            <a:r>
              <a:rPr lang="en-US" sz="1250" b="1" spc="150" kern="0" dirty="0">
                <a:solidFill>
                  <a:srgbClr val="A5228E"/>
                </a:solidFill>
                <a:latin typeface="Calibri" pitchFamily="34" charset="0"/>
                <a:ea typeface="Calibri" pitchFamily="34" charset="-122"/>
                <a:cs typeface="Calibri" pitchFamily="34" charset="-120"/>
              </a:rPr>
              <a:t>WRAP-UP</a:t>
            </a:r>
            <a:endParaRPr lang="en-US" sz="1250" dirty="0"/>
          </a:p>
        </p:txBody>
      </p:sp>
      <p:sp>
        <p:nvSpPr>
          <p:cNvPr id="3" name="Text 1"/>
          <p:cNvSpPr/>
          <p:nvPr/>
        </p:nvSpPr>
        <p:spPr>
          <a:xfrm>
            <a:off x="658368" y="868680"/>
            <a:ext cx="10881360" cy="868680"/>
          </a:xfrm>
          <a:prstGeom prst="rect">
            <a:avLst/>
          </a:prstGeom>
          <a:noFill/>
          <a:ln/>
        </p:spPr>
        <p:txBody>
          <a:bodyPr wrap="square" rtlCol="0" anchor="ctr"/>
          <a:lstStyle/>
          <a:p>
            <a:pPr indent="0" marL="0">
              <a:lnSpc>
                <a:spcPts val="3000"/>
              </a:lnSpc>
              <a:buNone/>
            </a:pPr>
            <a:r>
              <a:rPr lang="en-US" sz="2600" b="1" dirty="0">
                <a:solidFill>
                  <a:srgbClr val="201A1E"/>
                </a:solidFill>
                <a:latin typeface="Calibri" pitchFamily="34" charset="0"/>
                <a:ea typeface="Calibri" pitchFamily="34" charset="-122"/>
                <a:cs typeface="Calibri" pitchFamily="34" charset="-120"/>
              </a:rPr>
              <a:t>Take this with you — one line per beat</a:t>
            </a:r>
            <a:endParaRPr lang="en-US" sz="2600" dirty="0"/>
          </a:p>
        </p:txBody>
      </p:sp>
      <p:sp>
        <p:nvSpPr>
          <p:cNvPr id="4" name="Shape 2"/>
          <p:cNvSpPr/>
          <p:nvPr/>
        </p:nvSpPr>
        <p:spPr>
          <a:xfrm>
            <a:off x="658368" y="2011680"/>
            <a:ext cx="3381146" cy="3200400"/>
          </a:xfrm>
          <a:prstGeom prst="roundRect">
            <a:avLst>
              <a:gd name="adj" fmla="val 2857"/>
            </a:avLst>
          </a:prstGeom>
          <a:solidFill>
            <a:srgbClr val="FBF8FA"/>
          </a:solidFill>
          <a:ln w="12700">
            <a:solidFill>
              <a:srgbClr val="ECE6EA"/>
            </a:solidFill>
            <a:prstDash val="solid"/>
          </a:ln>
        </p:spPr>
      </p:sp>
      <p:sp>
        <p:nvSpPr>
          <p:cNvPr id="5" name="Shape 3"/>
          <p:cNvSpPr/>
          <p:nvPr/>
        </p:nvSpPr>
        <p:spPr>
          <a:xfrm>
            <a:off x="886968" y="2286000"/>
            <a:ext cx="2923946" cy="384048"/>
          </a:xfrm>
          <a:prstGeom prst="roundRect">
            <a:avLst>
              <a:gd name="adj" fmla="val 50000"/>
            </a:avLst>
          </a:prstGeom>
          <a:solidFill>
            <a:srgbClr val="001E62"/>
          </a:solidFill>
          <a:ln/>
        </p:spPr>
      </p:sp>
      <p:sp>
        <p:nvSpPr>
          <p:cNvPr id="6" name="Text 4"/>
          <p:cNvSpPr/>
          <p:nvPr/>
        </p:nvSpPr>
        <p:spPr>
          <a:xfrm>
            <a:off x="886968" y="2286000"/>
            <a:ext cx="2923946" cy="384048"/>
          </a:xfrm>
          <a:prstGeom prst="rect">
            <a:avLst/>
          </a:prstGeom>
          <a:noFill/>
          <a:ln/>
        </p:spPr>
        <p:txBody>
          <a:bodyPr wrap="square" rtlCol="0" anchor="ctr"/>
          <a:lstStyle/>
          <a:p>
            <a:pPr algn="ctr" indent="0" marL="0">
              <a:buNone/>
            </a:pPr>
            <a:r>
              <a:rPr lang="en-US" sz="1250" b="1" spc="30" kern="0" dirty="0">
                <a:solidFill>
                  <a:srgbClr val="FFFFFF"/>
                </a:solidFill>
                <a:latin typeface="Calibri" pitchFamily="34" charset="0"/>
                <a:ea typeface="Calibri" pitchFamily="34" charset="-122"/>
                <a:cs typeface="Calibri" pitchFamily="34" charset="-120"/>
              </a:rPr>
              <a:t>GROUND IT</a:t>
            </a:r>
            <a:endParaRPr lang="en-US" sz="1250" dirty="0"/>
          </a:p>
        </p:txBody>
      </p:sp>
      <p:sp>
        <p:nvSpPr>
          <p:cNvPr id="7" name="Text 5"/>
          <p:cNvSpPr/>
          <p:nvPr/>
        </p:nvSpPr>
        <p:spPr>
          <a:xfrm>
            <a:off x="886968" y="2880360"/>
            <a:ext cx="2923946" cy="777240"/>
          </a:xfrm>
          <a:prstGeom prst="rect">
            <a:avLst/>
          </a:prstGeom>
          <a:noFill/>
          <a:ln/>
        </p:spPr>
        <p:txBody>
          <a:bodyPr wrap="square" rtlCol="0" anchor="t"/>
          <a:lstStyle/>
          <a:p>
            <a:pPr indent="0" marL="0">
              <a:lnSpc>
                <a:spcPts val="1500"/>
              </a:lnSpc>
              <a:buNone/>
            </a:pPr>
            <a:r>
              <a:rPr lang="en-US" sz="1150" b="1" dirty="0">
                <a:solidFill>
                  <a:srgbClr val="001E62"/>
                </a:solidFill>
                <a:latin typeface="Calibri" pitchFamily="34" charset="0"/>
                <a:ea typeface="Calibri" pitchFamily="34" charset="-122"/>
                <a:cs typeface="Calibri" pitchFamily="34" charset="-120"/>
              </a:rPr>
              <a:t>•  </a:t>
            </a:r>
            <a:pPr indent="0" marL="0">
              <a:lnSpc>
                <a:spcPts val="1500"/>
              </a:lnSpc>
              <a:buNone/>
            </a:pPr>
            <a:r>
              <a:rPr lang="en-US" sz="1150" dirty="0">
                <a:solidFill>
                  <a:srgbClr val="201A1E"/>
                </a:solidFill>
                <a:latin typeface="Calibri" pitchFamily="34" charset="0"/>
                <a:ea typeface="Calibri" pitchFamily="34" charset="-122"/>
                <a:cs typeface="Calibri" pitchFamily="34" charset="-120"/>
              </a:rPr>
              <a:t>"Only answer from the documents I've given you. If it's not in them, say so."</a:t>
            </a:r>
            <a:endParaRPr lang="en-US" sz="1150" dirty="0"/>
          </a:p>
        </p:txBody>
      </p:sp>
      <p:sp>
        <p:nvSpPr>
          <p:cNvPr id="8" name="Text 6"/>
          <p:cNvSpPr/>
          <p:nvPr/>
        </p:nvSpPr>
        <p:spPr>
          <a:xfrm>
            <a:off x="886968" y="3657600"/>
            <a:ext cx="2923946" cy="777240"/>
          </a:xfrm>
          <a:prstGeom prst="rect">
            <a:avLst/>
          </a:prstGeom>
          <a:noFill/>
          <a:ln/>
        </p:spPr>
        <p:txBody>
          <a:bodyPr wrap="square" rtlCol="0" anchor="t"/>
          <a:lstStyle/>
          <a:p>
            <a:pPr indent="0" marL="0">
              <a:lnSpc>
                <a:spcPts val="1500"/>
              </a:lnSpc>
              <a:buNone/>
            </a:pPr>
            <a:r>
              <a:rPr lang="en-US" sz="1150" b="1" dirty="0">
                <a:solidFill>
                  <a:srgbClr val="001E62"/>
                </a:solidFill>
                <a:latin typeface="Calibri" pitchFamily="34" charset="0"/>
                <a:ea typeface="Calibri" pitchFamily="34" charset="-122"/>
                <a:cs typeface="Calibri" pitchFamily="34" charset="-120"/>
              </a:rPr>
              <a:t>•  </a:t>
            </a:r>
            <a:pPr indent="0" marL="0">
              <a:lnSpc>
                <a:spcPts val="1500"/>
              </a:lnSpc>
              <a:buNone/>
            </a:pPr>
            <a:r>
              <a:rPr lang="en-US" sz="1150" dirty="0">
                <a:solidFill>
                  <a:srgbClr val="201A1E"/>
                </a:solidFill>
                <a:latin typeface="Calibri" pitchFamily="34" charset="0"/>
                <a:ea typeface="Calibri" pitchFamily="34" charset="-122"/>
                <a:cs typeface="Calibri" pitchFamily="34" charset="-120"/>
              </a:rPr>
              <a:t>Ask which document each fact came from.</a:t>
            </a:r>
            <a:endParaRPr lang="en-US" sz="1150" dirty="0"/>
          </a:p>
        </p:txBody>
      </p:sp>
      <p:sp>
        <p:nvSpPr>
          <p:cNvPr id="9" name="Shape 7"/>
          <p:cNvSpPr/>
          <p:nvPr/>
        </p:nvSpPr>
        <p:spPr>
          <a:xfrm>
            <a:off x="4405274" y="2011680"/>
            <a:ext cx="3381146" cy="3200400"/>
          </a:xfrm>
          <a:prstGeom prst="roundRect">
            <a:avLst>
              <a:gd name="adj" fmla="val 2857"/>
            </a:avLst>
          </a:prstGeom>
          <a:solidFill>
            <a:srgbClr val="FBF8FA"/>
          </a:solidFill>
          <a:ln w="12700">
            <a:solidFill>
              <a:srgbClr val="ECE6EA"/>
            </a:solidFill>
            <a:prstDash val="solid"/>
          </a:ln>
        </p:spPr>
      </p:sp>
      <p:sp>
        <p:nvSpPr>
          <p:cNvPr id="10" name="Shape 8"/>
          <p:cNvSpPr/>
          <p:nvPr/>
        </p:nvSpPr>
        <p:spPr>
          <a:xfrm>
            <a:off x="4633874" y="2286000"/>
            <a:ext cx="2923946" cy="384048"/>
          </a:xfrm>
          <a:prstGeom prst="roundRect">
            <a:avLst>
              <a:gd name="adj" fmla="val 50000"/>
            </a:avLst>
          </a:prstGeom>
          <a:solidFill>
            <a:srgbClr val="A5228E"/>
          </a:solidFill>
          <a:ln/>
        </p:spPr>
      </p:sp>
      <p:sp>
        <p:nvSpPr>
          <p:cNvPr id="11" name="Text 9"/>
          <p:cNvSpPr/>
          <p:nvPr/>
        </p:nvSpPr>
        <p:spPr>
          <a:xfrm>
            <a:off x="4633874" y="2286000"/>
            <a:ext cx="2923946" cy="384048"/>
          </a:xfrm>
          <a:prstGeom prst="rect">
            <a:avLst/>
          </a:prstGeom>
          <a:noFill/>
          <a:ln/>
        </p:spPr>
        <p:txBody>
          <a:bodyPr wrap="square" rtlCol="0" anchor="ctr"/>
          <a:lstStyle/>
          <a:p>
            <a:pPr algn="ctr" indent="0" marL="0">
              <a:buNone/>
            </a:pPr>
            <a:r>
              <a:rPr lang="en-US" sz="1250" b="1" spc="30" kern="0" dirty="0">
                <a:solidFill>
                  <a:srgbClr val="FFFFFF"/>
                </a:solidFill>
                <a:latin typeface="Calibri" pitchFamily="34" charset="0"/>
                <a:ea typeface="Calibri" pitchFamily="34" charset="-122"/>
                <a:cs typeface="Calibri" pitchFamily="34" charset="-120"/>
              </a:rPr>
              <a:t>EXTRACT &amp; CHECK</a:t>
            </a:r>
            <a:endParaRPr lang="en-US" sz="1250" dirty="0"/>
          </a:p>
        </p:txBody>
      </p:sp>
      <p:sp>
        <p:nvSpPr>
          <p:cNvPr id="12" name="Text 10"/>
          <p:cNvSpPr/>
          <p:nvPr/>
        </p:nvSpPr>
        <p:spPr>
          <a:xfrm>
            <a:off x="4633874" y="2880360"/>
            <a:ext cx="2923946" cy="777240"/>
          </a:xfrm>
          <a:prstGeom prst="rect">
            <a:avLst/>
          </a:prstGeom>
          <a:noFill/>
          <a:ln/>
        </p:spPr>
        <p:txBody>
          <a:bodyPr wrap="square" rtlCol="0" anchor="t"/>
          <a:lstStyle/>
          <a:p>
            <a:pPr indent="0" marL="0">
              <a:lnSpc>
                <a:spcPts val="1500"/>
              </a:lnSpc>
              <a:buNone/>
            </a:pPr>
            <a:r>
              <a:rPr lang="en-US" sz="1150" b="1" dirty="0">
                <a:solidFill>
                  <a:srgbClr val="A5228E"/>
                </a:solidFill>
                <a:latin typeface="Calibri" pitchFamily="34" charset="0"/>
                <a:ea typeface="Calibri" pitchFamily="34" charset="-122"/>
                <a:cs typeface="Calibri" pitchFamily="34" charset="-120"/>
              </a:rPr>
              <a:t>•  </a:t>
            </a:r>
            <a:pPr indent="0" marL="0">
              <a:lnSpc>
                <a:spcPts val="1500"/>
              </a:lnSpc>
              <a:buNone/>
            </a:pPr>
            <a:r>
              <a:rPr lang="en-US" sz="1150" dirty="0">
                <a:solidFill>
                  <a:srgbClr val="201A1E"/>
                </a:solidFill>
                <a:latin typeface="Calibri" pitchFamily="34" charset="0"/>
                <a:ea typeface="Calibri" pitchFamily="34" charset="-122"/>
                <a:cs typeface="Calibri" pitchFamily="34" charset="-120"/>
              </a:rPr>
              <a:t>"Give me the exact quote you're relying on, and separately, your interpretation of it."</a:t>
            </a:r>
            <a:endParaRPr lang="en-US" sz="1150" dirty="0"/>
          </a:p>
        </p:txBody>
      </p:sp>
      <p:sp>
        <p:nvSpPr>
          <p:cNvPr id="13" name="Text 11"/>
          <p:cNvSpPr/>
          <p:nvPr/>
        </p:nvSpPr>
        <p:spPr>
          <a:xfrm>
            <a:off x="4633874" y="3657600"/>
            <a:ext cx="2923946" cy="777240"/>
          </a:xfrm>
          <a:prstGeom prst="rect">
            <a:avLst/>
          </a:prstGeom>
          <a:noFill/>
          <a:ln/>
        </p:spPr>
        <p:txBody>
          <a:bodyPr wrap="square" rtlCol="0" anchor="t"/>
          <a:lstStyle/>
          <a:p>
            <a:pPr indent="0" marL="0">
              <a:lnSpc>
                <a:spcPts val="1500"/>
              </a:lnSpc>
              <a:buNone/>
            </a:pPr>
            <a:r>
              <a:rPr lang="en-US" sz="1150" b="1" dirty="0">
                <a:solidFill>
                  <a:srgbClr val="A5228E"/>
                </a:solidFill>
                <a:latin typeface="Calibri" pitchFamily="34" charset="0"/>
                <a:ea typeface="Calibri" pitchFamily="34" charset="-122"/>
                <a:cs typeface="Calibri" pitchFamily="34" charset="-120"/>
              </a:rPr>
              <a:t>•  </a:t>
            </a:r>
            <a:pPr indent="0" marL="0">
              <a:lnSpc>
                <a:spcPts val="1500"/>
              </a:lnSpc>
              <a:buNone/>
            </a:pPr>
            <a:r>
              <a:rPr lang="en-US" sz="1150" dirty="0">
                <a:solidFill>
                  <a:srgbClr val="201A1E"/>
                </a:solidFill>
                <a:latin typeface="Calibri" pitchFamily="34" charset="0"/>
                <a:ea typeface="Calibri" pitchFamily="34" charset="-122"/>
                <a:cs typeface="Calibri" pitchFamily="34" charset="-120"/>
              </a:rPr>
              <a:t>Check claim-by-claim, not the whole document at once.</a:t>
            </a:r>
            <a:endParaRPr lang="en-US" sz="1150" dirty="0"/>
          </a:p>
        </p:txBody>
      </p:sp>
      <p:sp>
        <p:nvSpPr>
          <p:cNvPr id="14" name="Shape 12"/>
          <p:cNvSpPr/>
          <p:nvPr/>
        </p:nvSpPr>
        <p:spPr>
          <a:xfrm>
            <a:off x="8152181" y="2011680"/>
            <a:ext cx="3381146" cy="3200400"/>
          </a:xfrm>
          <a:prstGeom prst="roundRect">
            <a:avLst>
              <a:gd name="adj" fmla="val 2857"/>
            </a:avLst>
          </a:prstGeom>
          <a:solidFill>
            <a:srgbClr val="FBF8FA"/>
          </a:solidFill>
          <a:ln w="12700">
            <a:solidFill>
              <a:srgbClr val="ECE6EA"/>
            </a:solidFill>
            <a:prstDash val="solid"/>
          </a:ln>
        </p:spPr>
      </p:sp>
      <p:sp>
        <p:nvSpPr>
          <p:cNvPr id="15" name="Shape 13"/>
          <p:cNvSpPr/>
          <p:nvPr/>
        </p:nvSpPr>
        <p:spPr>
          <a:xfrm>
            <a:off x="8380781" y="2286000"/>
            <a:ext cx="2923946" cy="384048"/>
          </a:xfrm>
          <a:prstGeom prst="roundRect">
            <a:avLst>
              <a:gd name="adj" fmla="val 50000"/>
            </a:avLst>
          </a:prstGeom>
          <a:solidFill>
            <a:srgbClr val="9A6400"/>
          </a:solidFill>
          <a:ln/>
        </p:spPr>
      </p:sp>
      <p:sp>
        <p:nvSpPr>
          <p:cNvPr id="16" name="Text 14"/>
          <p:cNvSpPr/>
          <p:nvPr/>
        </p:nvSpPr>
        <p:spPr>
          <a:xfrm>
            <a:off x="8380781" y="2286000"/>
            <a:ext cx="2923946" cy="384048"/>
          </a:xfrm>
          <a:prstGeom prst="rect">
            <a:avLst/>
          </a:prstGeom>
          <a:noFill/>
          <a:ln/>
        </p:spPr>
        <p:txBody>
          <a:bodyPr wrap="square" rtlCol="0" anchor="ctr"/>
          <a:lstStyle/>
          <a:p>
            <a:pPr algn="ctr" indent="0" marL="0">
              <a:buNone/>
            </a:pPr>
            <a:r>
              <a:rPr lang="en-US" sz="1250" b="1" spc="30" kern="0" dirty="0">
                <a:solidFill>
                  <a:srgbClr val="FFFFFF"/>
                </a:solidFill>
                <a:latin typeface="Calibri" pitchFamily="34" charset="0"/>
                <a:ea typeface="Calibri" pitchFamily="34" charset="-122"/>
                <a:cs typeface="Calibri" pitchFamily="34" charset="-120"/>
              </a:rPr>
              <a:t>SUMMARIZE &amp; VERIFY</a:t>
            </a:r>
            <a:endParaRPr lang="en-US" sz="1250" dirty="0"/>
          </a:p>
        </p:txBody>
      </p:sp>
      <p:sp>
        <p:nvSpPr>
          <p:cNvPr id="17" name="Text 15"/>
          <p:cNvSpPr/>
          <p:nvPr/>
        </p:nvSpPr>
        <p:spPr>
          <a:xfrm>
            <a:off x="8380781" y="2880360"/>
            <a:ext cx="2923946" cy="777240"/>
          </a:xfrm>
          <a:prstGeom prst="rect">
            <a:avLst/>
          </a:prstGeom>
          <a:noFill/>
          <a:ln/>
        </p:spPr>
        <p:txBody>
          <a:bodyPr wrap="square" rtlCol="0" anchor="t"/>
          <a:lstStyle/>
          <a:p>
            <a:pPr indent="0" marL="0">
              <a:lnSpc>
                <a:spcPts val="1500"/>
              </a:lnSpc>
              <a:buNone/>
            </a:pPr>
            <a:r>
              <a:rPr lang="en-US" sz="1150" b="1" dirty="0">
                <a:solidFill>
                  <a:srgbClr val="9A6400"/>
                </a:solidFill>
                <a:latin typeface="Calibri" pitchFamily="34" charset="0"/>
                <a:ea typeface="Calibri" pitchFamily="34" charset="-122"/>
                <a:cs typeface="Calibri" pitchFamily="34" charset="-120"/>
              </a:rPr>
              <a:t>•  </a:t>
            </a:r>
            <a:pPr indent="0" marL="0">
              <a:lnSpc>
                <a:spcPts val="1500"/>
              </a:lnSpc>
              <a:buNone/>
            </a:pPr>
            <a:r>
              <a:rPr lang="en-US" sz="1150" dirty="0">
                <a:solidFill>
                  <a:srgbClr val="201A1E"/>
                </a:solidFill>
                <a:latin typeface="Calibri" pitchFamily="34" charset="0"/>
                <a:ea typeface="Calibri" pitchFamily="34" charset="-122"/>
                <a:cs typeface="Calibri" pitchFamily="34" charset="-120"/>
              </a:rPr>
              <a:t>"Which parts of that summary can you trace to a specific passage? Which can't?"</a:t>
            </a:r>
            <a:endParaRPr lang="en-US" sz="1150" dirty="0"/>
          </a:p>
        </p:txBody>
      </p:sp>
      <p:sp>
        <p:nvSpPr>
          <p:cNvPr id="18" name="Text 16"/>
          <p:cNvSpPr/>
          <p:nvPr/>
        </p:nvSpPr>
        <p:spPr>
          <a:xfrm>
            <a:off x="8380781" y="3657600"/>
            <a:ext cx="2923946" cy="777240"/>
          </a:xfrm>
          <a:prstGeom prst="rect">
            <a:avLst/>
          </a:prstGeom>
          <a:noFill/>
          <a:ln/>
        </p:spPr>
        <p:txBody>
          <a:bodyPr wrap="square" rtlCol="0" anchor="t"/>
          <a:lstStyle/>
          <a:p>
            <a:pPr indent="0" marL="0">
              <a:lnSpc>
                <a:spcPts val="1500"/>
              </a:lnSpc>
              <a:buNone/>
            </a:pPr>
            <a:r>
              <a:rPr lang="en-US" sz="1150" b="1" dirty="0">
                <a:solidFill>
                  <a:srgbClr val="9A6400"/>
                </a:solidFill>
                <a:latin typeface="Calibri" pitchFamily="34" charset="0"/>
                <a:ea typeface="Calibri" pitchFamily="34" charset="-122"/>
                <a:cs typeface="Calibri" pitchFamily="34" charset="-120"/>
              </a:rPr>
              <a:t>•  </a:t>
            </a:r>
            <a:pPr indent="0" marL="0">
              <a:lnSpc>
                <a:spcPts val="1500"/>
              </a:lnSpc>
              <a:buNone/>
            </a:pPr>
            <a:r>
              <a:rPr lang="en-US" sz="1150" dirty="0">
                <a:solidFill>
                  <a:srgbClr val="201A1E"/>
                </a:solidFill>
                <a:latin typeface="Calibri" pitchFamily="34" charset="0"/>
                <a:ea typeface="Calibri" pitchFamily="34" charset="-122"/>
                <a:cs typeface="Calibri" pitchFamily="34" charset="-120"/>
              </a:rPr>
              <a:t>Re-ask with different wording as a second check.</a:t>
            </a:r>
            <a:endParaRPr lang="en-US" sz="1150" dirty="0"/>
          </a:p>
        </p:txBody>
      </p:sp>
      <p:sp>
        <p:nvSpPr>
          <p:cNvPr id="19" name="Text 17"/>
          <p:cNvSpPr/>
          <p:nvPr/>
        </p:nvSpPr>
        <p:spPr>
          <a:xfrm>
            <a:off x="658368" y="5440680"/>
            <a:ext cx="10424160" cy="457200"/>
          </a:xfrm>
          <a:prstGeom prst="rect">
            <a:avLst/>
          </a:prstGeom>
          <a:noFill/>
          <a:ln/>
        </p:spPr>
        <p:txBody>
          <a:bodyPr wrap="square" rtlCol="0" anchor="ctr"/>
          <a:lstStyle/>
          <a:p>
            <a:pPr indent="0" marL="0">
              <a:buNone/>
            </a:pPr>
            <a:r>
              <a:rPr lang="en-US" sz="1200" i="1" dirty="0">
                <a:solidFill>
                  <a:srgbClr val="6B6270"/>
                </a:solidFill>
                <a:latin typeface="Calibri" pitchFamily="34" charset="0"/>
                <a:ea typeface="Calibri" pitchFamily="34" charset="-122"/>
                <a:cs typeface="Calibri" pitchFamily="34" charset="-120"/>
              </a:rPr>
              <a:t>Three prompt skeletons — one per beat. The Lab Guide has the full versions for later reference.</a:t>
            </a:r>
            <a:endParaRPr lang="en-US" sz="1200" dirty="0"/>
          </a:p>
        </p:txBody>
      </p:sp>
      <p:sp>
        <p:nvSpPr>
          <p:cNvPr id="20" name="Text 18"/>
          <p:cNvSpPr/>
          <p:nvPr/>
        </p:nvSpPr>
        <p:spPr>
          <a:xfrm>
            <a:off x="658368" y="6400800"/>
            <a:ext cx="6400800" cy="274320"/>
          </a:xfrm>
          <a:prstGeom prst="rect">
            <a:avLst/>
          </a:prstGeom>
          <a:noFill/>
          <a:ln/>
        </p:spPr>
        <p:txBody>
          <a:bodyPr wrap="square" rtlCol="0" anchor="ctr"/>
          <a:lstStyle/>
          <a:p>
            <a:pPr algn="l" indent="0" marL="0">
              <a:buNone/>
            </a:pPr>
            <a:r>
              <a:rPr lang="en-US" sz="900" dirty="0">
                <a:solidFill>
                  <a:srgbClr val="6B6270"/>
                </a:solidFill>
                <a:latin typeface="Calibri" pitchFamily="34" charset="0"/>
                <a:ea typeface="Calibri" pitchFamily="34" charset="-122"/>
                <a:cs typeface="Calibri" pitchFamily="34" charset="-120"/>
              </a:rPr>
              <a:t>MODULE 4 · SEARCH &amp; VERIFY</a:t>
            </a:r>
            <a:endParaRPr lang="en-US" sz="900" dirty="0"/>
          </a:p>
        </p:txBody>
      </p:sp>
      <p:sp>
        <p:nvSpPr>
          <p:cNvPr id="21" name="Text 19"/>
          <p:cNvSpPr/>
          <p:nvPr/>
        </p:nvSpPr>
        <p:spPr>
          <a:xfrm>
            <a:off x="10618927" y="6400800"/>
            <a:ext cx="914400" cy="274320"/>
          </a:xfrm>
          <a:prstGeom prst="rect">
            <a:avLst/>
          </a:prstGeom>
          <a:noFill/>
          <a:ln/>
        </p:spPr>
        <p:txBody>
          <a:bodyPr wrap="square" rtlCol="0" anchor="ctr"/>
          <a:lstStyle/>
          <a:p>
            <a:pPr algn="r" indent="0" marL="0">
              <a:buNone/>
            </a:pPr>
            <a:r>
              <a:rPr lang="en-US" sz="900" dirty="0">
                <a:solidFill>
                  <a:srgbClr val="6B6270"/>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1E62"/>
        </a:solidFill>
      </p:bgPr>
    </p:bg>
    <p:spTree>
      <p:nvGrpSpPr>
        <p:cNvPr id="1" name=""/>
        <p:cNvGrpSpPr/>
        <p:nvPr/>
      </p:nvGrpSpPr>
      <p:grpSpPr>
        <a:xfrm>
          <a:off x="0" y="0"/>
          <a:ext cx="0" cy="0"/>
          <a:chOff x="0" y="0"/>
          <a:chExt cx="0" cy="0"/>
        </a:xfrm>
      </p:grpSpPr>
      <p:sp>
        <p:nvSpPr>
          <p:cNvPr id="2" name="Shape 0"/>
          <p:cNvSpPr/>
          <p:nvPr/>
        </p:nvSpPr>
        <p:spPr>
          <a:xfrm>
            <a:off x="9265615" y="4114800"/>
            <a:ext cx="4937760" cy="4937760"/>
          </a:xfrm>
          <a:prstGeom prst="ellipse">
            <a:avLst/>
          </a:prstGeom>
          <a:solidFill>
            <a:srgbClr val="001A54"/>
          </a:solidFill>
          <a:ln/>
        </p:spPr>
      </p:sp>
      <p:sp>
        <p:nvSpPr>
          <p:cNvPr id="3" name="Text 1"/>
          <p:cNvSpPr/>
          <p:nvPr/>
        </p:nvSpPr>
        <p:spPr>
          <a:xfrm>
            <a:off x="658368" y="2377440"/>
            <a:ext cx="9144000" cy="822960"/>
          </a:xfrm>
          <a:prstGeom prst="rect">
            <a:avLst/>
          </a:prstGeom>
          <a:noFill/>
          <a:ln/>
        </p:spPr>
        <p:txBody>
          <a:bodyPr wrap="square"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Module 4 complete</a:t>
            </a:r>
            <a:endParaRPr lang="en-US" sz="3000" dirty="0"/>
          </a:p>
        </p:txBody>
      </p:sp>
      <p:sp>
        <p:nvSpPr>
          <p:cNvPr id="4" name="Text 2"/>
          <p:cNvSpPr/>
          <p:nvPr/>
        </p:nvSpPr>
        <p:spPr>
          <a:xfrm>
            <a:off x="658368" y="3291840"/>
            <a:ext cx="9144000" cy="1005840"/>
          </a:xfrm>
          <a:prstGeom prst="rect">
            <a:avLst/>
          </a:prstGeom>
          <a:noFill/>
          <a:ln/>
        </p:spPr>
        <p:txBody>
          <a:bodyPr wrap="square" rtlCol="0" anchor="ctr"/>
          <a:lstStyle/>
          <a:p>
            <a:pPr indent="0" marL="0">
              <a:lnSpc>
                <a:spcPts val="2200"/>
              </a:lnSpc>
              <a:buNone/>
            </a:pPr>
            <a:r>
              <a:rPr lang="en-US" sz="1700" i="1" dirty="0">
                <a:solidFill>
                  <a:srgbClr val="DCE2F4"/>
                </a:solidFill>
                <a:latin typeface="Calibri" pitchFamily="34" charset="0"/>
                <a:ea typeface="Calibri" pitchFamily="34" charset="-122"/>
                <a:cs typeface="Calibri" pitchFamily="34" charset="-120"/>
              </a:rPr>
              <a:t>“Four in favor, one opposed. The revised proposal advances to the full council with a recommendation to approve.” — the record, once someone actually checked it.</a:t>
            </a:r>
            <a:endParaRPr lang="en-US" sz="1700" dirty="0"/>
          </a:p>
        </p:txBody>
      </p:sp>
      <p:sp>
        <p:nvSpPr>
          <p:cNvPr id="5" name="Text 3"/>
          <p:cNvSpPr/>
          <p:nvPr/>
        </p:nvSpPr>
        <p:spPr>
          <a:xfrm>
            <a:off x="658368" y="4160520"/>
            <a:ext cx="9144000" cy="365760"/>
          </a:xfrm>
          <a:prstGeom prst="rect">
            <a:avLst/>
          </a:prstGeom>
          <a:noFill/>
          <a:ln/>
        </p:spPr>
        <p:txBody>
          <a:bodyPr wrap="square" rtlCol="0" anchor="ctr"/>
          <a:lstStyle/>
          <a:p>
            <a:pPr indent="0" marL="0">
              <a:buNone/>
            </a:pPr>
            <a:r>
              <a:rPr lang="en-US" sz="1300" dirty="0">
                <a:solidFill>
                  <a:srgbClr val="9BA6D4"/>
                </a:solidFill>
                <a:latin typeface="Calibri" pitchFamily="34" charset="0"/>
                <a:ea typeface="Calibri" pitchFamily="34" charset="-122"/>
                <a:cs typeface="Calibri" pitchFamily="34" charset="-120"/>
              </a:rPr>
              <a:t>Chicago Tech Circle</a:t>
            </a:r>
            <a:endParaRPr lang="en-US" sz="1300" dirty="0"/>
          </a:p>
        </p:txBody>
      </p:sp>
      <p:sp>
        <p:nvSpPr>
          <p:cNvPr id="6" name="Text 4"/>
          <p:cNvSpPr/>
          <p:nvPr/>
        </p:nvSpPr>
        <p:spPr>
          <a:xfrm>
            <a:off x="658368" y="6172200"/>
            <a:ext cx="4572000" cy="320040"/>
          </a:xfrm>
          <a:prstGeom prst="rect">
            <a:avLst/>
          </a:prstGeom>
          <a:noFill/>
          <a:ln/>
        </p:spPr>
        <p:txBody>
          <a:bodyPr wrap="square" rtlCol="0" anchor="ctr"/>
          <a:lstStyle/>
          <a:p>
            <a:pPr indent="0" marL="0">
              <a:buNone/>
            </a:pPr>
            <a:r>
              <a:rPr lang="en-US" sz="1100" b="1" dirty="0">
                <a:solidFill>
                  <a:srgbClr val="A5228E"/>
                </a:solidFill>
                <a:latin typeface="Calibri" pitchFamily="34" charset="0"/>
                <a:ea typeface="Calibri" pitchFamily="34" charset="-122"/>
                <a:cs typeface="Calibri" pitchFamily="34" charset="-120"/>
              </a:rPr>
              <a:t>● CHICAGO TECH CIRCLE</a:t>
            </a:r>
            <a:endParaRPr lang="en-US" sz="1100" dirty="0"/>
          </a:p>
        </p:txBody>
      </p:sp>
      <p:sp>
        <p:nvSpPr>
          <p:cNvPr id="7" name="Text 5"/>
          <p:cNvSpPr/>
          <p:nvPr/>
        </p:nvSpPr>
        <p:spPr>
          <a:xfrm>
            <a:off x="9704527" y="6172200"/>
            <a:ext cx="1828800" cy="320040"/>
          </a:xfrm>
          <a:prstGeom prst="rect">
            <a:avLst/>
          </a:prstGeom>
          <a:noFill/>
          <a:ln/>
        </p:spPr>
        <p:txBody>
          <a:bodyPr wrap="square" rtlCol="0" anchor="ctr"/>
          <a:lstStyle/>
          <a:p>
            <a:pPr algn="r" indent="0" marL="0">
              <a:buNone/>
            </a:pPr>
            <a:r>
              <a:rPr lang="en-US" sz="900" dirty="0">
                <a:solidFill>
                  <a:srgbClr val="8391C2"/>
                </a:solidFill>
                <a:latin typeface="Calibri" pitchFamily="34" charset="0"/>
                <a:ea typeface="Calibri" pitchFamily="34" charset="-122"/>
                <a:cs typeface="Calibri" pitchFamily="34" charset="-120"/>
              </a:rPr>
              <a:t>CC BY-NC-SA 4.0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2026-08-17T16:07:43Z</dcterms:created>
  <dcterms:modified xsi:type="dcterms:W3CDTF">2026-08-17T16:07:43Z</dcterms:modified>
</cp:coreProperties>
</file>