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note — full run sheet lives in the Facilitator Manual and in speaker notes throughout this deck. Total target: ~100 minutes. This version uses a real, live UIC document as the grounding source, not a fictional case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these plainly — they're the spine of the whole session. Three outcomes, three beats — keep that mapping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Walk the agenda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Read the message aloud. Take a few answers before moving on — don't let anyone open an AI tool yet. Note for facilitators: Priya is explicitly fictional framing, like a word-problem character — every number and rule used later is real and traces to SOURCE_FACTS.md.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The throughline quote is the spine of the whole module — consider reading it aloud slowly. Same shape as Module 1's throughline (judgment lives in the human step), applied here to retrieval instead of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Learners should be able to tell these three apart afterward, because each one fails differently. This sets up why 'grounding' is a specific, checkable thing you do — not a vague quality an AI tool either has or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Bridges into the activity — keep it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Likely outcomes: a hedge ("this varies, check with the department"), a generic non-UIC-specific answer, or a confident guess with no way to verify it. All three prove the point — don't promise the room a specific wrong number, the honest claim is 'it can't reliably know this without the document.' Don't let anyone skip straight to grounding.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core Beat One moment — the before/after contrast is the whole lesson. Circulate to make sure everyone actually grounded successfully (document attached or pasted) before time runs out. Verified answer: 108 total hours beyond the bachelor's; 24 coursework hours (16 CS 500-level) + 48 CS 599 hours with a prior master's, or 32 coursework hours (16 CS 500-level) + 72 CS 599 hours direct from a bachelor's; qualifier exam due before the end of the 4th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Bridge explicitly into Beat Two — grounding is necessary but not sufficient, which is what verbatim checking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single most reusable technique in the whole module —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Sets up the activity — two modalities, one skill. (This version skips the image modality by design — see the Facilitator Manual's note on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Answer key: preliminary exam committee needs at least 5 members, at least 3 UIC Graduate Faculty with full membership, 2 of those tenured. TOEFL: pre-Jan 21 2026 overall 80 (R19/L17/S20/W21); on-or-after Jan 21 2026 (new scale) overall 4.5 (R4/L4/S4.5/W4.5) — a real, recently-effective scale change, not a planted trick. Full text in the Facilitator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core diagnostic beat. The claim mixes up the two real admission pathways: direct-from-bachelor's students need 32 coursework hours, but students entering WITH a prior master's need only 24. Both numbers are real and appear in the same paragraph of the source document — the trap is applying the wrong one to the wrong applicant, not any fabricated content. Full answer key in the Facilitator Manual — do not give away the mechanism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Name explicitly: this is what real research in a long real document looks like — not a document that's uniformly confusing, one that's precise in a way that rewards careful reading and punishes skimming.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Sets up why Beat Three needs a different verification technique than Beat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Beat Three equivalent of Beat Two's quote-then-interpret technique — say it just as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min. Answer key and diagnostic notes (what a strong vs. weak summary looks like) are in the Facilitator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emotional peak of the module — land it before moving to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transition into wrap-up.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This is the explicit naming moment — say the reframe plainly, then the structural-blindness point. This is the highest-leverage idea in the module; don't rush it even though it's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~3 min pair discussion, ~2 min share-out.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Point people to the Lab Guide for the full reference versions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and point to the companion materials (Lab Guide, Facilitator Manual) for lasting reference. Remind everyone: the real UIC document changes over time — always re-verify against the live PDF before relying on it for an actual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62"/>
        </a:solidFill>
      </p:bgPr>
    </p:bg>
    <p:spTree>
      <p:nvGrpSpPr>
        <p:cNvPr id="1" name=""/>
        <p:cNvGrpSpPr/>
        <p:nvPr/>
      </p:nvGrpSpPr>
      <p:grpSpPr>
        <a:xfrm>
          <a:off x="0" y="0"/>
          <a:ext cx="0" cy="0"/>
          <a:chOff x="0" y="0"/>
          <a:chExt cx="0" cy="0"/>
        </a:xfrm>
      </p:grpSpPr>
      <p:sp>
        <p:nvSpPr>
          <p:cNvPr id="2" name="Shape 0"/>
          <p:cNvSpPr/>
          <p:nvPr/>
        </p:nvSpPr>
        <p:spPr>
          <a:xfrm>
            <a:off x="9265615" y="4114800"/>
            <a:ext cx="4937760" cy="4937760"/>
          </a:xfrm>
          <a:prstGeom prst="ellipse">
            <a:avLst/>
          </a:prstGeom>
          <a:solidFill>
            <a:srgbClr val="001A54"/>
          </a:solidFill>
          <a:ln/>
        </p:spPr>
      </p:sp>
      <p:sp>
        <p:nvSpPr>
          <p:cNvPr id="3" name="Text 1"/>
          <p:cNvSpPr/>
          <p:nvPr/>
        </p:nvSpPr>
        <p:spPr>
          <a:xfrm>
            <a:off x="658368" y="502920"/>
            <a:ext cx="5486400" cy="320040"/>
          </a:xfrm>
          <a:prstGeom prst="rect">
            <a:avLst/>
          </a:prstGeom>
          <a:noFill/>
          <a:ln/>
        </p:spPr>
        <p:txBody>
          <a:bodyPr wrap="square" rtlCol="0" anchor="ctr"/>
          <a:lstStyle/>
          <a:p>
            <a:pPr indent="0" marL="0">
              <a:buNone/>
            </a:pPr>
            <a:r>
              <a:rPr lang="en-US" sz="1100" b="1" dirty="0">
                <a:solidFill>
                  <a:srgbClr val="A5228E"/>
                </a:solidFill>
                <a:latin typeface="Calibri" pitchFamily="34" charset="0"/>
                <a:ea typeface="Calibri" pitchFamily="34" charset="-122"/>
                <a:cs typeface="Calibri" pitchFamily="34" charset="-120"/>
              </a:rPr>
              <a:t>● CHICAGO TECH CIRCLE</a:t>
            </a:r>
            <a:endParaRPr lang="en-US" sz="1100" dirty="0"/>
          </a:p>
        </p:txBody>
      </p:sp>
      <p:sp>
        <p:nvSpPr>
          <p:cNvPr id="4" name="Text 2"/>
          <p:cNvSpPr/>
          <p:nvPr/>
        </p:nvSpPr>
        <p:spPr>
          <a:xfrm>
            <a:off x="658368" y="1965960"/>
            <a:ext cx="8229600" cy="320040"/>
          </a:xfrm>
          <a:prstGeom prst="rect">
            <a:avLst/>
          </a:prstGeom>
          <a:noFill/>
          <a:ln/>
        </p:spPr>
        <p:txBody>
          <a:bodyPr wrap="square" rtlCol="0" anchor="ctr"/>
          <a:lstStyle/>
          <a:p>
            <a:pPr indent="0" marL="0">
              <a:buNone/>
            </a:pPr>
            <a:r>
              <a:rPr lang="en-US" sz="1300" b="1" spc="150" kern="0" dirty="0">
                <a:solidFill>
                  <a:srgbClr val="A5228E"/>
                </a:solidFill>
                <a:latin typeface="Calibri" pitchFamily="34" charset="0"/>
                <a:ea typeface="Calibri" pitchFamily="34" charset="-122"/>
                <a:cs typeface="Calibri" pitchFamily="34" charset="-120"/>
              </a:rPr>
              <a:t>MODULE 4</a:t>
            </a:r>
            <a:endParaRPr lang="en-US" sz="1300" dirty="0"/>
          </a:p>
        </p:txBody>
      </p:sp>
      <p:sp>
        <p:nvSpPr>
          <p:cNvPr id="5" name="Text 3"/>
          <p:cNvSpPr/>
          <p:nvPr/>
        </p:nvSpPr>
        <p:spPr>
          <a:xfrm>
            <a:off x="658368" y="2331720"/>
            <a:ext cx="9601200" cy="1554480"/>
          </a:xfrm>
          <a:prstGeom prst="rect">
            <a:avLst/>
          </a:prstGeom>
          <a:noFill/>
          <a:ln/>
        </p:spPr>
        <p:txBody>
          <a:bodyPr wrap="square" rtlCol="0" anchor="ctr"/>
          <a:lstStyle/>
          <a:p>
            <a:pPr indent="0" marL="0">
              <a:lnSpc>
                <a:spcPts val="4600"/>
              </a:lnSpc>
              <a:buNone/>
            </a:pPr>
            <a:r>
              <a:rPr lang="en-US" sz="4400" b="1" dirty="0">
                <a:solidFill>
                  <a:srgbClr val="FFFFFF"/>
                </a:solidFill>
                <a:latin typeface="Calibri" pitchFamily="34" charset="0"/>
                <a:ea typeface="Calibri" pitchFamily="34" charset="-122"/>
                <a:cs typeface="Calibri" pitchFamily="34" charset="-120"/>
              </a:rPr>
              <a:t>Search &amp; Verify</a:t>
            </a:r>
            <a:endParaRPr lang="en-US" sz="4400" dirty="0"/>
          </a:p>
        </p:txBody>
      </p:sp>
      <p:sp>
        <p:nvSpPr>
          <p:cNvPr id="6" name="Text 4"/>
          <p:cNvSpPr/>
          <p:nvPr/>
        </p:nvSpPr>
        <p:spPr>
          <a:xfrm>
            <a:off x="658368" y="3794760"/>
            <a:ext cx="8503920" cy="914400"/>
          </a:xfrm>
          <a:prstGeom prst="rect">
            <a:avLst/>
          </a:prstGeom>
          <a:noFill/>
          <a:ln/>
        </p:spPr>
        <p:txBody>
          <a:bodyPr wrap="square" rtlCol="0" anchor="ctr"/>
          <a:lstStyle/>
          <a:p>
            <a:pPr indent="0" marL="0">
              <a:lnSpc>
                <a:spcPts val="2200"/>
              </a:lnSpc>
              <a:buNone/>
            </a:pPr>
            <a:r>
              <a:rPr lang="en-US" sz="1600" dirty="0">
                <a:solidFill>
                  <a:srgbClr val="C7CEE8"/>
                </a:solidFill>
                <a:latin typeface="Calibri" pitchFamily="34" charset="0"/>
                <a:ea typeface="Calibri" pitchFamily="34" charset="-122"/>
                <a:cs typeface="Calibri" pitchFamily="34" charset="-120"/>
              </a:rPr>
              <a:t>AI search and document grounding, hands-on: ground an assistant in a real document, pull out exact facts, then find out why a summary is the part you actually have to check.</a:t>
            </a:r>
            <a:endParaRPr lang="en-US" sz="1600" dirty="0"/>
          </a:p>
        </p:txBody>
      </p:sp>
      <p:sp>
        <p:nvSpPr>
          <p:cNvPr id="7" name="Shape 5"/>
          <p:cNvSpPr/>
          <p:nvPr/>
        </p:nvSpPr>
        <p:spPr>
          <a:xfrm>
            <a:off x="658368" y="4892040"/>
            <a:ext cx="1883664" cy="329184"/>
          </a:xfrm>
          <a:prstGeom prst="roundRect">
            <a:avLst>
              <a:gd name="adj" fmla="val 50000"/>
            </a:avLst>
          </a:prstGeom>
          <a:solidFill>
            <a:srgbClr val="0A2A73"/>
          </a:solidFill>
          <a:ln/>
        </p:spPr>
      </p:sp>
      <p:sp>
        <p:nvSpPr>
          <p:cNvPr id="8" name="Text 6"/>
          <p:cNvSpPr/>
          <p:nvPr/>
        </p:nvSpPr>
        <p:spPr>
          <a:xfrm>
            <a:off x="658368" y="4892040"/>
            <a:ext cx="1883664" cy="329184"/>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~100 MINUTES</a:t>
            </a:r>
            <a:endParaRPr lang="en-US" sz="1100" dirty="0"/>
          </a:p>
        </p:txBody>
      </p:sp>
      <p:sp>
        <p:nvSpPr>
          <p:cNvPr id="9" name="Shape 7"/>
          <p:cNvSpPr/>
          <p:nvPr/>
        </p:nvSpPr>
        <p:spPr>
          <a:xfrm>
            <a:off x="2724912" y="4892040"/>
            <a:ext cx="1289304" cy="329184"/>
          </a:xfrm>
          <a:prstGeom prst="roundRect">
            <a:avLst>
              <a:gd name="adj" fmla="val 50000"/>
            </a:avLst>
          </a:prstGeom>
          <a:solidFill>
            <a:srgbClr val="0A2A73"/>
          </a:solidFill>
          <a:ln/>
        </p:spPr>
      </p:sp>
      <p:sp>
        <p:nvSpPr>
          <p:cNvPr id="10" name="Text 8"/>
          <p:cNvSpPr/>
          <p:nvPr/>
        </p:nvSpPr>
        <p:spPr>
          <a:xfrm>
            <a:off x="2724912" y="4892040"/>
            <a:ext cx="1289304" cy="329184"/>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LEVEL 1</a:t>
            </a:r>
            <a:endParaRPr lang="en-US" sz="1100" dirty="0"/>
          </a:p>
        </p:txBody>
      </p:sp>
      <p:sp>
        <p:nvSpPr>
          <p:cNvPr id="11" name="Shape 9"/>
          <p:cNvSpPr/>
          <p:nvPr/>
        </p:nvSpPr>
        <p:spPr>
          <a:xfrm>
            <a:off x="4197096" y="4892040"/>
            <a:ext cx="3072384" cy="329184"/>
          </a:xfrm>
          <a:prstGeom prst="roundRect">
            <a:avLst>
              <a:gd name="adj" fmla="val 50000"/>
            </a:avLst>
          </a:prstGeom>
          <a:solidFill>
            <a:srgbClr val="0A2A73"/>
          </a:solidFill>
          <a:ln/>
        </p:spPr>
      </p:sp>
      <p:sp>
        <p:nvSpPr>
          <p:cNvPr id="12" name="Text 10"/>
          <p:cNvSpPr/>
          <p:nvPr/>
        </p:nvSpPr>
        <p:spPr>
          <a:xfrm>
            <a:off x="4197096" y="4892040"/>
            <a:ext cx="3072384" cy="329184"/>
          </a:xfrm>
          <a:prstGeom prst="rect">
            <a:avLst/>
          </a:prstGeom>
          <a:noFill/>
          <a:ln/>
        </p:spPr>
        <p:txBody>
          <a:bodyPr wrap="square"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WHO IT'S FOR: EVERYONE</a:t>
            </a:r>
            <a:endParaRPr lang="en-US" sz="1100" dirty="0"/>
          </a:p>
        </p:txBody>
      </p:sp>
      <p:sp>
        <p:nvSpPr>
          <p:cNvPr id="13" name="Text 11"/>
          <p:cNvSpPr/>
          <p:nvPr/>
        </p:nvSpPr>
        <p:spPr>
          <a:xfrm>
            <a:off x="658368" y="6400800"/>
            <a:ext cx="3657600" cy="274320"/>
          </a:xfrm>
          <a:prstGeom prst="rect">
            <a:avLst/>
          </a:prstGeom>
          <a:noFill/>
          <a:ln/>
        </p:spPr>
        <p:txBody>
          <a:bodyPr wrap="square" rtlCol="0" anchor="ctr"/>
          <a:lstStyle/>
          <a:p>
            <a:pPr indent="0" marL="0">
              <a:buNone/>
            </a:pPr>
            <a:r>
              <a:rPr lang="en-US" sz="900" dirty="0">
                <a:solidFill>
                  <a:srgbClr val="8391C2"/>
                </a:solidFill>
                <a:latin typeface="Calibri" pitchFamily="34" charset="0"/>
                <a:ea typeface="Calibri" pitchFamily="34" charset="-122"/>
                <a:cs typeface="Calibri" pitchFamily="34" charset="-120"/>
              </a:rPr>
              <a:t>CC BY-NC-SA 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SETUP</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By the end of today, you'll be able to …</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Ground an AI assistant in a specific real document</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instead of letting it answer from whatever it happened to learn in training — and know why that matters.</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Pull an exact fact out of a document and check it — in running text or a table</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and catch it when two real, similar-looking figures get mixed up.</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Verify a summary or "what does this mean" answer, not just a quoted fact</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when there's no single verbatim sentence to check it against.</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SETUP</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How we'll spend the next ~100 minutes</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Setup — 10 min</a:t>
            </a:r>
            <a:endParaRPr lang="en-US" sz="1550" dirty="0"/>
          </a:p>
        </p:txBody>
      </p:sp>
      <p:sp>
        <p:nvSpPr>
          <p:cNvPr id="7" name="Text 5"/>
          <p:cNvSpPr/>
          <p:nvPr/>
        </p:nvSpPr>
        <p:spPr>
          <a:xfrm>
            <a:off x="1161288" y="2258568"/>
            <a:ext cx="9966960" cy="42291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Meet the scenario, meet the real document, understand why this module is about verification.</a:t>
            </a:r>
            <a:endParaRPr lang="en-US" sz="1250" dirty="0"/>
          </a:p>
        </p:txBody>
      </p:sp>
      <p:sp>
        <p:nvSpPr>
          <p:cNvPr id="8" name="Shape 6"/>
          <p:cNvSpPr/>
          <p:nvPr/>
        </p:nvSpPr>
        <p:spPr>
          <a:xfrm>
            <a:off x="658368" y="2782062"/>
            <a:ext cx="310896" cy="310896"/>
          </a:xfrm>
          <a:prstGeom prst="ellipse">
            <a:avLst/>
          </a:prstGeom>
          <a:solidFill>
            <a:srgbClr val="001E62"/>
          </a:solidFill>
          <a:ln/>
        </p:spPr>
      </p:sp>
      <p:sp>
        <p:nvSpPr>
          <p:cNvPr id="9" name="Text 7"/>
          <p:cNvSpPr/>
          <p:nvPr/>
        </p:nvSpPr>
        <p:spPr>
          <a:xfrm>
            <a:off x="658368" y="278206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71805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Beat One: ground it — 25 min</a:t>
            </a:r>
            <a:endParaRPr lang="en-US" sz="1550" dirty="0"/>
          </a:p>
        </p:txBody>
      </p:sp>
      <p:sp>
        <p:nvSpPr>
          <p:cNvPr id="11" name="Text 9"/>
          <p:cNvSpPr/>
          <p:nvPr/>
        </p:nvSpPr>
        <p:spPr>
          <a:xfrm>
            <a:off x="1161288" y="3047238"/>
            <a:ext cx="9966960" cy="42291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Ask ungrounded, then ask grounded. Feel the difference for yourself.</a:t>
            </a:r>
            <a:endParaRPr lang="en-US" sz="1250" dirty="0"/>
          </a:p>
        </p:txBody>
      </p:sp>
      <p:sp>
        <p:nvSpPr>
          <p:cNvPr id="12" name="Shape 10"/>
          <p:cNvSpPr/>
          <p:nvPr/>
        </p:nvSpPr>
        <p:spPr>
          <a:xfrm>
            <a:off x="658368" y="3570732"/>
            <a:ext cx="310896" cy="310896"/>
          </a:xfrm>
          <a:prstGeom prst="ellipse">
            <a:avLst/>
          </a:prstGeom>
          <a:solidFill>
            <a:srgbClr val="001E62"/>
          </a:solidFill>
          <a:ln/>
        </p:spPr>
      </p:sp>
      <p:sp>
        <p:nvSpPr>
          <p:cNvPr id="13" name="Text 11"/>
          <p:cNvSpPr/>
          <p:nvPr/>
        </p:nvSpPr>
        <p:spPr>
          <a:xfrm>
            <a:off x="658368" y="357073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350672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Beat Two: extract &amp; check — 30 min</a:t>
            </a:r>
            <a:endParaRPr lang="en-US" sz="1550" dirty="0"/>
          </a:p>
        </p:txBody>
      </p:sp>
      <p:sp>
        <p:nvSpPr>
          <p:cNvPr id="15" name="Text 13"/>
          <p:cNvSpPr/>
          <p:nvPr/>
        </p:nvSpPr>
        <p:spPr>
          <a:xfrm>
            <a:off x="1161288" y="3835908"/>
            <a:ext cx="9966960" cy="42291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Pull exact facts from text and a table — then catch a realistic mix-up.</a:t>
            </a:r>
            <a:endParaRPr lang="en-US" sz="1250" dirty="0"/>
          </a:p>
        </p:txBody>
      </p:sp>
      <p:sp>
        <p:nvSpPr>
          <p:cNvPr id="16" name="Shape 14"/>
          <p:cNvSpPr/>
          <p:nvPr/>
        </p:nvSpPr>
        <p:spPr>
          <a:xfrm>
            <a:off x="658368" y="4359402"/>
            <a:ext cx="310896" cy="310896"/>
          </a:xfrm>
          <a:prstGeom prst="ellipse">
            <a:avLst/>
          </a:prstGeom>
          <a:solidFill>
            <a:srgbClr val="001E62"/>
          </a:solidFill>
          <a:ln/>
        </p:spPr>
      </p:sp>
      <p:sp>
        <p:nvSpPr>
          <p:cNvPr id="17" name="Text 15"/>
          <p:cNvSpPr/>
          <p:nvPr/>
        </p:nvSpPr>
        <p:spPr>
          <a:xfrm>
            <a:off x="658368" y="435940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161288" y="429539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Beat Three: summarize &amp; verify — 25 min, then wrap — 10 min</a:t>
            </a:r>
            <a:endParaRPr lang="en-US" sz="1550" dirty="0"/>
          </a:p>
        </p:txBody>
      </p:sp>
      <p:sp>
        <p:nvSpPr>
          <p:cNvPr id="19" name="Text 17"/>
          <p:cNvSpPr/>
          <p:nvPr/>
        </p:nvSpPr>
        <p:spPr>
          <a:xfrm>
            <a:off x="1161288" y="4624578"/>
            <a:ext cx="9966960" cy="42291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Answer a "what does this mean" question, then learn how to check an answer that isn't a quote.</a:t>
            </a:r>
            <a:endParaRPr lang="en-US" sz="1250" dirty="0"/>
          </a:p>
        </p:txBody>
      </p:sp>
      <p:sp>
        <p:nvSpPr>
          <p:cNvPr id="20" name="Text 18"/>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21" name="Text 19"/>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SETUP</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The scenario</a:t>
            </a:r>
            <a:endParaRPr lang="en-US" sz="2600" dirty="0"/>
          </a:p>
        </p:txBody>
      </p:sp>
      <p:sp>
        <p:nvSpPr>
          <p:cNvPr id="4" name="Shape 2"/>
          <p:cNvSpPr/>
          <p:nvPr/>
        </p:nvSpPr>
        <p:spPr>
          <a:xfrm>
            <a:off x="658368" y="2011680"/>
            <a:ext cx="10881360" cy="2286000"/>
          </a:xfrm>
          <a:prstGeom prst="roundRect">
            <a:avLst>
              <a:gd name="adj" fmla="val 4800"/>
            </a:avLst>
          </a:prstGeom>
          <a:solidFill>
            <a:srgbClr val="FBF8FA"/>
          </a:solidFill>
          <a:ln w="12700">
            <a:solidFill>
              <a:srgbClr val="ECE6EA"/>
            </a:solidFill>
            <a:prstDash val="solid"/>
          </a:ln>
        </p:spPr>
      </p:sp>
      <p:sp>
        <p:nvSpPr>
          <p:cNvPr id="5" name="Text 3"/>
          <p:cNvSpPr/>
          <p:nvPr/>
        </p:nvSpPr>
        <p:spPr>
          <a:xfrm>
            <a:off x="1024128" y="2240280"/>
            <a:ext cx="5486400" cy="274320"/>
          </a:xfrm>
          <a:prstGeom prst="rect">
            <a:avLst/>
          </a:prstGeom>
          <a:noFill/>
          <a:ln/>
        </p:spPr>
        <p:txBody>
          <a:bodyPr wrap="square" rtlCol="0" anchor="ctr"/>
          <a:lstStyle/>
          <a:p>
            <a:pPr indent="0" marL="0">
              <a:buNone/>
            </a:pPr>
            <a:r>
              <a:rPr lang="en-US" sz="1050" b="1" spc="100" kern="0" dirty="0">
                <a:solidFill>
                  <a:srgbClr val="A5228E"/>
                </a:solidFill>
                <a:latin typeface="Calibri" pitchFamily="34" charset="0"/>
                <a:ea typeface="Calibri" pitchFamily="34" charset="-122"/>
                <a:cs typeface="Calibri" pitchFamily="34" charset="-120"/>
              </a:rPr>
              <a:t>A TEXT FROM A FRIEND — PRIYA, APPLYING TO GRAD SCHOOL</a:t>
            </a:r>
            <a:endParaRPr lang="en-US" sz="1050" dirty="0"/>
          </a:p>
        </p:txBody>
      </p:sp>
      <p:sp>
        <p:nvSpPr>
          <p:cNvPr id="6" name="Text 4"/>
          <p:cNvSpPr/>
          <p:nvPr/>
        </p:nvSpPr>
        <p:spPr>
          <a:xfrm>
            <a:off x="1024128" y="2560320"/>
            <a:ext cx="10149840" cy="1463040"/>
          </a:xfrm>
          <a:prstGeom prst="rect">
            <a:avLst/>
          </a:prstGeom>
          <a:noFill/>
          <a:ln/>
        </p:spPr>
        <p:txBody>
          <a:bodyPr wrap="square" rtlCol="0" anchor="t"/>
          <a:lstStyle/>
          <a:p>
            <a:pPr indent="0" marL="0">
              <a:lnSpc>
                <a:spcPts val="2000"/>
              </a:lnSpc>
              <a:buNone/>
            </a:pPr>
            <a:r>
              <a:rPr lang="en-US" sz="1500" i="1" dirty="0">
                <a:solidFill>
                  <a:srgbClr val="201A1E"/>
                </a:solidFill>
                <a:latin typeface="Calibri" pitchFamily="34" charset="0"/>
                <a:ea typeface="Calibri" pitchFamily="34" charset="-122"/>
                <a:cs typeface="Calibri" pitchFamily="34" charset="-120"/>
              </a:rPr>
              <a:t>“I keep getting different answers about UIC's CS PhD program depending on where I look — a forum post, something a chatbot told me, my own guessing. Can you help me actually figure out what's true before I make any decisions?”</a:t>
            </a:r>
            <a:endParaRPr lang="en-US" sz="1500" dirty="0"/>
          </a:p>
        </p:txBody>
      </p:sp>
      <p:sp>
        <p:nvSpPr>
          <p:cNvPr id="7" name="Text 5"/>
          <p:cNvSpPr/>
          <p:nvPr/>
        </p:nvSpPr>
        <p:spPr>
          <a:xfrm>
            <a:off x="658368" y="4572000"/>
            <a:ext cx="10424160" cy="411480"/>
          </a:xfrm>
          <a:prstGeom prst="rect">
            <a:avLst/>
          </a:prstGeom>
          <a:noFill/>
          <a:ln/>
        </p:spPr>
        <p:txBody>
          <a:bodyPr wrap="square" rtlCol="0" anchor="t"/>
          <a:lstStyle/>
          <a:p>
            <a:pPr indent="0" marL="0">
              <a:lnSpc>
                <a:spcPts val="1600"/>
              </a:lnSpc>
              <a:buNone/>
            </a:pPr>
            <a:r>
              <a:rPr lang="en-US" sz="1300" b="1" dirty="0">
                <a:solidFill>
                  <a:srgbClr val="001E62"/>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Priya is a stand-in for "the person asking" — nothing about her is a fact you need to track. Every real fact in this module comes from an actual UIC document.</a:t>
            </a:r>
            <a:endParaRPr lang="en-US" sz="1300" dirty="0"/>
          </a:p>
        </p:txBody>
      </p:sp>
      <p:sp>
        <p:nvSpPr>
          <p:cNvPr id="8" name="Text 6"/>
          <p:cNvSpPr/>
          <p:nvPr/>
        </p:nvSpPr>
        <p:spPr>
          <a:xfrm>
            <a:off x="658368" y="5010912"/>
            <a:ext cx="10424160" cy="411480"/>
          </a:xfrm>
          <a:prstGeom prst="rect">
            <a:avLst/>
          </a:prstGeom>
          <a:noFill/>
          <a:ln/>
        </p:spPr>
        <p:txBody>
          <a:bodyPr wrap="square" rtlCol="0" anchor="t"/>
          <a:lstStyle/>
          <a:p>
            <a:pPr indent="0" marL="0">
              <a:lnSpc>
                <a:spcPts val="1600"/>
              </a:lnSpc>
              <a:buNone/>
            </a:pPr>
            <a:r>
              <a:rPr lang="en-US" sz="1300" b="1" dirty="0">
                <a:solidFill>
                  <a:srgbClr val="001E62"/>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You have an AI assistant and, in a minute, the actual current UIC CS Graduate Program Requirements. Your assistant does not have the second one yet.</a:t>
            </a:r>
            <a:endParaRPr lang="en-US" sz="1300" dirty="0"/>
          </a:p>
        </p:txBody>
      </p:sp>
      <p:sp>
        <p:nvSpPr>
          <p:cNvPr id="9" name="Shape 7"/>
          <p:cNvSpPr/>
          <p:nvPr/>
        </p:nvSpPr>
        <p:spPr>
          <a:xfrm>
            <a:off x="658368" y="5541264"/>
            <a:ext cx="10881360" cy="685800"/>
          </a:xfrm>
          <a:prstGeom prst="roundRect">
            <a:avLst>
              <a:gd name="adj" fmla="val 13333"/>
            </a:avLst>
          </a:prstGeom>
          <a:solidFill>
            <a:srgbClr val="FBEFF7"/>
          </a:solidFill>
          <a:ln/>
        </p:spPr>
      </p:sp>
      <p:sp>
        <p:nvSpPr>
          <p:cNvPr id="10" name="Text 8"/>
          <p:cNvSpPr/>
          <p:nvPr/>
        </p:nvSpPr>
        <p:spPr>
          <a:xfrm>
            <a:off x="932688" y="5541264"/>
            <a:ext cx="10332720" cy="685800"/>
          </a:xfrm>
          <a:prstGeom prst="rect">
            <a:avLst/>
          </a:prstGeom>
          <a:noFill/>
          <a:ln/>
        </p:spPr>
        <p:txBody>
          <a:bodyPr wrap="square" rtlCol="0" anchor="ctr"/>
          <a:lstStyle/>
          <a:p>
            <a:pPr indent="0" marL="0">
              <a:lnSpc>
                <a:spcPts val="1700"/>
              </a:lnSpc>
              <a:buNone/>
            </a:pPr>
            <a:r>
              <a:rPr lang="en-US" sz="1300" b="1" dirty="0">
                <a:solidFill>
                  <a:srgbClr val="7C1C6B"/>
                </a:solidFill>
                <a:latin typeface="Calibri" pitchFamily="34" charset="0"/>
                <a:ea typeface="Calibri" pitchFamily="34" charset="-122"/>
                <a:cs typeface="Calibri" pitchFamily="34" charset="-120"/>
              </a:rPr>
              <a:t>Before opening any AI tool:  </a:t>
            </a:r>
            <a:pPr indent="0" marL="0">
              <a:lnSpc>
                <a:spcPts val="1700"/>
              </a:lnSpc>
              <a:buNone/>
            </a:pPr>
            <a:r>
              <a:rPr lang="en-US" sz="1300" dirty="0">
                <a:solidFill>
                  <a:srgbClr val="201A1E"/>
                </a:solidFill>
                <a:latin typeface="Calibri" pitchFamily="34" charset="0"/>
                <a:ea typeface="Calibri" pitchFamily="34" charset="-122"/>
                <a:cs typeface="Calibri" pitchFamily="34" charset="-120"/>
              </a:rPr>
              <a:t>how would you normally try to answer a question like this — and how would you know if the answer was right?</a:t>
            </a:r>
            <a:endParaRPr lang="en-US" sz="1300" dirty="0"/>
          </a:p>
        </p:txBody>
      </p:sp>
      <p:sp>
        <p:nvSpPr>
          <p:cNvPr id="11" name="Text 9"/>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2" name="Text 10"/>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SETUP</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Why this module is about verification, not search</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"AI search" feels like magic — type a question, get a sourced-sounding answer</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that confidence is exactly what makes it risky: a wrong answer looks identical to a right one.</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Modules 1-3 taught judgment when AI produces something</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 report, a summary, an analysis. Today turns that same judgment toward AI when it's used to find something.</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The throughline for today</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“AI search doesn't remove the work of finding things out — it relocates it. Your job stops being ‘search for the answer’ and becomes ‘verify what it found, and notice what it couldn't have found.’”</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E62"/>
        </a:solidFill>
      </p:bgPr>
    </p:bg>
    <p:spTree>
      <p:nvGrpSpPr>
        <p:cNvPr id="1" name=""/>
        <p:cNvGrpSpPr/>
        <p:nvPr/>
      </p:nvGrpSpPr>
      <p:grpSpPr>
        <a:xfrm>
          <a:off x="0" y="0"/>
          <a:ext cx="0" cy="0"/>
          <a:chOff x="0" y="0"/>
          <a:chExt cx="0" cy="0"/>
        </a:xfrm>
      </p:grpSpPr>
      <p:sp>
        <p:nvSpPr>
          <p:cNvPr id="2" name="Shape 0"/>
          <p:cNvSpPr/>
          <p:nvPr/>
        </p:nvSpPr>
        <p:spPr>
          <a:xfrm>
            <a:off x="9265615" y="4114800"/>
            <a:ext cx="4937760" cy="4937760"/>
          </a:xfrm>
          <a:prstGeom prst="ellipse">
            <a:avLst/>
          </a:prstGeom>
          <a:solidFill>
            <a:srgbClr val="001A54"/>
          </a:solidFill>
          <a:ln/>
        </p:spPr>
      </p:sp>
      <p:sp>
        <p:nvSpPr>
          <p:cNvPr id="3" name="Text 1"/>
          <p:cNvSpPr/>
          <p:nvPr/>
        </p:nvSpPr>
        <p:spPr>
          <a:xfrm>
            <a:off x="658368" y="265176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ONE</a:t>
            </a:r>
            <a:endParaRPr lang="en-US" sz="1250" dirty="0"/>
          </a:p>
        </p:txBody>
      </p:sp>
      <p:sp>
        <p:nvSpPr>
          <p:cNvPr id="4" name="Text 2"/>
          <p:cNvSpPr/>
          <p:nvPr/>
        </p:nvSpPr>
        <p:spPr>
          <a:xfrm>
            <a:off x="658368" y="3017520"/>
            <a:ext cx="10241280" cy="1645920"/>
          </a:xfrm>
          <a:prstGeom prst="rect">
            <a:avLst/>
          </a:prstGeom>
          <a:noFill/>
          <a:ln/>
        </p:spPr>
        <p:txBody>
          <a:bodyPr wrap="square" rtlCol="0" anchor="ctr"/>
          <a:lstStyle/>
          <a:p>
            <a:pPr indent="0" marL="0">
              <a:lnSpc>
                <a:spcPts val="3800"/>
              </a:lnSpc>
              <a:buNone/>
            </a:pPr>
            <a:r>
              <a:rPr lang="en-US" sz="3400" b="1" dirty="0">
                <a:solidFill>
                  <a:srgbClr val="FFFFFF"/>
                </a:solidFill>
                <a:latin typeface="Calibri" pitchFamily="34" charset="0"/>
                <a:ea typeface="Calibri" pitchFamily="34" charset="-122"/>
                <a:cs typeface="Calibri" pitchFamily="34" charset="-120"/>
              </a:rPr>
              <a:t>Ground it.</a:t>
            </a:r>
            <a:endParaRPr lang="en-US" sz="3400" dirty="0"/>
          </a:p>
        </p:txBody>
      </p:sp>
      <p:sp>
        <p:nvSpPr>
          <p:cNvPr id="5" name="Text 3"/>
          <p:cNvSpPr/>
          <p:nvPr/>
        </p:nvSpPr>
        <p:spPr>
          <a:xfrm>
            <a:off x="658368" y="4343400"/>
            <a:ext cx="8778240" cy="731520"/>
          </a:xfrm>
          <a:prstGeom prst="rect">
            <a:avLst/>
          </a:prstGeom>
          <a:noFill/>
          <a:ln/>
        </p:spPr>
        <p:txBody>
          <a:bodyPr wrap="square" rtlCol="0" anchor="ctr"/>
          <a:lstStyle/>
          <a:p>
            <a:pPr indent="0" marL="0">
              <a:lnSpc>
                <a:spcPts val="2000"/>
              </a:lnSpc>
              <a:buNone/>
            </a:pPr>
            <a:r>
              <a:rPr lang="en-US" sz="1500" dirty="0">
                <a:solidFill>
                  <a:srgbClr val="C7CEE8"/>
                </a:solidFill>
                <a:latin typeface="Calibri" pitchFamily="34" charset="0"/>
                <a:ea typeface="Calibri" pitchFamily="34" charset="-122"/>
                <a:cs typeface="Calibri" pitchFamily="34" charset="-120"/>
              </a:rPr>
              <a:t>Before you trust an AI's answer about anything specific, find out what it's actually answering from.</a:t>
            </a:r>
            <a:endParaRPr lang="en-US" sz="1500" dirty="0"/>
          </a:p>
        </p:txBody>
      </p:sp>
      <p:sp>
        <p:nvSpPr>
          <p:cNvPr id="6" name="Text 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AAB3D6"/>
                </a:solidFill>
                <a:latin typeface="Calibri" pitchFamily="34" charset="0"/>
                <a:ea typeface="Calibri" pitchFamily="34" charset="-122"/>
                <a:cs typeface="Calibri" pitchFamily="34" charset="-120"/>
              </a:rPr>
              <a:t>MODULE 4 · SEARCH &amp; VERIFY</a:t>
            </a:r>
            <a:endParaRPr lang="en-US" sz="900" dirty="0"/>
          </a:p>
        </p:txBody>
      </p:sp>
      <p:sp>
        <p:nvSpPr>
          <p:cNvPr id="7" name="Text 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AAB3D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ONE</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Three different things people call "AI search"</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Classic keyword search</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returns a list of links. You do the reading and the deciding — nothing is grounded or generated for you.</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Answering from memory alone</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the model answers using only what it learned during training. No lookup happens at all — and it can't always tell you that.</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Retrieval, then generation — what "grounded AI search" actually means</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the tool finds passages in a specific document, then writes an answer from those passages. This is what today is about.</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ONE</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What "grounding" means, in practice</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You point the model at a specific, known document</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an uploaded file or a pasted block of text — not "the internet" and not "whatever you remember."</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The model answers from that material — and only that material</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if the answer isn't in the document, a properly grounded assistant should say so, not fill the gap from memory.</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This is a deliberate step, not a setting that's always on</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most general-purpose chat is NOT grounded by default — you have to actually attach or paste the document.</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ONE · ACTIVITY</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First, ask it ungrounded</a:t>
            </a:r>
            <a:endParaRPr lang="en-US" sz="2600" dirty="0"/>
          </a:p>
        </p:txBody>
      </p:sp>
      <p:sp>
        <p:nvSpPr>
          <p:cNvPr id="4" name="Shape 2"/>
          <p:cNvSpPr/>
          <p:nvPr/>
        </p:nvSpPr>
        <p:spPr>
          <a:xfrm>
            <a:off x="10527487" y="530352"/>
            <a:ext cx="1005840" cy="329184"/>
          </a:xfrm>
          <a:prstGeom prst="roundRect">
            <a:avLst>
              <a:gd name="adj" fmla="val 50000"/>
            </a:avLst>
          </a:prstGeom>
          <a:solidFill>
            <a:srgbClr val="FBEFF7"/>
          </a:solidFill>
          <a:ln/>
        </p:spPr>
      </p:sp>
      <p:sp>
        <p:nvSpPr>
          <p:cNvPr id="5" name="Text 3"/>
          <p:cNvSpPr/>
          <p:nvPr/>
        </p:nvSpPr>
        <p:spPr>
          <a:xfrm>
            <a:off x="10527487" y="530352"/>
            <a:ext cx="1005840" cy="329184"/>
          </a:xfrm>
          <a:prstGeom prst="rect">
            <a:avLst/>
          </a:prstGeom>
          <a:noFill/>
          <a:ln/>
        </p:spPr>
        <p:txBody>
          <a:bodyPr wrap="square" rtlCol="0" anchor="ctr"/>
          <a:lstStyle/>
          <a:p>
            <a:pPr algn="ctr" indent="0" marL="0">
              <a:buNone/>
            </a:pPr>
            <a:r>
              <a:rPr lang="en-US" sz="1100" b="1" spc="100" kern="0" dirty="0">
                <a:solidFill>
                  <a:srgbClr val="7C1C6B"/>
                </a:solidFill>
                <a:latin typeface="Calibri" pitchFamily="34" charset="0"/>
                <a:ea typeface="Calibri" pitchFamily="34" charset="-122"/>
                <a:cs typeface="Calibri" pitchFamily="34" charset="-120"/>
              </a:rPr>
              <a:t>10 MIN</a:t>
            </a:r>
            <a:endParaRPr lang="en-US" sz="1100" dirty="0"/>
          </a:p>
        </p:txBody>
      </p:sp>
      <p:sp>
        <p:nvSpPr>
          <p:cNvPr id="6" name="Shape 4"/>
          <p:cNvSpPr/>
          <p:nvPr/>
        </p:nvSpPr>
        <p:spPr>
          <a:xfrm>
            <a:off x="658368" y="1965960"/>
            <a:ext cx="10881360" cy="1234440"/>
          </a:xfrm>
          <a:prstGeom prst="roundRect">
            <a:avLst>
              <a:gd name="adj" fmla="val 8889"/>
            </a:avLst>
          </a:prstGeom>
          <a:solidFill>
            <a:srgbClr val="FBEFF7"/>
          </a:solidFill>
          <a:ln/>
        </p:spPr>
      </p:sp>
      <p:sp>
        <p:nvSpPr>
          <p:cNvPr id="7" name="Text 5"/>
          <p:cNvSpPr/>
          <p:nvPr/>
        </p:nvSpPr>
        <p:spPr>
          <a:xfrm>
            <a:off x="978408" y="2130552"/>
            <a:ext cx="10241280" cy="905256"/>
          </a:xfrm>
          <a:prstGeom prst="rect">
            <a:avLst/>
          </a:prstGeom>
          <a:noFill/>
          <a:ln/>
        </p:spPr>
        <p:txBody>
          <a:bodyPr wrap="square" rtlCol="0" anchor="ctr"/>
          <a:lstStyle/>
          <a:p>
            <a:pPr indent="0" marL="0">
              <a:lnSpc>
                <a:spcPts val="2000"/>
              </a:lnSpc>
              <a:buNone/>
            </a:pPr>
            <a:r>
              <a:rPr lang="en-US" sz="1500" dirty="0">
                <a:solidFill>
                  <a:srgbClr val="201A1E"/>
                </a:solidFill>
                <a:latin typeface="Calibri" pitchFamily="34" charset="0"/>
                <a:ea typeface="Calibri" pitchFamily="34" charset="-122"/>
                <a:cs typeface="Calibri" pitchFamily="34" charset="-120"/>
              </a:rPr>
              <a:t>Open a fresh AI chat — no documents attached. Ask: "How many total credit hours does a UIC Computer Science PhD require, and by when do I need to pass my qualifying exam?"</a:t>
            </a:r>
            <a:endParaRPr lang="en-US" sz="1500" dirty="0"/>
          </a:p>
        </p:txBody>
      </p:sp>
      <p:sp>
        <p:nvSpPr>
          <p:cNvPr id="8" name="Text 6"/>
          <p:cNvSpPr/>
          <p:nvPr/>
        </p:nvSpPr>
        <p:spPr>
          <a:xfrm>
            <a:off x="658368" y="3520440"/>
            <a:ext cx="7315200" cy="274320"/>
          </a:xfrm>
          <a:prstGeom prst="rect">
            <a:avLst/>
          </a:prstGeom>
          <a:noFill/>
          <a:ln/>
        </p:spPr>
        <p:txBody>
          <a:bodyPr wrap="square" rtlCol="0" anchor="ctr"/>
          <a:lstStyle/>
          <a:p>
            <a:pPr indent="0" marL="0">
              <a:buNone/>
            </a:pPr>
            <a:r>
              <a:rPr lang="en-US" sz="1050" b="1" spc="100" kern="0" dirty="0">
                <a:solidFill>
                  <a:srgbClr val="6B6270"/>
                </a:solidFill>
                <a:latin typeface="Calibri" pitchFamily="34" charset="0"/>
                <a:ea typeface="Calibri" pitchFamily="34" charset="-122"/>
                <a:cs typeface="Calibri" pitchFamily="34" charset="-120"/>
              </a:rPr>
              <a:t>QUESTIONS / CHECKS</a:t>
            </a:r>
            <a:endParaRPr lang="en-US" sz="1050" dirty="0"/>
          </a:p>
        </p:txBody>
      </p:sp>
      <p:sp>
        <p:nvSpPr>
          <p:cNvPr id="9" name="Text 7"/>
          <p:cNvSpPr/>
          <p:nvPr/>
        </p:nvSpPr>
        <p:spPr>
          <a:xfrm>
            <a:off x="658368" y="3867912"/>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Watch closely: does it admit it doesn't know, hedge, or answer with confidence?</a:t>
            </a:r>
            <a:endParaRPr lang="en-US" sz="1300" dirty="0"/>
          </a:p>
        </p:txBody>
      </p:sp>
      <p:sp>
        <p:nvSpPr>
          <p:cNvPr id="10" name="Text 8"/>
          <p:cNvSpPr/>
          <p:nvPr/>
        </p:nvSpPr>
        <p:spPr>
          <a:xfrm>
            <a:off x="658368" y="4288536"/>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If it answers with a specific number, would you have any way to know it was right, just from reading the answer?</a:t>
            </a:r>
            <a:endParaRPr lang="en-US" sz="1300" dirty="0"/>
          </a:p>
        </p:txBody>
      </p:sp>
      <p:sp>
        <p:nvSpPr>
          <p:cNvPr id="11" name="Text 9"/>
          <p:cNvSpPr/>
          <p:nvPr/>
        </p:nvSpPr>
        <p:spPr>
          <a:xfrm>
            <a:off x="658368" y="4709160"/>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This isn't a trick question with one guaranteed outcome — every response teaches the lesson. Notice which one you got.</a:t>
            </a:r>
            <a:endParaRPr lang="en-US" sz="1300" dirty="0"/>
          </a:p>
        </p:txBody>
      </p:sp>
      <p:sp>
        <p:nvSpPr>
          <p:cNvPr id="12" name="Text 10"/>
          <p:cNvSpPr/>
          <p:nvPr/>
        </p:nvSpPr>
        <p:spPr>
          <a:xfrm>
            <a:off x="658368" y="5989320"/>
            <a:ext cx="10424160" cy="457200"/>
          </a:xfrm>
          <a:prstGeom prst="rect">
            <a:avLst/>
          </a:prstGeom>
          <a:noFill/>
          <a:ln/>
        </p:spPr>
        <p:txBody>
          <a:bodyPr wrap="square" rtlCol="0" anchor="ctr"/>
          <a:lstStyle/>
          <a:p>
            <a:pPr indent="0" marL="0">
              <a:lnSpc>
                <a:spcPts val="1500"/>
              </a:lnSpc>
              <a:buNone/>
            </a:pPr>
            <a:r>
              <a:rPr lang="en-US" sz="1150" i="1" dirty="0">
                <a:solidFill>
                  <a:srgbClr val="6B6270"/>
                </a:solidFill>
                <a:latin typeface="Calibri" pitchFamily="34" charset="0"/>
                <a:ea typeface="Calibri" pitchFamily="34" charset="-122"/>
                <a:cs typeface="Calibri" pitchFamily="34" charset="-120"/>
              </a:rPr>
              <a:t>This is a real, current, publicly-published UIC policy document — but a narrow, versioned one most general-purpose assistants won't have memorized precisely.</a:t>
            </a:r>
            <a:endParaRPr lang="en-US" sz="1150" dirty="0"/>
          </a:p>
        </p:txBody>
      </p:sp>
      <p:sp>
        <p:nvSpPr>
          <p:cNvPr id="13" name="Text 11"/>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4" name="Text 12"/>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ONE · ACTIVITY</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Now ground it, and ask again</a:t>
            </a:r>
            <a:endParaRPr lang="en-US" sz="2600" dirty="0"/>
          </a:p>
        </p:txBody>
      </p:sp>
      <p:sp>
        <p:nvSpPr>
          <p:cNvPr id="4" name="Shape 2"/>
          <p:cNvSpPr/>
          <p:nvPr/>
        </p:nvSpPr>
        <p:spPr>
          <a:xfrm>
            <a:off x="10527487" y="530352"/>
            <a:ext cx="1005840" cy="329184"/>
          </a:xfrm>
          <a:prstGeom prst="roundRect">
            <a:avLst>
              <a:gd name="adj" fmla="val 50000"/>
            </a:avLst>
          </a:prstGeom>
          <a:solidFill>
            <a:srgbClr val="FBEFF7"/>
          </a:solidFill>
          <a:ln/>
        </p:spPr>
      </p:sp>
      <p:sp>
        <p:nvSpPr>
          <p:cNvPr id="5" name="Text 3"/>
          <p:cNvSpPr/>
          <p:nvPr/>
        </p:nvSpPr>
        <p:spPr>
          <a:xfrm>
            <a:off x="10527487" y="530352"/>
            <a:ext cx="1005840" cy="329184"/>
          </a:xfrm>
          <a:prstGeom prst="rect">
            <a:avLst/>
          </a:prstGeom>
          <a:noFill/>
          <a:ln/>
        </p:spPr>
        <p:txBody>
          <a:bodyPr wrap="square" rtlCol="0" anchor="ctr"/>
          <a:lstStyle/>
          <a:p>
            <a:pPr algn="ctr" indent="0" marL="0">
              <a:buNone/>
            </a:pPr>
            <a:r>
              <a:rPr lang="en-US" sz="1100" b="1" spc="100" kern="0" dirty="0">
                <a:solidFill>
                  <a:srgbClr val="7C1C6B"/>
                </a:solidFill>
                <a:latin typeface="Calibri" pitchFamily="34" charset="0"/>
                <a:ea typeface="Calibri" pitchFamily="34" charset="-122"/>
                <a:cs typeface="Calibri" pitchFamily="34" charset="-120"/>
              </a:rPr>
              <a:t>15 MIN</a:t>
            </a:r>
            <a:endParaRPr lang="en-US" sz="1100" dirty="0"/>
          </a:p>
        </p:txBody>
      </p:sp>
      <p:sp>
        <p:nvSpPr>
          <p:cNvPr id="6" name="Shape 4"/>
          <p:cNvSpPr/>
          <p:nvPr/>
        </p:nvSpPr>
        <p:spPr>
          <a:xfrm>
            <a:off x="658368" y="1965960"/>
            <a:ext cx="10881360" cy="1234440"/>
          </a:xfrm>
          <a:prstGeom prst="roundRect">
            <a:avLst>
              <a:gd name="adj" fmla="val 8889"/>
            </a:avLst>
          </a:prstGeom>
          <a:solidFill>
            <a:srgbClr val="FBEFF7"/>
          </a:solidFill>
          <a:ln/>
        </p:spPr>
      </p:sp>
      <p:sp>
        <p:nvSpPr>
          <p:cNvPr id="7" name="Text 5"/>
          <p:cNvSpPr/>
          <p:nvPr/>
        </p:nvSpPr>
        <p:spPr>
          <a:xfrm>
            <a:off x="978408" y="2130552"/>
            <a:ext cx="10241280" cy="905256"/>
          </a:xfrm>
          <a:prstGeom prst="rect">
            <a:avLst/>
          </a:prstGeom>
          <a:noFill/>
          <a:ln/>
        </p:spPr>
        <p:txBody>
          <a:bodyPr wrap="square" rtlCol="0" anchor="ctr"/>
          <a:lstStyle/>
          <a:p>
            <a:pPr indent="0" marL="0">
              <a:lnSpc>
                <a:spcPts val="2000"/>
              </a:lnSpc>
              <a:buNone/>
            </a:pPr>
            <a:r>
              <a:rPr lang="en-US" sz="1500" dirty="0">
                <a:solidFill>
                  <a:srgbClr val="201A1E"/>
                </a:solidFill>
                <a:latin typeface="Calibri" pitchFamily="34" charset="0"/>
                <a:ea typeface="Calibri" pitchFamily="34" charset="-122"/>
                <a:cs typeface="Calibri" pitchFamily="34" charset="-120"/>
              </a:rPr>
              <a:t>Download the real UIC CS Graduate Program Requirements PDF (link in the Lab Guide) and attach it to your AI assistant, or paste in the relevant section. Ask the exact same question as before.</a:t>
            </a:r>
            <a:endParaRPr lang="en-US" sz="1500" dirty="0"/>
          </a:p>
        </p:txBody>
      </p:sp>
      <p:sp>
        <p:nvSpPr>
          <p:cNvPr id="8" name="Text 6"/>
          <p:cNvSpPr/>
          <p:nvPr/>
        </p:nvSpPr>
        <p:spPr>
          <a:xfrm>
            <a:off x="658368" y="3520440"/>
            <a:ext cx="7315200" cy="274320"/>
          </a:xfrm>
          <a:prstGeom prst="rect">
            <a:avLst/>
          </a:prstGeom>
          <a:noFill/>
          <a:ln/>
        </p:spPr>
        <p:txBody>
          <a:bodyPr wrap="square" rtlCol="0" anchor="ctr"/>
          <a:lstStyle/>
          <a:p>
            <a:pPr indent="0" marL="0">
              <a:buNone/>
            </a:pPr>
            <a:r>
              <a:rPr lang="en-US" sz="1050" b="1" spc="100" kern="0" dirty="0">
                <a:solidFill>
                  <a:srgbClr val="6B6270"/>
                </a:solidFill>
                <a:latin typeface="Calibri" pitchFamily="34" charset="0"/>
                <a:ea typeface="Calibri" pitchFamily="34" charset="-122"/>
                <a:cs typeface="Calibri" pitchFamily="34" charset="-120"/>
              </a:rPr>
              <a:t>QUESTIONS / CHECKS</a:t>
            </a:r>
            <a:endParaRPr lang="en-US" sz="1050" dirty="0"/>
          </a:p>
        </p:txBody>
      </p:sp>
      <p:sp>
        <p:nvSpPr>
          <p:cNvPr id="9" name="Text 7"/>
          <p:cNvSpPr/>
          <p:nvPr/>
        </p:nvSpPr>
        <p:spPr>
          <a:xfrm>
            <a:off x="658368" y="3867912"/>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Compare the two answers side by side — what changed?</a:t>
            </a:r>
            <a:endParaRPr lang="en-US" sz="1300" dirty="0"/>
          </a:p>
        </p:txBody>
      </p:sp>
      <p:sp>
        <p:nvSpPr>
          <p:cNvPr id="10" name="Text 8"/>
          <p:cNvSpPr/>
          <p:nvPr/>
        </p:nvSpPr>
        <p:spPr>
          <a:xfrm>
            <a:off x="658368" y="4288536"/>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Ask it to quote the exact sentence each part of its answer came from — a grounded answer should be able to point back to a source.</a:t>
            </a:r>
            <a:endParaRPr lang="en-US" sz="1300" dirty="0"/>
          </a:p>
        </p:txBody>
      </p:sp>
      <p:sp>
        <p:nvSpPr>
          <p:cNvPr id="11" name="Text 9"/>
          <p:cNvSpPr/>
          <p:nvPr/>
        </p:nvSpPr>
        <p:spPr>
          <a:xfrm>
            <a:off x="658368" y="4709160"/>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If your tool can't accept file uploads, copy the relevant section's text directly into the chat instead.</a:t>
            </a:r>
            <a:endParaRPr lang="en-US" sz="1300" dirty="0"/>
          </a:p>
        </p:txBody>
      </p:sp>
      <p:sp>
        <p:nvSpPr>
          <p:cNvPr id="12" name="Text 10"/>
          <p:cNvSpPr/>
          <p:nvPr/>
        </p:nvSpPr>
        <p:spPr>
          <a:xfrm>
            <a:off x="658368" y="5989320"/>
            <a:ext cx="10424160" cy="457200"/>
          </a:xfrm>
          <a:prstGeom prst="rect">
            <a:avLst/>
          </a:prstGeom>
          <a:noFill/>
          <a:ln/>
        </p:spPr>
        <p:txBody>
          <a:bodyPr wrap="square" rtlCol="0" anchor="ctr"/>
          <a:lstStyle/>
          <a:p>
            <a:pPr indent="0" marL="0">
              <a:lnSpc>
                <a:spcPts val="1500"/>
              </a:lnSpc>
              <a:buNone/>
            </a:pPr>
            <a:r>
              <a:rPr lang="en-US" sz="1150" i="1" dirty="0">
                <a:solidFill>
                  <a:srgbClr val="6B6270"/>
                </a:solidFill>
                <a:latin typeface="Calibri" pitchFamily="34" charset="0"/>
                <a:ea typeface="Calibri" pitchFamily="34" charset="-122"/>
                <a:cs typeface="Calibri" pitchFamily="34" charset="-120"/>
              </a:rPr>
              <a:t>Keep both answers visible — you'll want the contrast for the debrief.</a:t>
            </a:r>
            <a:endParaRPr lang="en-US" sz="1150" dirty="0"/>
          </a:p>
        </p:txBody>
      </p:sp>
      <p:sp>
        <p:nvSpPr>
          <p:cNvPr id="13" name="Text 11"/>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4" name="Text 12"/>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ONE · DEBRIEF</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What just happened</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This wasn't about the AI being bad — it's about the document being narrow</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 specific department's specific, versioned policy PDF is exactly the kind of thing general training data covers unevenly, if at all. Most of what you'll ever need to fact-check is like this: too specific, too niche, or too recent to be reliably memorized.</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Grounding isn't a vibe, it's a mechanical step</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attach or paste the actual document. Skipping it is the single most common way AI-assisted research goes wrong.</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A grounded answer that can't point to a source is still worth doubling back on</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"grounded" lowers the risk of a made-up answer — it doesn't make every answer automatically correct. That's Beat Two.</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E62"/>
        </a:solidFill>
      </p:bgPr>
    </p:bg>
    <p:spTree>
      <p:nvGrpSpPr>
        <p:cNvPr id="1" name=""/>
        <p:cNvGrpSpPr/>
        <p:nvPr/>
      </p:nvGrpSpPr>
      <p:grpSpPr>
        <a:xfrm>
          <a:off x="0" y="0"/>
          <a:ext cx="0" cy="0"/>
          <a:chOff x="0" y="0"/>
          <a:chExt cx="0" cy="0"/>
        </a:xfrm>
      </p:grpSpPr>
      <p:sp>
        <p:nvSpPr>
          <p:cNvPr id="2" name="Shape 0"/>
          <p:cNvSpPr/>
          <p:nvPr/>
        </p:nvSpPr>
        <p:spPr>
          <a:xfrm>
            <a:off x="9265615" y="4114800"/>
            <a:ext cx="4937760" cy="4937760"/>
          </a:xfrm>
          <a:prstGeom prst="ellipse">
            <a:avLst/>
          </a:prstGeom>
          <a:solidFill>
            <a:srgbClr val="001A54"/>
          </a:solidFill>
          <a:ln/>
        </p:spPr>
      </p:sp>
      <p:sp>
        <p:nvSpPr>
          <p:cNvPr id="3" name="Text 1"/>
          <p:cNvSpPr/>
          <p:nvPr/>
        </p:nvSpPr>
        <p:spPr>
          <a:xfrm>
            <a:off x="658368" y="265176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TWO</a:t>
            </a:r>
            <a:endParaRPr lang="en-US" sz="1250" dirty="0"/>
          </a:p>
        </p:txBody>
      </p:sp>
      <p:sp>
        <p:nvSpPr>
          <p:cNvPr id="4" name="Text 2"/>
          <p:cNvSpPr/>
          <p:nvPr/>
        </p:nvSpPr>
        <p:spPr>
          <a:xfrm>
            <a:off x="658368" y="3017520"/>
            <a:ext cx="10241280" cy="1645920"/>
          </a:xfrm>
          <a:prstGeom prst="rect">
            <a:avLst/>
          </a:prstGeom>
          <a:noFill/>
          <a:ln/>
        </p:spPr>
        <p:txBody>
          <a:bodyPr wrap="square" rtlCol="0" anchor="ctr"/>
          <a:lstStyle/>
          <a:p>
            <a:pPr indent="0" marL="0">
              <a:lnSpc>
                <a:spcPts val="3800"/>
              </a:lnSpc>
              <a:buNone/>
            </a:pPr>
            <a:r>
              <a:rPr lang="en-US" sz="3400" b="1" dirty="0">
                <a:solidFill>
                  <a:srgbClr val="FFFFFF"/>
                </a:solidFill>
                <a:latin typeface="Calibri" pitchFamily="34" charset="0"/>
                <a:ea typeface="Calibri" pitchFamily="34" charset="-122"/>
                <a:cs typeface="Calibri" pitchFamily="34" charset="-120"/>
              </a:rPr>
              <a:t>Extract it. Check it.</a:t>
            </a:r>
            <a:endParaRPr lang="en-US" sz="3400" dirty="0"/>
          </a:p>
        </p:txBody>
      </p:sp>
      <p:sp>
        <p:nvSpPr>
          <p:cNvPr id="5" name="Text 3"/>
          <p:cNvSpPr/>
          <p:nvPr/>
        </p:nvSpPr>
        <p:spPr>
          <a:xfrm>
            <a:off x="658368" y="4343400"/>
            <a:ext cx="8778240" cy="731520"/>
          </a:xfrm>
          <a:prstGeom prst="rect">
            <a:avLst/>
          </a:prstGeom>
          <a:noFill/>
          <a:ln/>
        </p:spPr>
        <p:txBody>
          <a:bodyPr wrap="square" rtlCol="0" anchor="ctr"/>
          <a:lstStyle/>
          <a:p>
            <a:pPr indent="0" marL="0">
              <a:lnSpc>
                <a:spcPts val="2000"/>
              </a:lnSpc>
              <a:buNone/>
            </a:pPr>
            <a:r>
              <a:rPr lang="en-US" sz="1500" dirty="0">
                <a:solidFill>
                  <a:srgbClr val="C7CEE8"/>
                </a:solidFill>
                <a:latin typeface="Calibri" pitchFamily="34" charset="0"/>
                <a:ea typeface="Calibri" pitchFamily="34" charset="-122"/>
                <a:cs typeface="Calibri" pitchFamily="34" charset="-120"/>
              </a:rPr>
              <a:t>A citation is a claim to check, not proof the answer is right. Find the exact fact, in whatever form it's hiding.</a:t>
            </a:r>
            <a:endParaRPr lang="en-US" sz="1500" dirty="0"/>
          </a:p>
        </p:txBody>
      </p:sp>
      <p:sp>
        <p:nvSpPr>
          <p:cNvPr id="6" name="Text 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AAB3D6"/>
                </a:solidFill>
                <a:latin typeface="Calibri" pitchFamily="34" charset="0"/>
                <a:ea typeface="Calibri" pitchFamily="34" charset="-122"/>
                <a:cs typeface="Calibri" pitchFamily="34" charset="-120"/>
              </a:rPr>
              <a:t>MODULE 4 · SEARCH &amp; VERIFY</a:t>
            </a:r>
            <a:endParaRPr lang="en-US" sz="900" dirty="0"/>
          </a:p>
        </p:txBody>
      </p:sp>
      <p:sp>
        <p:nvSpPr>
          <p:cNvPr id="7" name="Text 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AAB3D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TWO</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The core technique: quote, then interpret — separately</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Ask for two different things</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the exact source text it's relying on (a verbatim quote, not a paraphrase) — and, separately, its interpretation of that text.</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Put them side by side</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drift between the two — the interpretation claiming more, or something different, than the quote actually supports — is the tell.</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This turns "trust the answer" into a two-second visual check</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you're not re-deriving the answer yourself — you're checking that the quote actually says what the answer claims it says.</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TWO</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Exact facts hide in more than one format</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In running text</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the requirements document is thirteen sections of prose — easy to search, easy to misquote if you don't check word-for-word, easy to grab the sentence next to the one you actually needed.</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In a table</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the official UIC catalog's admissions-requirements table — easy to skim past the footnote that tells you which row actually applies.</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The same skill, two different shapes</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extracting a number from prose and extracting a number from a table both come down to the same question: can you point to the exact cell or sentence, not just a confident-sounding paraphrase?</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TWO · ACTIVITY</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Pull two exact facts — text and table</a:t>
            </a:r>
            <a:endParaRPr lang="en-US" sz="2600" dirty="0"/>
          </a:p>
        </p:txBody>
      </p:sp>
      <p:sp>
        <p:nvSpPr>
          <p:cNvPr id="4" name="Shape 2"/>
          <p:cNvSpPr/>
          <p:nvPr/>
        </p:nvSpPr>
        <p:spPr>
          <a:xfrm>
            <a:off x="10527487" y="530352"/>
            <a:ext cx="1005840" cy="329184"/>
          </a:xfrm>
          <a:prstGeom prst="roundRect">
            <a:avLst>
              <a:gd name="adj" fmla="val 50000"/>
            </a:avLst>
          </a:prstGeom>
          <a:solidFill>
            <a:srgbClr val="FBEFF7"/>
          </a:solidFill>
          <a:ln/>
        </p:spPr>
      </p:sp>
      <p:sp>
        <p:nvSpPr>
          <p:cNvPr id="5" name="Text 3"/>
          <p:cNvSpPr/>
          <p:nvPr/>
        </p:nvSpPr>
        <p:spPr>
          <a:xfrm>
            <a:off x="10527487" y="530352"/>
            <a:ext cx="1005840" cy="329184"/>
          </a:xfrm>
          <a:prstGeom prst="rect">
            <a:avLst/>
          </a:prstGeom>
          <a:noFill/>
          <a:ln/>
        </p:spPr>
        <p:txBody>
          <a:bodyPr wrap="square" rtlCol="0" anchor="ctr"/>
          <a:lstStyle/>
          <a:p>
            <a:pPr algn="ctr" indent="0" marL="0">
              <a:buNone/>
            </a:pPr>
            <a:r>
              <a:rPr lang="en-US" sz="1100" b="1" spc="100" kern="0" dirty="0">
                <a:solidFill>
                  <a:srgbClr val="7C1C6B"/>
                </a:solidFill>
                <a:latin typeface="Calibri" pitchFamily="34" charset="0"/>
                <a:ea typeface="Calibri" pitchFamily="34" charset="-122"/>
                <a:cs typeface="Calibri" pitchFamily="34" charset="-120"/>
              </a:rPr>
              <a:t>15 MIN</a:t>
            </a:r>
            <a:endParaRPr lang="en-US" sz="1100" dirty="0"/>
          </a:p>
        </p:txBody>
      </p:sp>
      <p:sp>
        <p:nvSpPr>
          <p:cNvPr id="6" name="Shape 4"/>
          <p:cNvSpPr/>
          <p:nvPr/>
        </p:nvSpPr>
        <p:spPr>
          <a:xfrm>
            <a:off x="658368" y="1965960"/>
            <a:ext cx="10881360" cy="1234440"/>
          </a:xfrm>
          <a:prstGeom prst="roundRect">
            <a:avLst>
              <a:gd name="adj" fmla="val 8889"/>
            </a:avLst>
          </a:prstGeom>
          <a:solidFill>
            <a:srgbClr val="FBEFF7"/>
          </a:solidFill>
          <a:ln/>
        </p:spPr>
      </p:sp>
      <p:sp>
        <p:nvSpPr>
          <p:cNvPr id="7" name="Text 5"/>
          <p:cNvSpPr/>
          <p:nvPr/>
        </p:nvSpPr>
        <p:spPr>
          <a:xfrm>
            <a:off x="978408" y="2130552"/>
            <a:ext cx="10241280" cy="905256"/>
          </a:xfrm>
          <a:prstGeom prst="rect">
            <a:avLst/>
          </a:prstGeom>
          <a:noFill/>
          <a:ln/>
        </p:spPr>
        <p:txBody>
          <a:bodyPr wrap="square" rtlCol="0" anchor="ctr"/>
          <a:lstStyle/>
          <a:p>
            <a:pPr indent="0" marL="0">
              <a:lnSpc>
                <a:spcPts val="2000"/>
              </a:lnSpc>
              <a:buNone/>
            </a:pPr>
            <a:r>
              <a:rPr lang="en-US" sz="1500" dirty="0">
                <a:solidFill>
                  <a:srgbClr val="201A1E"/>
                </a:solidFill>
                <a:latin typeface="Calibri" pitchFamily="34" charset="0"/>
                <a:ea typeface="Calibri" pitchFamily="34" charset="-122"/>
                <a:cs typeface="Calibri" pitchFamily="34" charset="-120"/>
              </a:rPr>
              <a:t>Using your grounded assistant: (1) get the exact committee composition required for a PhD Preliminary Exam. (2) get the exact minimum TOEFL iBT score for admission — and check whether it depends on when the test was taken.</a:t>
            </a:r>
            <a:endParaRPr lang="en-US" sz="1500" dirty="0"/>
          </a:p>
        </p:txBody>
      </p:sp>
      <p:sp>
        <p:nvSpPr>
          <p:cNvPr id="8" name="Text 6"/>
          <p:cNvSpPr/>
          <p:nvPr/>
        </p:nvSpPr>
        <p:spPr>
          <a:xfrm>
            <a:off x="658368" y="3520440"/>
            <a:ext cx="7315200" cy="274320"/>
          </a:xfrm>
          <a:prstGeom prst="rect">
            <a:avLst/>
          </a:prstGeom>
          <a:noFill/>
          <a:ln/>
        </p:spPr>
        <p:txBody>
          <a:bodyPr wrap="square" rtlCol="0" anchor="ctr"/>
          <a:lstStyle/>
          <a:p>
            <a:pPr indent="0" marL="0">
              <a:buNone/>
            </a:pPr>
            <a:r>
              <a:rPr lang="en-US" sz="1050" b="1" spc="100" kern="0" dirty="0">
                <a:solidFill>
                  <a:srgbClr val="6B6270"/>
                </a:solidFill>
                <a:latin typeface="Calibri" pitchFamily="34" charset="0"/>
                <a:ea typeface="Calibri" pitchFamily="34" charset="-122"/>
                <a:cs typeface="Calibri" pitchFamily="34" charset="-120"/>
              </a:rPr>
              <a:t>QUESTIONS / CHECKS</a:t>
            </a:r>
            <a:endParaRPr lang="en-US" sz="1050" dirty="0"/>
          </a:p>
        </p:txBody>
      </p:sp>
      <p:sp>
        <p:nvSpPr>
          <p:cNvPr id="9" name="Text 7"/>
          <p:cNvSpPr/>
          <p:nvPr/>
        </p:nvSpPr>
        <p:spPr>
          <a:xfrm>
            <a:off x="658368" y="3867912"/>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For each one, ask for the verbatim source line alongside the answer — per the technique from the last slide.</a:t>
            </a:r>
            <a:endParaRPr lang="en-US" sz="1300" dirty="0"/>
          </a:p>
        </p:txBody>
      </p:sp>
      <p:sp>
        <p:nvSpPr>
          <p:cNvPr id="10" name="Text 8"/>
          <p:cNvSpPr/>
          <p:nvPr/>
        </p:nvSpPr>
        <p:spPr>
          <a:xfrm>
            <a:off x="658368" y="4288536"/>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For the TOEFL question specifically: does your assistant notice there might be more than one right-looking number?</a:t>
            </a:r>
            <a:endParaRPr lang="en-US" sz="1300" dirty="0"/>
          </a:p>
        </p:txBody>
      </p:sp>
      <p:sp>
        <p:nvSpPr>
          <p:cNvPr id="11" name="Text 9"/>
          <p:cNvSpPr/>
          <p:nvPr/>
        </p:nvSpPr>
        <p:spPr>
          <a:xfrm>
            <a:off x="658368" y="4709160"/>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Write down or screenshot your two answers — you'll use the second skill next.</a:t>
            </a:r>
            <a:endParaRPr lang="en-US" sz="1300" dirty="0"/>
          </a:p>
        </p:txBody>
      </p:sp>
      <p:sp>
        <p:nvSpPr>
          <p:cNvPr id="12" name="Text 10"/>
          <p:cNvSpPr/>
          <p:nvPr/>
        </p:nvSpPr>
        <p:spPr>
          <a:xfrm>
            <a:off x="658368" y="5989320"/>
            <a:ext cx="10424160" cy="457200"/>
          </a:xfrm>
          <a:prstGeom prst="rect">
            <a:avLst/>
          </a:prstGeom>
          <a:noFill/>
          <a:ln/>
        </p:spPr>
        <p:txBody>
          <a:bodyPr wrap="square" rtlCol="0" anchor="ctr"/>
          <a:lstStyle/>
          <a:p>
            <a:pPr indent="0" marL="0">
              <a:lnSpc>
                <a:spcPts val="1500"/>
              </a:lnSpc>
              <a:buNone/>
            </a:pPr>
            <a:r>
              <a:rPr lang="en-US" sz="1150" i="1" dirty="0">
                <a:solidFill>
                  <a:srgbClr val="6B6270"/>
                </a:solidFill>
                <a:latin typeface="Calibri" pitchFamily="34" charset="0"/>
                <a:ea typeface="Calibri" pitchFamily="34" charset="-122"/>
                <a:cs typeface="Calibri" pitchFamily="34" charset="-120"/>
              </a:rPr>
              <a:t>The TOEFL table is on the official UIC Academic Catalog page, not in the requirements PDF — link in the Lab Guide.</a:t>
            </a:r>
            <a:endParaRPr lang="en-US" sz="1150" dirty="0"/>
          </a:p>
        </p:txBody>
      </p:sp>
      <p:sp>
        <p:nvSpPr>
          <p:cNvPr id="13" name="Text 11"/>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4" name="Text 12"/>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TWO · ACTIVITY</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Now check a claim a friend made</a:t>
            </a:r>
            <a:endParaRPr lang="en-US" sz="2600" dirty="0"/>
          </a:p>
        </p:txBody>
      </p:sp>
      <p:sp>
        <p:nvSpPr>
          <p:cNvPr id="4" name="Shape 2"/>
          <p:cNvSpPr/>
          <p:nvPr/>
        </p:nvSpPr>
        <p:spPr>
          <a:xfrm>
            <a:off x="10527487" y="530352"/>
            <a:ext cx="1005840" cy="329184"/>
          </a:xfrm>
          <a:prstGeom prst="roundRect">
            <a:avLst>
              <a:gd name="adj" fmla="val 50000"/>
            </a:avLst>
          </a:prstGeom>
          <a:solidFill>
            <a:srgbClr val="FBEFF7"/>
          </a:solidFill>
          <a:ln/>
        </p:spPr>
      </p:sp>
      <p:sp>
        <p:nvSpPr>
          <p:cNvPr id="5" name="Text 3"/>
          <p:cNvSpPr/>
          <p:nvPr/>
        </p:nvSpPr>
        <p:spPr>
          <a:xfrm>
            <a:off x="10527487" y="530352"/>
            <a:ext cx="1005840" cy="329184"/>
          </a:xfrm>
          <a:prstGeom prst="rect">
            <a:avLst/>
          </a:prstGeom>
          <a:noFill/>
          <a:ln/>
        </p:spPr>
        <p:txBody>
          <a:bodyPr wrap="square" rtlCol="0" anchor="ctr"/>
          <a:lstStyle/>
          <a:p>
            <a:pPr algn="ctr" indent="0" marL="0">
              <a:buNone/>
            </a:pPr>
            <a:r>
              <a:rPr lang="en-US" sz="1100" b="1" spc="100" kern="0" dirty="0">
                <a:solidFill>
                  <a:srgbClr val="7C1C6B"/>
                </a:solidFill>
                <a:latin typeface="Calibri" pitchFamily="34" charset="0"/>
                <a:ea typeface="Calibri" pitchFamily="34" charset="-122"/>
                <a:cs typeface="Calibri" pitchFamily="34" charset="-120"/>
              </a:rPr>
              <a:t>15 MIN</a:t>
            </a:r>
            <a:endParaRPr lang="en-US" sz="1100" dirty="0"/>
          </a:p>
        </p:txBody>
      </p:sp>
      <p:sp>
        <p:nvSpPr>
          <p:cNvPr id="6" name="Shape 4"/>
          <p:cNvSpPr/>
          <p:nvPr/>
        </p:nvSpPr>
        <p:spPr>
          <a:xfrm>
            <a:off x="658368" y="1965960"/>
            <a:ext cx="10881360" cy="1234440"/>
          </a:xfrm>
          <a:prstGeom prst="roundRect">
            <a:avLst>
              <a:gd name="adj" fmla="val 8889"/>
            </a:avLst>
          </a:prstGeom>
          <a:solidFill>
            <a:srgbClr val="FBF1DD"/>
          </a:solidFill>
          <a:ln/>
        </p:spPr>
      </p:sp>
      <p:sp>
        <p:nvSpPr>
          <p:cNvPr id="7" name="Text 5"/>
          <p:cNvSpPr/>
          <p:nvPr/>
        </p:nvSpPr>
        <p:spPr>
          <a:xfrm>
            <a:off x="978408" y="2130552"/>
            <a:ext cx="10241280" cy="905256"/>
          </a:xfrm>
          <a:prstGeom prst="rect">
            <a:avLst/>
          </a:prstGeom>
          <a:noFill/>
          <a:ln/>
        </p:spPr>
        <p:txBody>
          <a:bodyPr wrap="square" rtlCol="0" anchor="ctr"/>
          <a:lstStyle/>
          <a:p>
            <a:pPr indent="0" marL="0">
              <a:lnSpc>
                <a:spcPts val="2000"/>
              </a:lnSpc>
              <a:buNone/>
            </a:pPr>
            <a:r>
              <a:rPr lang="en-US" sz="1500" dirty="0">
                <a:solidFill>
                  <a:srgbClr val="201A1E"/>
                </a:solidFill>
                <a:latin typeface="Calibri" pitchFamily="34" charset="0"/>
                <a:ea typeface="Calibri" pitchFamily="34" charset="-122"/>
                <a:cs typeface="Calibri" pitchFamily="34" charset="-120"/>
              </a:rPr>
              <a:t>A friend who already has a master's degree tells Priya: "You'll need at least 32 hours of coursework before you can start on your PhD research at UIC." Using your grounded assistant, check whether that's accurate.</a:t>
            </a:r>
            <a:endParaRPr lang="en-US" sz="1500" dirty="0"/>
          </a:p>
        </p:txBody>
      </p:sp>
      <p:sp>
        <p:nvSpPr>
          <p:cNvPr id="8" name="Text 6"/>
          <p:cNvSpPr/>
          <p:nvPr/>
        </p:nvSpPr>
        <p:spPr>
          <a:xfrm>
            <a:off x="658368" y="3520440"/>
            <a:ext cx="7315200" cy="274320"/>
          </a:xfrm>
          <a:prstGeom prst="rect">
            <a:avLst/>
          </a:prstGeom>
          <a:noFill/>
          <a:ln/>
        </p:spPr>
        <p:txBody>
          <a:bodyPr wrap="square" rtlCol="0" anchor="ctr"/>
          <a:lstStyle/>
          <a:p>
            <a:pPr indent="0" marL="0">
              <a:buNone/>
            </a:pPr>
            <a:r>
              <a:rPr lang="en-US" sz="1050" b="1" spc="100" kern="0" dirty="0">
                <a:solidFill>
                  <a:srgbClr val="6B6270"/>
                </a:solidFill>
                <a:latin typeface="Calibri" pitchFamily="34" charset="0"/>
                <a:ea typeface="Calibri" pitchFamily="34" charset="-122"/>
                <a:cs typeface="Calibri" pitchFamily="34" charset="-120"/>
              </a:rPr>
              <a:t>QUESTIONS / CHECKS</a:t>
            </a:r>
            <a:endParaRPr lang="en-US" sz="1050" dirty="0"/>
          </a:p>
        </p:txBody>
      </p:sp>
      <p:sp>
        <p:nvSpPr>
          <p:cNvPr id="9" name="Text 7"/>
          <p:cNvSpPr/>
          <p:nvPr/>
        </p:nvSpPr>
        <p:spPr>
          <a:xfrm>
            <a:off x="658368" y="3867912"/>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Don't just ask "is this true" — ask your assistant to quote the exact passage that supports or contradicts the claim.</a:t>
            </a:r>
            <a:endParaRPr lang="en-US" sz="1300" dirty="0"/>
          </a:p>
        </p:txBody>
      </p:sp>
      <p:sp>
        <p:nvSpPr>
          <p:cNvPr id="10" name="Text 8"/>
          <p:cNvSpPr/>
          <p:nvPr/>
        </p:nvSpPr>
        <p:spPr>
          <a:xfrm>
            <a:off x="658368" y="4288536"/>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If the number is wrong, figure out where the right number actually comes from — and why the wrong one is also a real number, just for a different situation.</a:t>
            </a:r>
            <a:endParaRPr lang="en-US" sz="1300" dirty="0"/>
          </a:p>
        </p:txBody>
      </p:sp>
      <p:sp>
        <p:nvSpPr>
          <p:cNvPr id="11" name="Text 9"/>
          <p:cNvSpPr/>
          <p:nvPr/>
        </p:nvSpPr>
        <p:spPr>
          <a:xfrm>
            <a:off x="658368" y="4709160"/>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This isn't a planted error in anyone's real writing — it's a realistic mix-up between two genuinely similar, genuinely real requirements.</a:t>
            </a:r>
            <a:endParaRPr lang="en-US" sz="1300" dirty="0"/>
          </a:p>
        </p:txBody>
      </p:sp>
      <p:sp>
        <p:nvSpPr>
          <p:cNvPr id="12" name="Text 10"/>
          <p:cNvSpPr/>
          <p:nvPr/>
        </p:nvSpPr>
        <p:spPr>
          <a:xfrm>
            <a:off x="658368" y="5989320"/>
            <a:ext cx="10424160" cy="457200"/>
          </a:xfrm>
          <a:prstGeom prst="rect">
            <a:avLst/>
          </a:prstGeom>
          <a:noFill/>
          <a:ln/>
        </p:spPr>
        <p:txBody>
          <a:bodyPr wrap="square" rtlCol="0" anchor="ctr"/>
          <a:lstStyle/>
          <a:p>
            <a:pPr indent="0" marL="0">
              <a:lnSpc>
                <a:spcPts val="1500"/>
              </a:lnSpc>
              <a:buNone/>
            </a:pPr>
            <a:r>
              <a:rPr lang="en-US" sz="1150" i="1" dirty="0">
                <a:solidFill>
                  <a:srgbClr val="6B6270"/>
                </a:solidFill>
                <a:latin typeface="Calibri" pitchFamily="34" charset="0"/>
                <a:ea typeface="Calibri" pitchFamily="34" charset="-122"/>
                <a:cs typeface="Calibri" pitchFamily="34" charset="-120"/>
              </a:rPr>
              <a:t>Don't confirm or deny anything when someone asks “is this the mix-up?” — ask how they'd check.</a:t>
            </a:r>
            <a:endParaRPr lang="en-US" sz="1150" dirty="0"/>
          </a:p>
        </p:txBody>
      </p:sp>
      <p:sp>
        <p:nvSpPr>
          <p:cNvPr id="13" name="Text 11"/>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4" name="Text 12"/>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TWO · DEBRIEF</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What made this hard to catch — and why it's realistic</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Both numbers were real — the mistake was matching the wrong one to the wrong situation</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32 hours is correct for direct-from-bachelor's admits. 24 hours is correct for students entering with a prior master's. Priya's friend just applied the wrong branch.</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The TOEFL table had the same shape of trap</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two rows, two very different-looking numbers, for the same test — the only thing that tells you which row applies is a test date, easy to skip past.</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Neither of these needed a fabricated error to be genuinely hard</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long, real, official documents are full of real branches, real footnotes, and real exceptions. Grounding gets you the document — reading it correctly is still on you.</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1E62"/>
        </a:solidFill>
      </p:bgPr>
    </p:bg>
    <p:spTree>
      <p:nvGrpSpPr>
        <p:cNvPr id="1" name=""/>
        <p:cNvGrpSpPr/>
        <p:nvPr/>
      </p:nvGrpSpPr>
      <p:grpSpPr>
        <a:xfrm>
          <a:off x="0" y="0"/>
          <a:ext cx="0" cy="0"/>
          <a:chOff x="0" y="0"/>
          <a:chExt cx="0" cy="0"/>
        </a:xfrm>
      </p:grpSpPr>
      <p:sp>
        <p:nvSpPr>
          <p:cNvPr id="2" name="Shape 0"/>
          <p:cNvSpPr/>
          <p:nvPr/>
        </p:nvSpPr>
        <p:spPr>
          <a:xfrm>
            <a:off x="9265615" y="4114800"/>
            <a:ext cx="4937760" cy="4937760"/>
          </a:xfrm>
          <a:prstGeom prst="ellipse">
            <a:avLst/>
          </a:prstGeom>
          <a:solidFill>
            <a:srgbClr val="001A54"/>
          </a:solidFill>
          <a:ln/>
        </p:spPr>
      </p:sp>
      <p:sp>
        <p:nvSpPr>
          <p:cNvPr id="3" name="Text 1"/>
          <p:cNvSpPr/>
          <p:nvPr/>
        </p:nvSpPr>
        <p:spPr>
          <a:xfrm>
            <a:off x="658368" y="265176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THREE</a:t>
            </a:r>
            <a:endParaRPr lang="en-US" sz="1250" dirty="0"/>
          </a:p>
        </p:txBody>
      </p:sp>
      <p:sp>
        <p:nvSpPr>
          <p:cNvPr id="4" name="Text 2"/>
          <p:cNvSpPr/>
          <p:nvPr/>
        </p:nvSpPr>
        <p:spPr>
          <a:xfrm>
            <a:off x="658368" y="3017520"/>
            <a:ext cx="10241280" cy="1645920"/>
          </a:xfrm>
          <a:prstGeom prst="rect">
            <a:avLst/>
          </a:prstGeom>
          <a:noFill/>
          <a:ln/>
        </p:spPr>
        <p:txBody>
          <a:bodyPr wrap="square" rtlCol="0" anchor="ctr"/>
          <a:lstStyle/>
          <a:p>
            <a:pPr indent="0" marL="0">
              <a:lnSpc>
                <a:spcPts val="3800"/>
              </a:lnSpc>
              <a:buNone/>
            </a:pPr>
            <a:r>
              <a:rPr lang="en-US" sz="3400" b="1" dirty="0">
                <a:solidFill>
                  <a:srgbClr val="FFFFFF"/>
                </a:solidFill>
                <a:latin typeface="Calibri" pitchFamily="34" charset="0"/>
                <a:ea typeface="Calibri" pitchFamily="34" charset="-122"/>
                <a:cs typeface="Calibri" pitchFamily="34" charset="-120"/>
              </a:rPr>
              <a:t>Summarize it. Verify that, too.</a:t>
            </a:r>
            <a:endParaRPr lang="en-US" sz="3400" dirty="0"/>
          </a:p>
        </p:txBody>
      </p:sp>
      <p:sp>
        <p:nvSpPr>
          <p:cNvPr id="5" name="Text 3"/>
          <p:cNvSpPr/>
          <p:nvPr/>
        </p:nvSpPr>
        <p:spPr>
          <a:xfrm>
            <a:off x="658368" y="4343400"/>
            <a:ext cx="8778240" cy="731520"/>
          </a:xfrm>
          <a:prstGeom prst="rect">
            <a:avLst/>
          </a:prstGeom>
          <a:noFill/>
          <a:ln/>
        </p:spPr>
        <p:txBody>
          <a:bodyPr wrap="square" rtlCol="0" anchor="ctr"/>
          <a:lstStyle/>
          <a:p>
            <a:pPr indent="0" marL="0">
              <a:lnSpc>
                <a:spcPts val="2000"/>
              </a:lnSpc>
              <a:buNone/>
            </a:pPr>
            <a:r>
              <a:rPr lang="en-US" sz="1500" dirty="0">
                <a:solidFill>
                  <a:srgbClr val="C7CEE8"/>
                </a:solidFill>
                <a:latin typeface="Calibri" pitchFamily="34" charset="0"/>
                <a:ea typeface="Calibri" pitchFamily="34" charset="-122"/>
                <a:cs typeface="Calibri" pitchFamily="34" charset="-120"/>
              </a:rPr>
              <a:t>What do you check when the answer isn't a quote — when it's meaning, synthesis, or "what's the full picture"?</a:t>
            </a:r>
            <a:endParaRPr lang="en-US" sz="1500" dirty="0"/>
          </a:p>
        </p:txBody>
      </p:sp>
      <p:sp>
        <p:nvSpPr>
          <p:cNvPr id="6" name="Text 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AAB3D6"/>
                </a:solidFill>
                <a:latin typeface="Calibri" pitchFamily="34" charset="0"/>
                <a:ea typeface="Calibri" pitchFamily="34" charset="-122"/>
                <a:cs typeface="Calibri" pitchFamily="34" charset="-120"/>
              </a:rPr>
              <a:t>MODULE 4 · SEARCH &amp; VERIFY</a:t>
            </a:r>
            <a:endParaRPr lang="en-US" sz="900" dirty="0"/>
          </a:p>
        </p:txBody>
      </p:sp>
      <p:sp>
        <p:nvSpPr>
          <p:cNvPr id="7" name="Text 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AAB3D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THREE</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This is a different kind of claim</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"How many colloquia are required" has one right answer, sitting in one place</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you already know how to check that — Beat Two.</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"What's the full path from admission to defense" doesn't appear verbatim anywhere</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the answer has to be assembled from the advisor rules, the qualifier section, the colloquium requirement, and the preliminary and final defense sections together. No single sentence to hold it against.</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This is most of what "AI search" actually gets used for</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summaries, explanations, "what does this mean" — not simple lookups. It's also the hardest kind to verify.</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THREE</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How to verify a claim that isn't a quote</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Trace each piece of the answer back to some section</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not word-for-word — but you should be able to point to where each part came from, across one or more sections of the document.</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Flag anything the answer adds that isn't traceable to any source</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 plausible-sounding deadline, a number, a step that doesn't exist — that's the tell for a summary that's drifted into invention.</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Triangulate: ask a second, differently-phrased question</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a claim that only survives one specific phrasing of the question is worth a second look.</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THREE · ACTIVITY</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Answer the question with no verbatim source</a:t>
            </a:r>
            <a:endParaRPr lang="en-US" sz="2600" dirty="0"/>
          </a:p>
        </p:txBody>
      </p:sp>
      <p:sp>
        <p:nvSpPr>
          <p:cNvPr id="4" name="Shape 2"/>
          <p:cNvSpPr/>
          <p:nvPr/>
        </p:nvSpPr>
        <p:spPr>
          <a:xfrm>
            <a:off x="10527487" y="530352"/>
            <a:ext cx="1005840" cy="329184"/>
          </a:xfrm>
          <a:prstGeom prst="roundRect">
            <a:avLst>
              <a:gd name="adj" fmla="val 50000"/>
            </a:avLst>
          </a:prstGeom>
          <a:solidFill>
            <a:srgbClr val="FBEFF7"/>
          </a:solidFill>
          <a:ln/>
        </p:spPr>
      </p:sp>
      <p:sp>
        <p:nvSpPr>
          <p:cNvPr id="5" name="Text 3"/>
          <p:cNvSpPr/>
          <p:nvPr/>
        </p:nvSpPr>
        <p:spPr>
          <a:xfrm>
            <a:off x="10527487" y="530352"/>
            <a:ext cx="1005840" cy="329184"/>
          </a:xfrm>
          <a:prstGeom prst="rect">
            <a:avLst/>
          </a:prstGeom>
          <a:noFill/>
          <a:ln/>
        </p:spPr>
        <p:txBody>
          <a:bodyPr wrap="square" rtlCol="0" anchor="ctr"/>
          <a:lstStyle/>
          <a:p>
            <a:pPr algn="ctr" indent="0" marL="0">
              <a:buNone/>
            </a:pPr>
            <a:r>
              <a:rPr lang="en-US" sz="1100" b="1" spc="100" kern="0" dirty="0">
                <a:solidFill>
                  <a:srgbClr val="7C1C6B"/>
                </a:solidFill>
                <a:latin typeface="Calibri" pitchFamily="34" charset="0"/>
                <a:ea typeface="Calibri" pitchFamily="34" charset="-122"/>
                <a:cs typeface="Calibri" pitchFamily="34" charset="-120"/>
              </a:rPr>
              <a:t>18 MIN</a:t>
            </a:r>
            <a:endParaRPr lang="en-US" sz="1100" dirty="0"/>
          </a:p>
        </p:txBody>
      </p:sp>
      <p:sp>
        <p:nvSpPr>
          <p:cNvPr id="6" name="Shape 4"/>
          <p:cNvSpPr/>
          <p:nvPr/>
        </p:nvSpPr>
        <p:spPr>
          <a:xfrm>
            <a:off x="658368" y="1965960"/>
            <a:ext cx="10881360" cy="1234440"/>
          </a:xfrm>
          <a:prstGeom prst="roundRect">
            <a:avLst>
              <a:gd name="adj" fmla="val 8889"/>
            </a:avLst>
          </a:prstGeom>
          <a:solidFill>
            <a:srgbClr val="FBEFF7"/>
          </a:solidFill>
          <a:ln/>
        </p:spPr>
      </p:sp>
      <p:sp>
        <p:nvSpPr>
          <p:cNvPr id="7" name="Text 5"/>
          <p:cNvSpPr/>
          <p:nvPr/>
        </p:nvSpPr>
        <p:spPr>
          <a:xfrm>
            <a:off x="978408" y="2130552"/>
            <a:ext cx="10241280" cy="905256"/>
          </a:xfrm>
          <a:prstGeom prst="rect">
            <a:avLst/>
          </a:prstGeom>
          <a:noFill/>
          <a:ln/>
        </p:spPr>
        <p:txBody>
          <a:bodyPr wrap="square" rtlCol="0" anchor="ctr"/>
          <a:lstStyle/>
          <a:p>
            <a:pPr indent="0" marL="0">
              <a:lnSpc>
                <a:spcPts val="2000"/>
              </a:lnSpc>
              <a:buNone/>
            </a:pPr>
            <a:r>
              <a:rPr lang="en-US" sz="1500" dirty="0">
                <a:solidFill>
                  <a:srgbClr val="201A1E"/>
                </a:solidFill>
                <a:latin typeface="Calibri" pitchFamily="34" charset="0"/>
                <a:ea typeface="Calibri" pitchFamily="34" charset="-122"/>
                <a:cs typeface="Calibri" pitchFamily="34" charset="-120"/>
              </a:rPr>
              <a:t>Ask your grounded assistant: "Summarize, in a few sentences, everything a student entering with a master's degree needs to accomplish, in order, from admission through their final defense, with roughly when each milestone should happen."</a:t>
            </a:r>
            <a:endParaRPr lang="en-US" sz="1500" dirty="0"/>
          </a:p>
        </p:txBody>
      </p:sp>
      <p:sp>
        <p:nvSpPr>
          <p:cNvPr id="8" name="Text 6"/>
          <p:cNvSpPr/>
          <p:nvPr/>
        </p:nvSpPr>
        <p:spPr>
          <a:xfrm>
            <a:off x="658368" y="3520440"/>
            <a:ext cx="7315200" cy="274320"/>
          </a:xfrm>
          <a:prstGeom prst="rect">
            <a:avLst/>
          </a:prstGeom>
          <a:noFill/>
          <a:ln/>
        </p:spPr>
        <p:txBody>
          <a:bodyPr wrap="square" rtlCol="0" anchor="ctr"/>
          <a:lstStyle/>
          <a:p>
            <a:pPr indent="0" marL="0">
              <a:buNone/>
            </a:pPr>
            <a:r>
              <a:rPr lang="en-US" sz="1050" b="1" spc="100" kern="0" dirty="0">
                <a:solidFill>
                  <a:srgbClr val="6B6270"/>
                </a:solidFill>
                <a:latin typeface="Calibri" pitchFamily="34" charset="0"/>
                <a:ea typeface="Calibri" pitchFamily="34" charset="-122"/>
                <a:cs typeface="Calibri" pitchFamily="34" charset="-120"/>
              </a:rPr>
              <a:t>QUESTIONS / CHECKS</a:t>
            </a:r>
            <a:endParaRPr lang="en-US" sz="1050" dirty="0"/>
          </a:p>
        </p:txBody>
      </p:sp>
      <p:sp>
        <p:nvSpPr>
          <p:cNvPr id="9" name="Text 7"/>
          <p:cNvSpPr/>
          <p:nvPr/>
        </p:nvSpPr>
        <p:spPr>
          <a:xfrm>
            <a:off x="658368" y="3867912"/>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Apply the previous slide: what's each part of the answer tracing to, and what (if anything) isn't traceable to a source?</a:t>
            </a:r>
            <a:endParaRPr lang="en-US" sz="1300" dirty="0"/>
          </a:p>
        </p:txBody>
      </p:sp>
      <p:sp>
        <p:nvSpPr>
          <p:cNvPr id="10" name="Text 8"/>
          <p:cNvSpPr/>
          <p:nvPr/>
        </p:nvSpPr>
        <p:spPr>
          <a:xfrm>
            <a:off x="658368" y="4288536"/>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Try re-asking with different wording — does the timeline hold up, or does something shift or disappear?</a:t>
            </a:r>
            <a:endParaRPr lang="en-US" sz="1300" dirty="0"/>
          </a:p>
        </p:txBody>
      </p:sp>
      <p:sp>
        <p:nvSpPr>
          <p:cNvPr id="11" name="Text 9"/>
          <p:cNvSpPr/>
          <p:nvPr/>
        </p:nvSpPr>
        <p:spPr>
          <a:xfrm>
            <a:off x="658368" y="4709160"/>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A weak summary usually turns the colloquium and CS 590 requirements into a sequential step instead of something running in parallel with everything else — check for that specifically.</a:t>
            </a:r>
            <a:endParaRPr lang="en-US" sz="1300" dirty="0"/>
          </a:p>
        </p:txBody>
      </p:sp>
      <p:sp>
        <p:nvSpPr>
          <p:cNvPr id="12" name="Text 10"/>
          <p:cNvSpPr/>
          <p:nvPr/>
        </p:nvSpPr>
        <p:spPr>
          <a:xfrm>
            <a:off x="658368" y="5989320"/>
            <a:ext cx="10424160" cy="457200"/>
          </a:xfrm>
          <a:prstGeom prst="rect">
            <a:avLst/>
          </a:prstGeom>
          <a:noFill/>
          <a:ln/>
        </p:spPr>
        <p:txBody>
          <a:bodyPr wrap="square" rtlCol="0" anchor="ctr"/>
          <a:lstStyle/>
          <a:p>
            <a:pPr indent="0" marL="0">
              <a:lnSpc>
                <a:spcPts val="1500"/>
              </a:lnSpc>
              <a:buNone/>
            </a:pPr>
            <a:r>
              <a:rPr lang="en-US" sz="1150" i="1" dirty="0">
                <a:solidFill>
                  <a:srgbClr val="6B6270"/>
                </a:solidFill>
                <a:latin typeface="Calibri" pitchFamily="34" charset="0"/>
                <a:ea typeface="Calibri" pitchFamily="34" charset="-122"/>
                <a:cs typeface="Calibri" pitchFamily="34" charset="-120"/>
              </a:rPr>
              <a:t>There's no single "right" sentence here — the point is whether you can defend every part of the answer you got.</a:t>
            </a:r>
            <a:endParaRPr lang="en-US" sz="1150" dirty="0"/>
          </a:p>
        </p:txBody>
      </p:sp>
      <p:sp>
        <p:nvSpPr>
          <p:cNvPr id="13" name="Text 11"/>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4" name="Text 12"/>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BEAT THREE · DEBRIEF</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Why this beat is the hard one</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There's no shortcut equivalent to Beat Two's quote-check</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you can't just diff a summary against one sentence. Verifying synthesis takes more judgment, not less — even with a perfectly grounded assistant.</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A citation attached to a summary is not proof the summary is right</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the citation might support one clause and not the rest. Check the whole claim, not just whether a source exists somewhere nearby.</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This is the skill that's actually load-bearing going forward</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verbatim lookups are the easy fraction of what AI search gets used for. Synthesis and "what does this mean" are the rest — and the part that's still yours to check.</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1E62"/>
        </a:solidFill>
      </p:bgPr>
    </p:bg>
    <p:spTree>
      <p:nvGrpSpPr>
        <p:cNvPr id="1" name=""/>
        <p:cNvGrpSpPr/>
        <p:nvPr/>
      </p:nvGrpSpPr>
      <p:grpSpPr>
        <a:xfrm>
          <a:off x="0" y="0"/>
          <a:ext cx="0" cy="0"/>
          <a:chOff x="0" y="0"/>
          <a:chExt cx="0" cy="0"/>
        </a:xfrm>
      </p:grpSpPr>
      <p:sp>
        <p:nvSpPr>
          <p:cNvPr id="2" name="Shape 0"/>
          <p:cNvSpPr/>
          <p:nvPr/>
        </p:nvSpPr>
        <p:spPr>
          <a:xfrm>
            <a:off x="9265615" y="4114800"/>
            <a:ext cx="4937760" cy="4937760"/>
          </a:xfrm>
          <a:prstGeom prst="ellipse">
            <a:avLst/>
          </a:prstGeom>
          <a:solidFill>
            <a:srgbClr val="001A54"/>
          </a:solidFill>
          <a:ln/>
        </p:spPr>
      </p:sp>
      <p:sp>
        <p:nvSpPr>
          <p:cNvPr id="3" name="Text 1"/>
          <p:cNvSpPr/>
          <p:nvPr/>
        </p:nvSpPr>
        <p:spPr>
          <a:xfrm>
            <a:off x="658368" y="265176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NAMING THE PATTERN</a:t>
            </a:r>
            <a:endParaRPr lang="en-US" sz="1250" dirty="0"/>
          </a:p>
        </p:txBody>
      </p:sp>
      <p:sp>
        <p:nvSpPr>
          <p:cNvPr id="4" name="Text 2"/>
          <p:cNvSpPr/>
          <p:nvPr/>
        </p:nvSpPr>
        <p:spPr>
          <a:xfrm>
            <a:off x="658368" y="3017520"/>
            <a:ext cx="10241280" cy="1645920"/>
          </a:xfrm>
          <a:prstGeom prst="rect">
            <a:avLst/>
          </a:prstGeom>
          <a:noFill/>
          <a:ln/>
        </p:spPr>
        <p:txBody>
          <a:bodyPr wrap="square" rtlCol="0" anchor="ctr"/>
          <a:lstStyle/>
          <a:p>
            <a:pPr indent="0" marL="0">
              <a:lnSpc>
                <a:spcPts val="3800"/>
              </a:lnSpc>
              <a:buNone/>
            </a:pPr>
            <a:r>
              <a:rPr lang="en-US" sz="3400" b="1" dirty="0">
                <a:solidFill>
                  <a:srgbClr val="FFFFFF"/>
                </a:solidFill>
                <a:latin typeface="Calibri" pitchFamily="34" charset="0"/>
                <a:ea typeface="Calibri" pitchFamily="34" charset="-122"/>
                <a:cs typeface="Calibri" pitchFamily="34" charset="-120"/>
              </a:rPr>
              <a:t>Search got easy. Checking is the actual skill.</a:t>
            </a:r>
            <a:endParaRPr lang="en-US" sz="3400" dirty="0"/>
          </a:p>
        </p:txBody>
      </p:sp>
      <p:sp>
        <p:nvSpPr>
          <p:cNvPr id="5" name="Text 3"/>
          <p:cNvSpPr/>
          <p:nvPr/>
        </p:nvSpPr>
        <p:spPr>
          <a:xfrm>
            <a:off x="658368" y="4343400"/>
            <a:ext cx="8778240" cy="731520"/>
          </a:xfrm>
          <a:prstGeom prst="rect">
            <a:avLst/>
          </a:prstGeom>
          <a:noFill/>
          <a:ln/>
        </p:spPr>
        <p:txBody>
          <a:bodyPr wrap="square" rtlCol="0" anchor="ctr"/>
          <a:lstStyle/>
          <a:p>
            <a:pPr indent="0" marL="0">
              <a:lnSpc>
                <a:spcPts val="2000"/>
              </a:lnSpc>
              <a:buNone/>
            </a:pPr>
            <a:r>
              <a:rPr lang="en-US" sz="1500" dirty="0">
                <a:solidFill>
                  <a:srgbClr val="C7CEE8"/>
                </a:solidFill>
                <a:latin typeface="Calibri" pitchFamily="34" charset="0"/>
                <a:ea typeface="Calibri" pitchFamily="34" charset="-122"/>
                <a:cs typeface="Calibri" pitchFamily="34" charset="-120"/>
              </a:rPr>
              <a:t>Three beats, one underlying move — pulling back to name it.</a:t>
            </a:r>
            <a:endParaRPr lang="en-US" sz="1500" dirty="0"/>
          </a:p>
        </p:txBody>
      </p:sp>
      <p:sp>
        <p:nvSpPr>
          <p:cNvPr id="6" name="Text 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AAB3D6"/>
                </a:solidFill>
                <a:latin typeface="Calibri" pitchFamily="34" charset="0"/>
                <a:ea typeface="Calibri" pitchFamily="34" charset="-122"/>
                <a:cs typeface="Calibri" pitchFamily="34" charset="-120"/>
              </a:rPr>
              <a:t>MODULE 4 · SEARCH &amp; VERIFY</a:t>
            </a:r>
            <a:endParaRPr lang="en-US" sz="900" dirty="0"/>
          </a:p>
        </p:txBody>
      </p:sp>
      <p:sp>
        <p:nvSpPr>
          <p:cNvPr id="7" name="Text 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AAB3D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NAMING THE PATTERN</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The reframe — and the risk that compounds silently</a:t>
            </a:r>
            <a:endParaRPr lang="en-US" sz="2600" dirty="0"/>
          </a:p>
        </p:txBody>
      </p:sp>
      <p:sp>
        <p:nvSpPr>
          <p:cNvPr id="4" name="Shape 2"/>
          <p:cNvSpPr/>
          <p:nvPr/>
        </p:nvSpPr>
        <p:spPr>
          <a:xfrm>
            <a:off x="658368" y="1993392"/>
            <a:ext cx="310896" cy="310896"/>
          </a:xfrm>
          <a:prstGeom prst="ellipse">
            <a:avLst/>
          </a:prstGeom>
          <a:solidFill>
            <a:srgbClr val="001E62"/>
          </a:solidFill>
          <a:ln/>
        </p:spPr>
      </p:sp>
      <p:sp>
        <p:nvSpPr>
          <p:cNvPr id="5" name="Text 3"/>
          <p:cNvSpPr/>
          <p:nvPr/>
        </p:nvSpPr>
        <p:spPr>
          <a:xfrm>
            <a:off x="658368" y="199339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61288" y="192938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Using AI search well is primarily the work of verifying what it surfaces</a:t>
            </a:r>
            <a:endParaRPr lang="en-US" sz="1550" dirty="0"/>
          </a:p>
        </p:txBody>
      </p:sp>
      <p:sp>
        <p:nvSpPr>
          <p:cNvPr id="7" name="Text 5"/>
          <p:cNvSpPr/>
          <p:nvPr/>
        </p:nvSpPr>
        <p:spPr>
          <a:xfrm>
            <a:off x="1161288" y="225856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not the work of searching itself. The searching got easy. The checking is now the actual skill — and it's invisible if you don't know to look for it.</a:t>
            </a:r>
            <a:endParaRPr lang="en-US" sz="1250" dirty="0"/>
          </a:p>
        </p:txBody>
      </p:sp>
      <p:sp>
        <p:nvSpPr>
          <p:cNvPr id="8" name="Shape 6"/>
          <p:cNvSpPr/>
          <p:nvPr/>
        </p:nvSpPr>
        <p:spPr>
          <a:xfrm>
            <a:off x="658368" y="3044952"/>
            <a:ext cx="310896" cy="310896"/>
          </a:xfrm>
          <a:prstGeom prst="ellipse">
            <a:avLst/>
          </a:prstGeom>
          <a:solidFill>
            <a:srgbClr val="001E62"/>
          </a:solidFill>
          <a:ln/>
        </p:spPr>
      </p:sp>
      <p:sp>
        <p:nvSpPr>
          <p:cNvPr id="9" name="Text 7"/>
          <p:cNvSpPr/>
          <p:nvPr/>
        </p:nvSpPr>
        <p:spPr>
          <a:xfrm>
            <a:off x="658368" y="30449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61288" y="298094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The highest-stakes risk isn't any single wrong answer</a:t>
            </a:r>
            <a:endParaRPr lang="en-US" sz="1550" dirty="0"/>
          </a:p>
        </p:txBody>
      </p:sp>
      <p:sp>
        <p:nvSpPr>
          <p:cNvPr id="11" name="Text 9"/>
          <p:cNvSpPr/>
          <p:nvPr/>
        </p:nvSpPr>
        <p:spPr>
          <a:xfrm>
            <a:off x="1161288" y="331012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it's "structural blindness": over-relying on AI search trains you to stop looking anywhere it can't reach — the department office, an actual advisor, anything too recent or too niche to be indexed.</a:t>
            </a:r>
            <a:endParaRPr lang="en-US" sz="1250" dirty="0"/>
          </a:p>
        </p:txBody>
      </p:sp>
      <p:sp>
        <p:nvSpPr>
          <p:cNvPr id="12" name="Shape 10"/>
          <p:cNvSpPr/>
          <p:nvPr/>
        </p:nvSpPr>
        <p:spPr>
          <a:xfrm>
            <a:off x="658368" y="4096512"/>
            <a:ext cx="310896" cy="310896"/>
          </a:xfrm>
          <a:prstGeom prst="ellipse">
            <a:avLst/>
          </a:prstGeom>
          <a:solidFill>
            <a:srgbClr val="001E62"/>
          </a:solidFill>
          <a:ln/>
        </p:spPr>
      </p:sp>
      <p:sp>
        <p:nvSpPr>
          <p:cNvPr id="13" name="Text 11"/>
          <p:cNvSpPr/>
          <p:nvPr/>
        </p:nvSpPr>
        <p:spPr>
          <a:xfrm>
            <a:off x="658368" y="409651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61288" y="4032504"/>
            <a:ext cx="9966960" cy="365760"/>
          </a:xfrm>
          <a:prstGeom prst="rect">
            <a:avLst/>
          </a:prstGeom>
          <a:noFill/>
          <a:ln/>
        </p:spPr>
        <p:txBody>
          <a:bodyPr wrap="square" rtlCol="0" anchor="ctr"/>
          <a:lstStyle/>
          <a:p>
            <a:pPr indent="0" marL="0">
              <a:buNone/>
            </a:pPr>
            <a:r>
              <a:rPr lang="en-US" sz="1550" b="1" dirty="0">
                <a:solidFill>
                  <a:srgbClr val="201A1E"/>
                </a:solidFill>
                <a:latin typeface="Calibri" pitchFamily="34" charset="0"/>
                <a:ea typeface="Calibri" pitchFamily="34" charset="-122"/>
                <a:cs typeface="Calibri" pitchFamily="34" charset="-120"/>
              </a:rPr>
              <a:t>You stop knowing what you don't know</a:t>
            </a:r>
            <a:endParaRPr lang="en-US" sz="1550" dirty="0"/>
          </a:p>
        </p:txBody>
      </p:sp>
      <p:sp>
        <p:nvSpPr>
          <p:cNvPr id="15" name="Text 13"/>
          <p:cNvSpPr/>
          <p:nvPr/>
        </p:nvSpPr>
        <p:spPr>
          <a:xfrm>
            <a:off x="1161288" y="4361688"/>
            <a:ext cx="9966960" cy="685800"/>
          </a:xfrm>
          <a:prstGeom prst="rect">
            <a:avLst/>
          </a:prstGeom>
          <a:noFill/>
          <a:ln/>
        </p:spPr>
        <p:txBody>
          <a:bodyPr wrap="square" rtlCol="0" anchor="t"/>
          <a:lstStyle/>
          <a:p>
            <a:pPr indent="0" marL="0">
              <a:lnSpc>
                <a:spcPts val="1600"/>
              </a:lnSpc>
              <a:buNone/>
            </a:pPr>
            <a:r>
              <a:rPr lang="en-US" sz="1250" dirty="0">
                <a:solidFill>
                  <a:srgbClr val="6B6270"/>
                </a:solidFill>
                <a:latin typeface="Calibri" pitchFamily="34" charset="0"/>
                <a:ea typeface="Calibri" pitchFamily="34" charset="-122"/>
                <a:cs typeface="Calibri" pitchFamily="34" charset="-120"/>
              </a:rPr>
              <a:t>because the tool never shows you the shape of its own blind spot. That's worth carrying with you longer than any single fact from today.</a:t>
            </a:r>
            <a:endParaRPr lang="en-US" sz="1250" dirty="0"/>
          </a:p>
        </p:txBody>
      </p:sp>
      <p:sp>
        <p:nvSpPr>
          <p:cNvPr id="16" name="Text 14"/>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7" name="Text 15"/>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BRING IT HOME</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Where else does this show up?</a:t>
            </a:r>
            <a:endParaRPr lang="en-US" sz="2600" dirty="0"/>
          </a:p>
        </p:txBody>
      </p:sp>
      <p:sp>
        <p:nvSpPr>
          <p:cNvPr id="4" name="Shape 2"/>
          <p:cNvSpPr/>
          <p:nvPr/>
        </p:nvSpPr>
        <p:spPr>
          <a:xfrm>
            <a:off x="10527487" y="530352"/>
            <a:ext cx="1005840" cy="329184"/>
          </a:xfrm>
          <a:prstGeom prst="roundRect">
            <a:avLst>
              <a:gd name="adj" fmla="val 50000"/>
            </a:avLst>
          </a:prstGeom>
          <a:solidFill>
            <a:srgbClr val="FBEFF7"/>
          </a:solidFill>
          <a:ln/>
        </p:spPr>
      </p:sp>
      <p:sp>
        <p:nvSpPr>
          <p:cNvPr id="5" name="Text 3"/>
          <p:cNvSpPr/>
          <p:nvPr/>
        </p:nvSpPr>
        <p:spPr>
          <a:xfrm>
            <a:off x="10527487" y="530352"/>
            <a:ext cx="1005840" cy="329184"/>
          </a:xfrm>
          <a:prstGeom prst="rect">
            <a:avLst/>
          </a:prstGeom>
          <a:noFill/>
          <a:ln/>
        </p:spPr>
        <p:txBody>
          <a:bodyPr wrap="square" rtlCol="0" anchor="ctr"/>
          <a:lstStyle/>
          <a:p>
            <a:pPr algn="ctr" indent="0" marL="0">
              <a:buNone/>
            </a:pPr>
            <a:r>
              <a:rPr lang="en-US" sz="1100" b="1" spc="100" kern="0" dirty="0">
                <a:solidFill>
                  <a:srgbClr val="7C1C6B"/>
                </a:solidFill>
                <a:latin typeface="Calibri" pitchFamily="34" charset="0"/>
                <a:ea typeface="Calibri" pitchFamily="34" charset="-122"/>
                <a:cs typeface="Calibri" pitchFamily="34" charset="-120"/>
              </a:rPr>
              <a:t>5 MIN</a:t>
            </a:r>
            <a:endParaRPr lang="en-US" sz="1100" dirty="0"/>
          </a:p>
        </p:txBody>
      </p:sp>
      <p:sp>
        <p:nvSpPr>
          <p:cNvPr id="6" name="Shape 4"/>
          <p:cNvSpPr/>
          <p:nvPr/>
        </p:nvSpPr>
        <p:spPr>
          <a:xfrm>
            <a:off x="658368" y="1965960"/>
            <a:ext cx="10881360" cy="1234440"/>
          </a:xfrm>
          <a:prstGeom prst="roundRect">
            <a:avLst>
              <a:gd name="adj" fmla="val 8889"/>
            </a:avLst>
          </a:prstGeom>
          <a:solidFill>
            <a:srgbClr val="FBEFF7"/>
          </a:solidFill>
          <a:ln/>
        </p:spPr>
      </p:sp>
      <p:sp>
        <p:nvSpPr>
          <p:cNvPr id="7" name="Text 5"/>
          <p:cNvSpPr/>
          <p:nvPr/>
        </p:nvSpPr>
        <p:spPr>
          <a:xfrm>
            <a:off x="978408" y="2130552"/>
            <a:ext cx="10241280" cy="905256"/>
          </a:xfrm>
          <a:prstGeom prst="rect">
            <a:avLst/>
          </a:prstGeom>
          <a:noFill/>
          <a:ln/>
        </p:spPr>
        <p:txBody>
          <a:bodyPr wrap="square" rtlCol="0" anchor="ctr"/>
          <a:lstStyle/>
          <a:p>
            <a:pPr indent="0" marL="0">
              <a:lnSpc>
                <a:spcPts val="2000"/>
              </a:lnSpc>
              <a:buNone/>
            </a:pPr>
            <a:r>
              <a:rPr lang="en-US" sz="1500" dirty="0">
                <a:solidFill>
                  <a:srgbClr val="201A1E"/>
                </a:solidFill>
                <a:latin typeface="Calibri" pitchFamily="34" charset="0"/>
                <a:ea typeface="Calibri" pitchFamily="34" charset="-122"/>
                <a:cs typeface="Calibri" pitchFamily="34" charset="-120"/>
              </a:rPr>
              <a:t>Think of a time you (or someone you know) asked an AI tool a question and just trusted the answer — a benefits question, a lease, a syllabus, a policy at work or school.</a:t>
            </a:r>
            <a:endParaRPr lang="en-US" sz="1500" dirty="0"/>
          </a:p>
        </p:txBody>
      </p:sp>
      <p:sp>
        <p:nvSpPr>
          <p:cNvPr id="8" name="Text 6"/>
          <p:cNvSpPr/>
          <p:nvPr/>
        </p:nvSpPr>
        <p:spPr>
          <a:xfrm>
            <a:off x="658368" y="3520440"/>
            <a:ext cx="7315200" cy="274320"/>
          </a:xfrm>
          <a:prstGeom prst="rect">
            <a:avLst/>
          </a:prstGeom>
          <a:noFill/>
          <a:ln/>
        </p:spPr>
        <p:txBody>
          <a:bodyPr wrap="square" rtlCol="0" anchor="ctr"/>
          <a:lstStyle/>
          <a:p>
            <a:pPr indent="0" marL="0">
              <a:buNone/>
            </a:pPr>
            <a:r>
              <a:rPr lang="en-US" sz="1050" b="1" spc="100" kern="0" dirty="0">
                <a:solidFill>
                  <a:srgbClr val="6B6270"/>
                </a:solidFill>
                <a:latin typeface="Calibri" pitchFamily="34" charset="0"/>
                <a:ea typeface="Calibri" pitchFamily="34" charset="-122"/>
                <a:cs typeface="Calibri" pitchFamily="34" charset="-120"/>
              </a:rPr>
              <a:t>QUESTIONS / CHECKS</a:t>
            </a:r>
            <a:endParaRPr lang="en-US" sz="1050" dirty="0"/>
          </a:p>
        </p:txBody>
      </p:sp>
      <p:sp>
        <p:nvSpPr>
          <p:cNvPr id="9" name="Text 7"/>
          <p:cNvSpPr/>
          <p:nvPr/>
        </p:nvSpPr>
        <p:spPr>
          <a:xfrm>
            <a:off x="658368" y="3867912"/>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Was that answer grounded in anything specific, or answered from memory? Could you tell?</a:t>
            </a:r>
            <a:endParaRPr lang="en-US" sz="1300" dirty="0"/>
          </a:p>
        </p:txBody>
      </p:sp>
      <p:sp>
        <p:nvSpPr>
          <p:cNvPr id="10" name="Text 8"/>
          <p:cNvSpPr/>
          <p:nvPr/>
        </p:nvSpPr>
        <p:spPr>
          <a:xfrm>
            <a:off x="658368" y="4288536"/>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If it had been wrong, what's the realistic chance you'd have caught it?</a:t>
            </a:r>
            <a:endParaRPr lang="en-US" sz="1300" dirty="0"/>
          </a:p>
        </p:txBody>
      </p:sp>
      <p:sp>
        <p:nvSpPr>
          <p:cNvPr id="11" name="Text 9"/>
          <p:cNvSpPr/>
          <p:nvPr/>
        </p:nvSpPr>
        <p:spPr>
          <a:xfrm>
            <a:off x="658368" y="4709160"/>
            <a:ext cx="10424160" cy="384048"/>
          </a:xfrm>
          <a:prstGeom prst="rect">
            <a:avLst/>
          </a:prstGeom>
          <a:noFill/>
          <a:ln/>
        </p:spPr>
        <p:txBody>
          <a:bodyPr wrap="square" rtlCol="0" anchor="t"/>
          <a:lstStyle/>
          <a:p>
            <a:pPr indent="0" marL="0">
              <a:lnSpc>
                <a:spcPts val="1600"/>
              </a:lnSpc>
              <a:buNone/>
            </a:pPr>
            <a:r>
              <a:rPr lang="en-US" sz="1300" b="1" dirty="0">
                <a:solidFill>
                  <a:srgbClr val="A5228E"/>
                </a:solidFill>
                <a:latin typeface="Calibri" pitchFamily="34" charset="0"/>
                <a:ea typeface="Calibri" pitchFamily="34" charset="-122"/>
                <a:cs typeface="Calibri" pitchFamily="34" charset="-120"/>
              </a:rPr>
              <a:t>—  </a:t>
            </a:r>
            <a:pPr indent="0" marL="0">
              <a:lnSpc>
                <a:spcPts val="1600"/>
              </a:lnSpc>
              <a:buNone/>
            </a:pPr>
            <a:r>
              <a:rPr lang="en-US" sz="1300" dirty="0">
                <a:solidFill>
                  <a:srgbClr val="201A1E"/>
                </a:solidFill>
                <a:latin typeface="Calibri" pitchFamily="34" charset="0"/>
                <a:ea typeface="Calibri" pitchFamily="34" charset="-122"/>
                <a:cs typeface="Calibri" pitchFamily="34" charset="-120"/>
              </a:rPr>
              <a:t>What's one place in your own life or work where you'd now actually ask for the verbatim quote?</a:t>
            </a:r>
            <a:endParaRPr lang="en-US" sz="1300" dirty="0"/>
          </a:p>
        </p:txBody>
      </p:sp>
      <p:sp>
        <p:nvSpPr>
          <p:cNvPr id="12" name="Text 10"/>
          <p:cNvSpPr/>
          <p:nvPr/>
        </p:nvSpPr>
        <p:spPr>
          <a:xfrm>
            <a:off x="658368" y="5989320"/>
            <a:ext cx="10424160" cy="457200"/>
          </a:xfrm>
          <a:prstGeom prst="rect">
            <a:avLst/>
          </a:prstGeom>
          <a:noFill/>
          <a:ln/>
        </p:spPr>
        <p:txBody>
          <a:bodyPr wrap="square" rtlCol="0" anchor="ctr"/>
          <a:lstStyle/>
          <a:p>
            <a:pPr indent="0" marL="0">
              <a:lnSpc>
                <a:spcPts val="1500"/>
              </a:lnSpc>
              <a:buNone/>
            </a:pPr>
            <a:r>
              <a:rPr lang="en-US" sz="1150" i="1" dirty="0">
                <a:solidFill>
                  <a:srgbClr val="6B6270"/>
                </a:solidFill>
                <a:latin typeface="Calibri" pitchFamily="34" charset="0"/>
                <a:ea typeface="Calibri" pitchFamily="34" charset="-122"/>
                <a:cs typeface="Calibri" pitchFamily="34" charset="-120"/>
              </a:rPr>
              <a:t>2-3 min with a partner, then a few shared out loud.</a:t>
            </a:r>
            <a:endParaRPr lang="en-US" sz="1150" dirty="0"/>
          </a:p>
        </p:txBody>
      </p:sp>
      <p:sp>
        <p:nvSpPr>
          <p:cNvPr id="13" name="Text 11"/>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14" name="Text 12"/>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502920"/>
            <a:ext cx="9144000" cy="365760"/>
          </a:xfrm>
          <a:prstGeom prst="rect">
            <a:avLst/>
          </a:prstGeom>
          <a:noFill/>
          <a:ln/>
        </p:spPr>
        <p:txBody>
          <a:bodyPr wrap="square" rtlCol="0" anchor="ctr"/>
          <a:lstStyle/>
          <a:p>
            <a:pPr indent="0" marL="0">
              <a:buNone/>
            </a:pPr>
            <a:r>
              <a:rPr lang="en-US" sz="1250" b="1" spc="150" kern="0" dirty="0">
                <a:solidFill>
                  <a:srgbClr val="A5228E"/>
                </a:solidFill>
                <a:latin typeface="Calibri" pitchFamily="34" charset="0"/>
                <a:ea typeface="Calibri" pitchFamily="34" charset="-122"/>
                <a:cs typeface="Calibri" pitchFamily="34" charset="-120"/>
              </a:rPr>
              <a:t>WRAP-UP</a:t>
            </a:r>
            <a:endParaRPr lang="en-US" sz="1250" dirty="0"/>
          </a:p>
        </p:txBody>
      </p:sp>
      <p:sp>
        <p:nvSpPr>
          <p:cNvPr id="3" name="Text 1"/>
          <p:cNvSpPr/>
          <p:nvPr/>
        </p:nvSpPr>
        <p:spPr>
          <a:xfrm>
            <a:off x="658368" y="868680"/>
            <a:ext cx="10881360" cy="868680"/>
          </a:xfrm>
          <a:prstGeom prst="rect">
            <a:avLst/>
          </a:prstGeom>
          <a:noFill/>
          <a:ln/>
        </p:spPr>
        <p:txBody>
          <a:bodyPr wrap="square" rtlCol="0" anchor="ctr"/>
          <a:lstStyle/>
          <a:p>
            <a:pPr indent="0" marL="0">
              <a:lnSpc>
                <a:spcPts val="3000"/>
              </a:lnSpc>
              <a:buNone/>
            </a:pPr>
            <a:r>
              <a:rPr lang="en-US" sz="2600" b="1" dirty="0">
                <a:solidFill>
                  <a:srgbClr val="201A1E"/>
                </a:solidFill>
                <a:latin typeface="Calibri" pitchFamily="34" charset="0"/>
                <a:ea typeface="Calibri" pitchFamily="34" charset="-122"/>
                <a:cs typeface="Calibri" pitchFamily="34" charset="-120"/>
              </a:rPr>
              <a:t>Take this with you — one line per beat</a:t>
            </a:r>
            <a:endParaRPr lang="en-US" sz="2600" dirty="0"/>
          </a:p>
        </p:txBody>
      </p:sp>
      <p:sp>
        <p:nvSpPr>
          <p:cNvPr id="4" name="Shape 2"/>
          <p:cNvSpPr/>
          <p:nvPr/>
        </p:nvSpPr>
        <p:spPr>
          <a:xfrm>
            <a:off x="658368" y="2011680"/>
            <a:ext cx="3381146" cy="3200400"/>
          </a:xfrm>
          <a:prstGeom prst="roundRect">
            <a:avLst>
              <a:gd name="adj" fmla="val 2857"/>
            </a:avLst>
          </a:prstGeom>
          <a:solidFill>
            <a:srgbClr val="FBF8FA"/>
          </a:solidFill>
          <a:ln w="12700">
            <a:solidFill>
              <a:srgbClr val="ECE6EA"/>
            </a:solidFill>
            <a:prstDash val="solid"/>
          </a:ln>
        </p:spPr>
      </p:sp>
      <p:sp>
        <p:nvSpPr>
          <p:cNvPr id="5" name="Shape 3"/>
          <p:cNvSpPr/>
          <p:nvPr/>
        </p:nvSpPr>
        <p:spPr>
          <a:xfrm>
            <a:off x="886968" y="2286000"/>
            <a:ext cx="2923946" cy="384048"/>
          </a:xfrm>
          <a:prstGeom prst="roundRect">
            <a:avLst>
              <a:gd name="adj" fmla="val 50000"/>
            </a:avLst>
          </a:prstGeom>
          <a:solidFill>
            <a:srgbClr val="001E62"/>
          </a:solidFill>
          <a:ln/>
        </p:spPr>
      </p:sp>
      <p:sp>
        <p:nvSpPr>
          <p:cNvPr id="6" name="Text 4"/>
          <p:cNvSpPr/>
          <p:nvPr/>
        </p:nvSpPr>
        <p:spPr>
          <a:xfrm>
            <a:off x="886968" y="2286000"/>
            <a:ext cx="2923946" cy="384048"/>
          </a:xfrm>
          <a:prstGeom prst="rect">
            <a:avLst/>
          </a:prstGeom>
          <a:noFill/>
          <a:ln/>
        </p:spPr>
        <p:txBody>
          <a:bodyPr wrap="square" rtlCol="0" anchor="ctr"/>
          <a:lstStyle/>
          <a:p>
            <a:pPr algn="ctr" indent="0" marL="0">
              <a:buNone/>
            </a:pPr>
            <a:r>
              <a:rPr lang="en-US" sz="1250" b="1" spc="30" kern="0" dirty="0">
                <a:solidFill>
                  <a:srgbClr val="FFFFFF"/>
                </a:solidFill>
                <a:latin typeface="Calibri" pitchFamily="34" charset="0"/>
                <a:ea typeface="Calibri" pitchFamily="34" charset="-122"/>
                <a:cs typeface="Calibri" pitchFamily="34" charset="-120"/>
              </a:rPr>
              <a:t>GROUND IT</a:t>
            </a:r>
            <a:endParaRPr lang="en-US" sz="1250" dirty="0"/>
          </a:p>
        </p:txBody>
      </p:sp>
      <p:sp>
        <p:nvSpPr>
          <p:cNvPr id="7" name="Text 5"/>
          <p:cNvSpPr/>
          <p:nvPr/>
        </p:nvSpPr>
        <p:spPr>
          <a:xfrm>
            <a:off x="886968" y="2880360"/>
            <a:ext cx="2923946" cy="777240"/>
          </a:xfrm>
          <a:prstGeom prst="rect">
            <a:avLst/>
          </a:prstGeom>
          <a:noFill/>
          <a:ln/>
        </p:spPr>
        <p:txBody>
          <a:bodyPr wrap="square" rtlCol="0" anchor="t"/>
          <a:lstStyle/>
          <a:p>
            <a:pPr indent="0" marL="0">
              <a:lnSpc>
                <a:spcPts val="1500"/>
              </a:lnSpc>
              <a:buNone/>
            </a:pPr>
            <a:r>
              <a:rPr lang="en-US" sz="1150" b="1" dirty="0">
                <a:solidFill>
                  <a:srgbClr val="001E62"/>
                </a:solidFill>
                <a:latin typeface="Calibri" pitchFamily="34" charset="0"/>
                <a:ea typeface="Calibri" pitchFamily="34" charset="-122"/>
                <a:cs typeface="Calibri" pitchFamily="34" charset="-120"/>
              </a:rPr>
              <a:t>•  </a:t>
            </a:r>
            <a:pPr indent="0" marL="0">
              <a:lnSpc>
                <a:spcPts val="1500"/>
              </a:lnSpc>
              <a:buNone/>
            </a:pPr>
            <a:r>
              <a:rPr lang="en-US" sz="1150" dirty="0">
                <a:solidFill>
                  <a:srgbClr val="201A1E"/>
                </a:solidFill>
                <a:latin typeface="Calibri" pitchFamily="34" charset="0"/>
                <a:ea typeface="Calibri" pitchFamily="34" charset="-122"/>
                <a:cs typeface="Calibri" pitchFamily="34" charset="-120"/>
              </a:rPr>
              <a:t>"Only answer from the document I've given you. If it's not in there, say so."</a:t>
            </a:r>
            <a:endParaRPr lang="en-US" sz="1150" dirty="0"/>
          </a:p>
        </p:txBody>
      </p:sp>
      <p:sp>
        <p:nvSpPr>
          <p:cNvPr id="8" name="Text 6"/>
          <p:cNvSpPr/>
          <p:nvPr/>
        </p:nvSpPr>
        <p:spPr>
          <a:xfrm>
            <a:off x="886968" y="3657600"/>
            <a:ext cx="2923946" cy="777240"/>
          </a:xfrm>
          <a:prstGeom prst="rect">
            <a:avLst/>
          </a:prstGeom>
          <a:noFill/>
          <a:ln/>
        </p:spPr>
        <p:txBody>
          <a:bodyPr wrap="square" rtlCol="0" anchor="t"/>
          <a:lstStyle/>
          <a:p>
            <a:pPr indent="0" marL="0">
              <a:lnSpc>
                <a:spcPts val="1500"/>
              </a:lnSpc>
              <a:buNone/>
            </a:pPr>
            <a:r>
              <a:rPr lang="en-US" sz="1150" b="1" dirty="0">
                <a:solidFill>
                  <a:srgbClr val="001E62"/>
                </a:solidFill>
                <a:latin typeface="Calibri" pitchFamily="34" charset="0"/>
                <a:ea typeface="Calibri" pitchFamily="34" charset="-122"/>
                <a:cs typeface="Calibri" pitchFamily="34" charset="-120"/>
              </a:rPr>
              <a:t>•  </a:t>
            </a:r>
            <a:pPr indent="0" marL="0">
              <a:lnSpc>
                <a:spcPts val="1500"/>
              </a:lnSpc>
              <a:buNone/>
            </a:pPr>
            <a:r>
              <a:rPr lang="en-US" sz="1150" dirty="0">
                <a:solidFill>
                  <a:srgbClr val="201A1E"/>
                </a:solidFill>
                <a:latin typeface="Calibri" pitchFamily="34" charset="0"/>
                <a:ea typeface="Calibri" pitchFamily="34" charset="-122"/>
                <a:cs typeface="Calibri" pitchFamily="34" charset="-120"/>
              </a:rPr>
              <a:t>Ask which section each fact came from.</a:t>
            </a:r>
            <a:endParaRPr lang="en-US" sz="1150" dirty="0"/>
          </a:p>
        </p:txBody>
      </p:sp>
      <p:sp>
        <p:nvSpPr>
          <p:cNvPr id="9" name="Shape 7"/>
          <p:cNvSpPr/>
          <p:nvPr/>
        </p:nvSpPr>
        <p:spPr>
          <a:xfrm>
            <a:off x="4405274" y="2011680"/>
            <a:ext cx="3381146" cy="3200400"/>
          </a:xfrm>
          <a:prstGeom prst="roundRect">
            <a:avLst>
              <a:gd name="adj" fmla="val 2857"/>
            </a:avLst>
          </a:prstGeom>
          <a:solidFill>
            <a:srgbClr val="FBF8FA"/>
          </a:solidFill>
          <a:ln w="12700">
            <a:solidFill>
              <a:srgbClr val="ECE6EA"/>
            </a:solidFill>
            <a:prstDash val="solid"/>
          </a:ln>
        </p:spPr>
      </p:sp>
      <p:sp>
        <p:nvSpPr>
          <p:cNvPr id="10" name="Shape 8"/>
          <p:cNvSpPr/>
          <p:nvPr/>
        </p:nvSpPr>
        <p:spPr>
          <a:xfrm>
            <a:off x="4633874" y="2286000"/>
            <a:ext cx="2923946" cy="384048"/>
          </a:xfrm>
          <a:prstGeom prst="roundRect">
            <a:avLst>
              <a:gd name="adj" fmla="val 50000"/>
            </a:avLst>
          </a:prstGeom>
          <a:solidFill>
            <a:srgbClr val="A5228E"/>
          </a:solidFill>
          <a:ln/>
        </p:spPr>
      </p:sp>
      <p:sp>
        <p:nvSpPr>
          <p:cNvPr id="11" name="Text 9"/>
          <p:cNvSpPr/>
          <p:nvPr/>
        </p:nvSpPr>
        <p:spPr>
          <a:xfrm>
            <a:off x="4633874" y="2286000"/>
            <a:ext cx="2923946" cy="384048"/>
          </a:xfrm>
          <a:prstGeom prst="rect">
            <a:avLst/>
          </a:prstGeom>
          <a:noFill/>
          <a:ln/>
        </p:spPr>
        <p:txBody>
          <a:bodyPr wrap="square" rtlCol="0" anchor="ctr"/>
          <a:lstStyle/>
          <a:p>
            <a:pPr algn="ctr" indent="0" marL="0">
              <a:buNone/>
            </a:pPr>
            <a:r>
              <a:rPr lang="en-US" sz="1250" b="1" spc="30" kern="0" dirty="0">
                <a:solidFill>
                  <a:srgbClr val="FFFFFF"/>
                </a:solidFill>
                <a:latin typeface="Calibri" pitchFamily="34" charset="0"/>
                <a:ea typeface="Calibri" pitchFamily="34" charset="-122"/>
                <a:cs typeface="Calibri" pitchFamily="34" charset="-120"/>
              </a:rPr>
              <a:t>EXTRACT &amp; CHECK</a:t>
            </a:r>
            <a:endParaRPr lang="en-US" sz="1250" dirty="0"/>
          </a:p>
        </p:txBody>
      </p:sp>
      <p:sp>
        <p:nvSpPr>
          <p:cNvPr id="12" name="Text 10"/>
          <p:cNvSpPr/>
          <p:nvPr/>
        </p:nvSpPr>
        <p:spPr>
          <a:xfrm>
            <a:off x="4633874" y="2880360"/>
            <a:ext cx="2923946" cy="777240"/>
          </a:xfrm>
          <a:prstGeom prst="rect">
            <a:avLst/>
          </a:prstGeom>
          <a:noFill/>
          <a:ln/>
        </p:spPr>
        <p:txBody>
          <a:bodyPr wrap="square" rtlCol="0" anchor="t"/>
          <a:lstStyle/>
          <a:p>
            <a:pPr indent="0" marL="0">
              <a:lnSpc>
                <a:spcPts val="1500"/>
              </a:lnSpc>
              <a:buNone/>
            </a:pPr>
            <a:r>
              <a:rPr lang="en-US" sz="1150" b="1" dirty="0">
                <a:solidFill>
                  <a:srgbClr val="A5228E"/>
                </a:solidFill>
                <a:latin typeface="Calibri" pitchFamily="34" charset="0"/>
                <a:ea typeface="Calibri" pitchFamily="34" charset="-122"/>
                <a:cs typeface="Calibri" pitchFamily="34" charset="-120"/>
              </a:rPr>
              <a:t>•  </a:t>
            </a:r>
            <a:pPr indent="0" marL="0">
              <a:lnSpc>
                <a:spcPts val="1500"/>
              </a:lnSpc>
              <a:buNone/>
            </a:pPr>
            <a:r>
              <a:rPr lang="en-US" sz="1150" dirty="0">
                <a:solidFill>
                  <a:srgbClr val="201A1E"/>
                </a:solidFill>
                <a:latin typeface="Calibri" pitchFamily="34" charset="0"/>
                <a:ea typeface="Calibri" pitchFamily="34" charset="-122"/>
                <a:cs typeface="Calibri" pitchFamily="34" charset="-120"/>
              </a:rPr>
              <a:t>"Give me the exact quote you're relying on, and separately, your interpretation of it."</a:t>
            </a:r>
            <a:endParaRPr lang="en-US" sz="1150" dirty="0"/>
          </a:p>
        </p:txBody>
      </p:sp>
      <p:sp>
        <p:nvSpPr>
          <p:cNvPr id="13" name="Text 11"/>
          <p:cNvSpPr/>
          <p:nvPr/>
        </p:nvSpPr>
        <p:spPr>
          <a:xfrm>
            <a:off x="4633874" y="3657600"/>
            <a:ext cx="2923946" cy="777240"/>
          </a:xfrm>
          <a:prstGeom prst="rect">
            <a:avLst/>
          </a:prstGeom>
          <a:noFill/>
          <a:ln/>
        </p:spPr>
        <p:txBody>
          <a:bodyPr wrap="square" rtlCol="0" anchor="t"/>
          <a:lstStyle/>
          <a:p>
            <a:pPr indent="0" marL="0">
              <a:lnSpc>
                <a:spcPts val="1500"/>
              </a:lnSpc>
              <a:buNone/>
            </a:pPr>
            <a:r>
              <a:rPr lang="en-US" sz="1150" b="1" dirty="0">
                <a:solidFill>
                  <a:srgbClr val="A5228E"/>
                </a:solidFill>
                <a:latin typeface="Calibri" pitchFamily="34" charset="0"/>
                <a:ea typeface="Calibri" pitchFamily="34" charset="-122"/>
                <a:cs typeface="Calibri" pitchFamily="34" charset="-120"/>
              </a:rPr>
              <a:t>•  </a:t>
            </a:r>
            <a:pPr indent="0" marL="0">
              <a:lnSpc>
                <a:spcPts val="1500"/>
              </a:lnSpc>
              <a:buNone/>
            </a:pPr>
            <a:r>
              <a:rPr lang="en-US" sz="1150" dirty="0">
                <a:solidFill>
                  <a:srgbClr val="201A1E"/>
                </a:solidFill>
                <a:latin typeface="Calibri" pitchFamily="34" charset="0"/>
                <a:ea typeface="Calibri" pitchFamily="34" charset="-122"/>
                <a:cs typeface="Calibri" pitchFamily="34" charset="-120"/>
              </a:rPr>
              <a:t>Check claim-by-claim — watch for two real numbers that only differ by which situation applies.</a:t>
            </a:r>
            <a:endParaRPr lang="en-US" sz="1150" dirty="0"/>
          </a:p>
        </p:txBody>
      </p:sp>
      <p:sp>
        <p:nvSpPr>
          <p:cNvPr id="14" name="Shape 12"/>
          <p:cNvSpPr/>
          <p:nvPr/>
        </p:nvSpPr>
        <p:spPr>
          <a:xfrm>
            <a:off x="8152181" y="2011680"/>
            <a:ext cx="3381146" cy="3200400"/>
          </a:xfrm>
          <a:prstGeom prst="roundRect">
            <a:avLst>
              <a:gd name="adj" fmla="val 2857"/>
            </a:avLst>
          </a:prstGeom>
          <a:solidFill>
            <a:srgbClr val="FBF8FA"/>
          </a:solidFill>
          <a:ln w="12700">
            <a:solidFill>
              <a:srgbClr val="ECE6EA"/>
            </a:solidFill>
            <a:prstDash val="solid"/>
          </a:ln>
        </p:spPr>
      </p:sp>
      <p:sp>
        <p:nvSpPr>
          <p:cNvPr id="15" name="Shape 13"/>
          <p:cNvSpPr/>
          <p:nvPr/>
        </p:nvSpPr>
        <p:spPr>
          <a:xfrm>
            <a:off x="8380781" y="2286000"/>
            <a:ext cx="2923946" cy="384048"/>
          </a:xfrm>
          <a:prstGeom prst="roundRect">
            <a:avLst>
              <a:gd name="adj" fmla="val 50000"/>
            </a:avLst>
          </a:prstGeom>
          <a:solidFill>
            <a:srgbClr val="9A6400"/>
          </a:solidFill>
          <a:ln/>
        </p:spPr>
      </p:sp>
      <p:sp>
        <p:nvSpPr>
          <p:cNvPr id="16" name="Text 14"/>
          <p:cNvSpPr/>
          <p:nvPr/>
        </p:nvSpPr>
        <p:spPr>
          <a:xfrm>
            <a:off x="8380781" y="2286000"/>
            <a:ext cx="2923946" cy="384048"/>
          </a:xfrm>
          <a:prstGeom prst="rect">
            <a:avLst/>
          </a:prstGeom>
          <a:noFill/>
          <a:ln/>
        </p:spPr>
        <p:txBody>
          <a:bodyPr wrap="square" rtlCol="0" anchor="ctr"/>
          <a:lstStyle/>
          <a:p>
            <a:pPr algn="ctr" indent="0" marL="0">
              <a:buNone/>
            </a:pPr>
            <a:r>
              <a:rPr lang="en-US" sz="1250" b="1" spc="30" kern="0" dirty="0">
                <a:solidFill>
                  <a:srgbClr val="FFFFFF"/>
                </a:solidFill>
                <a:latin typeface="Calibri" pitchFamily="34" charset="0"/>
                <a:ea typeface="Calibri" pitchFamily="34" charset="-122"/>
                <a:cs typeface="Calibri" pitchFamily="34" charset="-120"/>
              </a:rPr>
              <a:t>SUMMARIZE &amp; VERIFY</a:t>
            </a:r>
            <a:endParaRPr lang="en-US" sz="1250" dirty="0"/>
          </a:p>
        </p:txBody>
      </p:sp>
      <p:sp>
        <p:nvSpPr>
          <p:cNvPr id="17" name="Text 15"/>
          <p:cNvSpPr/>
          <p:nvPr/>
        </p:nvSpPr>
        <p:spPr>
          <a:xfrm>
            <a:off x="8380781" y="2880360"/>
            <a:ext cx="2923946" cy="777240"/>
          </a:xfrm>
          <a:prstGeom prst="rect">
            <a:avLst/>
          </a:prstGeom>
          <a:noFill/>
          <a:ln/>
        </p:spPr>
        <p:txBody>
          <a:bodyPr wrap="square" rtlCol="0" anchor="t"/>
          <a:lstStyle/>
          <a:p>
            <a:pPr indent="0" marL="0">
              <a:lnSpc>
                <a:spcPts val="1500"/>
              </a:lnSpc>
              <a:buNone/>
            </a:pPr>
            <a:r>
              <a:rPr lang="en-US" sz="1150" b="1" dirty="0">
                <a:solidFill>
                  <a:srgbClr val="9A6400"/>
                </a:solidFill>
                <a:latin typeface="Calibri" pitchFamily="34" charset="0"/>
                <a:ea typeface="Calibri" pitchFamily="34" charset="-122"/>
                <a:cs typeface="Calibri" pitchFamily="34" charset="-120"/>
              </a:rPr>
              <a:t>•  </a:t>
            </a:r>
            <a:pPr indent="0" marL="0">
              <a:lnSpc>
                <a:spcPts val="1500"/>
              </a:lnSpc>
              <a:buNone/>
            </a:pPr>
            <a:r>
              <a:rPr lang="en-US" sz="1150" dirty="0">
                <a:solidFill>
                  <a:srgbClr val="201A1E"/>
                </a:solidFill>
                <a:latin typeface="Calibri" pitchFamily="34" charset="0"/>
                <a:ea typeface="Calibri" pitchFamily="34" charset="-122"/>
                <a:cs typeface="Calibri" pitchFamily="34" charset="-120"/>
              </a:rPr>
              <a:t>"Which parts of that summary can you trace to a specific section? Which can't?"</a:t>
            </a:r>
            <a:endParaRPr lang="en-US" sz="1150" dirty="0"/>
          </a:p>
        </p:txBody>
      </p:sp>
      <p:sp>
        <p:nvSpPr>
          <p:cNvPr id="18" name="Text 16"/>
          <p:cNvSpPr/>
          <p:nvPr/>
        </p:nvSpPr>
        <p:spPr>
          <a:xfrm>
            <a:off x="8380781" y="3657600"/>
            <a:ext cx="2923946" cy="777240"/>
          </a:xfrm>
          <a:prstGeom prst="rect">
            <a:avLst/>
          </a:prstGeom>
          <a:noFill/>
          <a:ln/>
        </p:spPr>
        <p:txBody>
          <a:bodyPr wrap="square" rtlCol="0" anchor="t"/>
          <a:lstStyle/>
          <a:p>
            <a:pPr indent="0" marL="0">
              <a:lnSpc>
                <a:spcPts val="1500"/>
              </a:lnSpc>
              <a:buNone/>
            </a:pPr>
            <a:r>
              <a:rPr lang="en-US" sz="1150" b="1" dirty="0">
                <a:solidFill>
                  <a:srgbClr val="9A6400"/>
                </a:solidFill>
                <a:latin typeface="Calibri" pitchFamily="34" charset="0"/>
                <a:ea typeface="Calibri" pitchFamily="34" charset="-122"/>
                <a:cs typeface="Calibri" pitchFamily="34" charset="-120"/>
              </a:rPr>
              <a:t>•  </a:t>
            </a:r>
            <a:pPr indent="0" marL="0">
              <a:lnSpc>
                <a:spcPts val="1500"/>
              </a:lnSpc>
              <a:buNone/>
            </a:pPr>
            <a:r>
              <a:rPr lang="en-US" sz="1150" dirty="0">
                <a:solidFill>
                  <a:srgbClr val="201A1E"/>
                </a:solidFill>
                <a:latin typeface="Calibri" pitchFamily="34" charset="0"/>
                <a:ea typeface="Calibri" pitchFamily="34" charset="-122"/>
                <a:cs typeface="Calibri" pitchFamily="34" charset="-120"/>
              </a:rPr>
              <a:t>Re-ask with different wording as a second check.</a:t>
            </a:r>
            <a:endParaRPr lang="en-US" sz="1150" dirty="0"/>
          </a:p>
        </p:txBody>
      </p:sp>
      <p:sp>
        <p:nvSpPr>
          <p:cNvPr id="19" name="Text 17"/>
          <p:cNvSpPr/>
          <p:nvPr/>
        </p:nvSpPr>
        <p:spPr>
          <a:xfrm>
            <a:off x="658368" y="5440680"/>
            <a:ext cx="10424160" cy="457200"/>
          </a:xfrm>
          <a:prstGeom prst="rect">
            <a:avLst/>
          </a:prstGeom>
          <a:noFill/>
          <a:ln/>
        </p:spPr>
        <p:txBody>
          <a:bodyPr wrap="square" rtlCol="0" anchor="ctr"/>
          <a:lstStyle/>
          <a:p>
            <a:pPr indent="0" marL="0">
              <a:buNone/>
            </a:pPr>
            <a:r>
              <a:rPr lang="en-US" sz="1200" i="1" dirty="0">
                <a:solidFill>
                  <a:srgbClr val="6B6270"/>
                </a:solidFill>
                <a:latin typeface="Calibri" pitchFamily="34" charset="0"/>
                <a:ea typeface="Calibri" pitchFamily="34" charset="-122"/>
                <a:cs typeface="Calibri" pitchFamily="34" charset="-120"/>
              </a:rPr>
              <a:t>Three prompt skeletons — one per beat. The Lab Guide has the full versions for later reference.</a:t>
            </a:r>
            <a:endParaRPr lang="en-US" sz="1200" dirty="0"/>
          </a:p>
        </p:txBody>
      </p:sp>
      <p:sp>
        <p:nvSpPr>
          <p:cNvPr id="20" name="Text 18"/>
          <p:cNvSpPr/>
          <p:nvPr/>
        </p:nvSpPr>
        <p:spPr>
          <a:xfrm>
            <a:off x="658368" y="6400800"/>
            <a:ext cx="6400800" cy="274320"/>
          </a:xfrm>
          <a:prstGeom prst="rect">
            <a:avLst/>
          </a:prstGeom>
          <a:noFill/>
          <a:ln/>
        </p:spPr>
        <p:txBody>
          <a:bodyPr wrap="square" rtlCol="0" anchor="ctr"/>
          <a:lstStyle/>
          <a:p>
            <a:pPr algn="l" indent="0" marL="0">
              <a:buNone/>
            </a:pPr>
            <a:r>
              <a:rPr lang="en-US" sz="900" dirty="0">
                <a:solidFill>
                  <a:srgbClr val="6B6270"/>
                </a:solidFill>
                <a:latin typeface="Calibri" pitchFamily="34" charset="0"/>
                <a:ea typeface="Calibri" pitchFamily="34" charset="-122"/>
                <a:cs typeface="Calibri" pitchFamily="34" charset="-120"/>
              </a:rPr>
              <a:t>MODULE 4 · SEARCH &amp; VERIFY</a:t>
            </a:r>
            <a:endParaRPr lang="en-US" sz="900" dirty="0"/>
          </a:p>
        </p:txBody>
      </p:sp>
      <p:sp>
        <p:nvSpPr>
          <p:cNvPr id="21" name="Text 19"/>
          <p:cNvSpPr/>
          <p:nvPr/>
        </p:nvSpPr>
        <p:spPr>
          <a:xfrm>
            <a:off x="10618927" y="6400800"/>
            <a:ext cx="914400" cy="274320"/>
          </a:xfrm>
          <a:prstGeom prst="rect">
            <a:avLst/>
          </a:prstGeom>
          <a:noFill/>
          <a:ln/>
        </p:spPr>
        <p:txBody>
          <a:bodyPr wrap="square" rtlCol="0" anchor="ctr"/>
          <a:lstStyle/>
          <a:p>
            <a:pPr algn="r" indent="0" marL="0">
              <a:buNone/>
            </a:pPr>
            <a:r>
              <a:rPr lang="en-US" sz="900" dirty="0">
                <a:solidFill>
                  <a:srgbClr val="6B627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1E62"/>
        </a:solidFill>
      </p:bgPr>
    </p:bg>
    <p:spTree>
      <p:nvGrpSpPr>
        <p:cNvPr id="1" name=""/>
        <p:cNvGrpSpPr/>
        <p:nvPr/>
      </p:nvGrpSpPr>
      <p:grpSpPr>
        <a:xfrm>
          <a:off x="0" y="0"/>
          <a:ext cx="0" cy="0"/>
          <a:chOff x="0" y="0"/>
          <a:chExt cx="0" cy="0"/>
        </a:xfrm>
      </p:grpSpPr>
      <p:sp>
        <p:nvSpPr>
          <p:cNvPr id="2" name="Shape 0"/>
          <p:cNvSpPr/>
          <p:nvPr/>
        </p:nvSpPr>
        <p:spPr>
          <a:xfrm>
            <a:off x="9265615" y="4114800"/>
            <a:ext cx="4937760" cy="4937760"/>
          </a:xfrm>
          <a:prstGeom prst="ellipse">
            <a:avLst/>
          </a:prstGeom>
          <a:solidFill>
            <a:srgbClr val="001A54"/>
          </a:solidFill>
          <a:ln/>
        </p:spPr>
      </p:sp>
      <p:sp>
        <p:nvSpPr>
          <p:cNvPr id="3" name="Text 1"/>
          <p:cNvSpPr/>
          <p:nvPr/>
        </p:nvSpPr>
        <p:spPr>
          <a:xfrm>
            <a:off x="658368" y="2377440"/>
            <a:ext cx="9144000" cy="82296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Module 4 complete</a:t>
            </a:r>
            <a:endParaRPr lang="en-US" sz="3000" dirty="0"/>
          </a:p>
        </p:txBody>
      </p:sp>
      <p:sp>
        <p:nvSpPr>
          <p:cNvPr id="4" name="Text 2"/>
          <p:cNvSpPr/>
          <p:nvPr/>
        </p:nvSpPr>
        <p:spPr>
          <a:xfrm>
            <a:off x="658368" y="3291840"/>
            <a:ext cx="9144000" cy="1005840"/>
          </a:xfrm>
          <a:prstGeom prst="rect">
            <a:avLst/>
          </a:prstGeom>
          <a:noFill/>
          <a:ln/>
        </p:spPr>
        <p:txBody>
          <a:bodyPr wrap="square" rtlCol="0" anchor="ctr"/>
          <a:lstStyle/>
          <a:p>
            <a:pPr indent="0" marL="0">
              <a:lnSpc>
                <a:spcPts val="2200"/>
              </a:lnSpc>
              <a:buNone/>
            </a:pPr>
            <a:r>
              <a:rPr lang="en-US" sz="1700" i="1" dirty="0">
                <a:solidFill>
                  <a:srgbClr val="DCE2F4"/>
                </a:solidFill>
                <a:latin typeface="Calibri" pitchFamily="34" charset="0"/>
                <a:ea typeface="Calibri" pitchFamily="34" charset="-122"/>
                <a:cs typeface="Calibri" pitchFamily="34" charset="-120"/>
              </a:rPr>
              <a:t>“Somewhere between what you assumed and what you can actually point to in the real document — that's usually where the true answer is.”</a:t>
            </a:r>
            <a:endParaRPr lang="en-US" sz="1700" dirty="0"/>
          </a:p>
        </p:txBody>
      </p:sp>
      <p:sp>
        <p:nvSpPr>
          <p:cNvPr id="5" name="Text 3"/>
          <p:cNvSpPr/>
          <p:nvPr/>
        </p:nvSpPr>
        <p:spPr>
          <a:xfrm>
            <a:off x="658368" y="4160520"/>
            <a:ext cx="9144000" cy="365760"/>
          </a:xfrm>
          <a:prstGeom prst="rect">
            <a:avLst/>
          </a:prstGeom>
          <a:noFill/>
          <a:ln/>
        </p:spPr>
        <p:txBody>
          <a:bodyPr wrap="square" rtlCol="0" anchor="ctr"/>
          <a:lstStyle/>
          <a:p>
            <a:pPr indent="0" marL="0">
              <a:buNone/>
            </a:pPr>
            <a:r>
              <a:rPr lang="en-US" sz="1300" dirty="0">
                <a:solidFill>
                  <a:srgbClr val="9BA6D4"/>
                </a:solidFill>
                <a:latin typeface="Calibri" pitchFamily="34" charset="0"/>
                <a:ea typeface="Calibri" pitchFamily="34" charset="-122"/>
                <a:cs typeface="Calibri" pitchFamily="34" charset="-120"/>
              </a:rPr>
              <a:t>Chicago Tech Circle</a:t>
            </a:r>
            <a:endParaRPr lang="en-US" sz="1300" dirty="0"/>
          </a:p>
        </p:txBody>
      </p:sp>
      <p:sp>
        <p:nvSpPr>
          <p:cNvPr id="6" name="Text 4"/>
          <p:cNvSpPr/>
          <p:nvPr/>
        </p:nvSpPr>
        <p:spPr>
          <a:xfrm>
            <a:off x="658368" y="6172200"/>
            <a:ext cx="4572000" cy="320040"/>
          </a:xfrm>
          <a:prstGeom prst="rect">
            <a:avLst/>
          </a:prstGeom>
          <a:noFill/>
          <a:ln/>
        </p:spPr>
        <p:txBody>
          <a:bodyPr wrap="square" rtlCol="0" anchor="ctr"/>
          <a:lstStyle/>
          <a:p>
            <a:pPr indent="0" marL="0">
              <a:buNone/>
            </a:pPr>
            <a:r>
              <a:rPr lang="en-US" sz="1100" b="1" dirty="0">
                <a:solidFill>
                  <a:srgbClr val="A5228E"/>
                </a:solidFill>
                <a:latin typeface="Calibri" pitchFamily="34" charset="0"/>
                <a:ea typeface="Calibri" pitchFamily="34" charset="-122"/>
                <a:cs typeface="Calibri" pitchFamily="34" charset="-120"/>
              </a:rPr>
              <a:t>● CHICAGO TECH CIRCLE</a:t>
            </a:r>
            <a:endParaRPr lang="en-US" sz="1100" dirty="0"/>
          </a:p>
        </p:txBody>
      </p:sp>
      <p:sp>
        <p:nvSpPr>
          <p:cNvPr id="7" name="Text 5"/>
          <p:cNvSpPr/>
          <p:nvPr/>
        </p:nvSpPr>
        <p:spPr>
          <a:xfrm>
            <a:off x="9704527" y="6172200"/>
            <a:ext cx="1828800" cy="320040"/>
          </a:xfrm>
          <a:prstGeom prst="rect">
            <a:avLst/>
          </a:prstGeom>
          <a:noFill/>
          <a:ln/>
        </p:spPr>
        <p:txBody>
          <a:bodyPr wrap="square" rtlCol="0" anchor="ctr"/>
          <a:lstStyle/>
          <a:p>
            <a:pPr algn="r" indent="0" marL="0">
              <a:buNone/>
            </a:pPr>
            <a:r>
              <a:rPr lang="en-US" sz="900" dirty="0">
                <a:solidFill>
                  <a:srgbClr val="8391C2"/>
                </a:solidFill>
                <a:latin typeface="Calibri" pitchFamily="34" charset="0"/>
                <a:ea typeface="Calibri" pitchFamily="34" charset="-122"/>
                <a:cs typeface="Calibri" pitchFamily="34" charset="-120"/>
              </a:rPr>
              <a:t>CC BY-NC-SA 4.0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2026-08-17T17:26:01Z</dcterms:created>
  <dcterms:modified xsi:type="dcterms:W3CDTF">2026-08-17T17:26:01Z</dcterms:modified>
</cp:coreProperties>
</file>